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diagrams/quickStyle4.xml" ContentType="application/vnd.openxmlformats-officedocument.drawingml.diagramStyle+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diagrams/layout3.xml" ContentType="application/vnd.openxmlformats-officedocument.drawingml.diagramLayout+xml"/>
  <Override PartName="/ppt/diagrams/data4.xml" ContentType="application/vnd.openxmlformats-officedocument.drawingml.diagramData+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diagrams/colors3.xml" ContentType="application/vnd.openxmlformats-officedocument.drawingml.diagramColors+xml"/>
  <Override PartName="/ppt/diagrams/colors4.xml" ContentType="application/vnd.openxmlformats-officedocument.drawingml.diagramColors+xml"/>
  <Override PartName="/docProps/core.xml" ContentType="application/vnd.openxmlformats-package.core-properties+xml"/>
  <Override PartName="/ppt/diagrams/drawing4.xml" ContentType="application/vnd.ms-office.drawingml.diagramDrawing+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diagrams/colors2.xml" ContentType="application/vnd.openxmlformats-officedocument.drawingml.diagramColors+xml"/>
  <Override PartName="/ppt/notesSlides/notesSlide3.xml" ContentType="application/vnd.openxmlformats-officedocument.presentationml.notesSlide+xml"/>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Default Extension="jpeg" ContentType="image/jpeg"/>
  <Override PartName="/ppt/slideLayouts/slideLayout3.xml" ContentType="application/vnd.openxmlformats-officedocument.presentationml.slideLayout+xml"/>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diagrams/layout4.xml" ContentType="application/vnd.openxmlformats-officedocument.drawingml.diagramLayout+xml"/>
  <Override PartName="/ppt/slideLayouts/slideLayout10.xml" ContentType="application/vnd.openxmlformats-officedocument.presentationml.slideLayout+xml"/>
  <Override PartName="/ppt/diagrams/layout2.xml" ContentType="application/vnd.openxmlformats-officedocument.drawingml.diagramLayout+xml"/>
  <Default Extension="gif" ContentType="image/gif"/>
  <Override PartName="/ppt/diagrams/data3.xml" ContentType="application/vnd.openxmlformats-officedocument.drawingml.diagramData+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36"/>
  </p:notesMasterIdLst>
  <p:handoutMasterIdLst>
    <p:handoutMasterId r:id="rId37"/>
  </p:handoutMasterIdLst>
  <p:sldIdLst>
    <p:sldId id="258" r:id="rId2"/>
    <p:sldId id="284" r:id="rId3"/>
    <p:sldId id="1074" r:id="rId4"/>
    <p:sldId id="1232" r:id="rId5"/>
    <p:sldId id="1261" r:id="rId6"/>
    <p:sldId id="1243" r:id="rId7"/>
    <p:sldId id="1262" r:id="rId8"/>
    <p:sldId id="1244" r:id="rId9"/>
    <p:sldId id="1247" r:id="rId10"/>
    <p:sldId id="1248" r:id="rId11"/>
    <p:sldId id="1250" r:id="rId12"/>
    <p:sldId id="1078" r:id="rId13"/>
    <p:sldId id="1259" r:id="rId14"/>
    <p:sldId id="528" r:id="rId15"/>
    <p:sldId id="1079" r:id="rId16"/>
    <p:sldId id="1260" r:id="rId17"/>
    <p:sldId id="533" r:id="rId18"/>
    <p:sldId id="1080" r:id="rId19"/>
    <p:sldId id="522" r:id="rId20"/>
    <p:sldId id="1081" r:id="rId21"/>
    <p:sldId id="1085" r:id="rId22"/>
    <p:sldId id="1069" r:id="rId23"/>
    <p:sldId id="1067" r:id="rId24"/>
    <p:sldId id="1241" r:id="rId25"/>
    <p:sldId id="1257" r:id="rId26"/>
    <p:sldId id="1253" r:id="rId27"/>
    <p:sldId id="1263" r:id="rId28"/>
    <p:sldId id="1264" r:id="rId29"/>
    <p:sldId id="1252" r:id="rId30"/>
    <p:sldId id="1258" r:id="rId31"/>
    <p:sldId id="1265" r:id="rId32"/>
    <p:sldId id="1266" r:id="rId33"/>
    <p:sldId id="1256" r:id="rId34"/>
    <p:sldId id="277" r:id="rId35"/>
  </p:sldIdLst>
  <p:sldSz cx="9144000" cy="6858000" type="screen4x3"/>
  <p:notesSz cx="6864350" cy="9996488"/>
  <p:defaultTex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7CBCF0"/>
    <a:srgbClr val="354CF7"/>
    <a:srgbClr val="FBE197"/>
    <a:srgbClr val="224624"/>
    <a:srgbClr val="49A1F1"/>
    <a:srgbClr val="F9D999"/>
    <a:srgbClr val="F9D299"/>
    <a:srgbClr val="FFFFCC"/>
    <a:srgbClr val="FFCC66"/>
    <a:srgbClr val="A1F181"/>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佈景主題樣式 1 - 輔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佈景主題樣式 1 - 輔色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佈景主題樣式 1 - 輔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93D81CF-94F2-401A-BA57-92F5A7B2D0C5}" styleName="中等深淺樣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101" autoAdjust="0"/>
    <p:restoredTop sz="95826" autoAdjust="0"/>
  </p:normalViewPr>
  <p:slideViewPr>
    <p:cSldViewPr>
      <p:cViewPr>
        <p:scale>
          <a:sx n="60" d="100"/>
          <a:sy n="60" d="100"/>
        </p:scale>
        <p:origin x="-1794" y="-270"/>
      </p:cViewPr>
      <p:guideLst>
        <p:guide orient="horz" pos="2160"/>
        <p:guide pos="2880"/>
      </p:guideLst>
    </p:cSldViewPr>
  </p:slideViewPr>
  <p:outlineViewPr>
    <p:cViewPr>
      <p:scale>
        <a:sx n="33" d="100"/>
        <a:sy n="33" d="100"/>
      </p:scale>
      <p:origin x="0" y="13434"/>
    </p:cViewPr>
  </p:outlineViewPr>
  <p:notesTextViewPr>
    <p:cViewPr>
      <p:scale>
        <a:sx n="100" d="100"/>
        <a:sy n="100" d="100"/>
      </p:scale>
      <p:origin x="0" y="0"/>
    </p:cViewPr>
  </p:notesTextViewPr>
  <p:sorterViewPr>
    <p:cViewPr>
      <p:scale>
        <a:sx n="66" d="100"/>
        <a:sy n="66" d="100"/>
      </p:scale>
      <p:origin x="0" y="1278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_rels/data1.xml.rels><?xml version="1.0" encoding="UTF-8" standalone="yes"?>
<Relationships xmlns="http://schemas.openxmlformats.org/package/2006/relationships"><Relationship Id="rId1" Type="http://schemas.openxmlformats.org/officeDocument/2006/relationships/image" Target="../media/image7.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71.jpeg"/></Relationships>
</file>

<file path=ppt/diagrams/colors1.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6E5541-61CC-454E-B0E7-B29AEB132463}" type="doc">
      <dgm:prSet loTypeId="urn:microsoft.com/office/officeart/2005/8/layout/vList3#1" loCatId="list" qsTypeId="urn:microsoft.com/office/officeart/2005/8/quickstyle/simple1#1" qsCatId="simple" csTypeId="urn:microsoft.com/office/officeart/2005/8/colors/colorful4#1" csCatId="colorful" phldr="1"/>
      <dgm:spPr/>
    </dgm:pt>
    <dgm:pt modelId="{834ECAD0-FB96-4B99-816E-DD5403AFE0C6}">
      <dgm:prSet phldrT="[文字]" custT="1"/>
      <dgm:spPr/>
      <dgm:t>
        <a:bodyPr/>
        <a:lstStyle/>
        <a:p>
          <a:r>
            <a:rPr lang="zh-TW" altLang="en-US" sz="3200" dirty="0" smtClean="0">
              <a:effectLst/>
              <a:latin typeface="微軟正黑體" pitchFamily="34" charset="-120"/>
              <a:ea typeface="微軟正黑體" pitchFamily="34" charset="-120"/>
            </a:rPr>
            <a:t>人力配置</a:t>
          </a:r>
          <a:endParaRPr lang="zh-TW" altLang="en-US" sz="3200" dirty="0">
            <a:effectLst/>
            <a:latin typeface="微軟正黑體" pitchFamily="34" charset="-120"/>
            <a:ea typeface="微軟正黑體" pitchFamily="34" charset="-120"/>
          </a:endParaRPr>
        </a:p>
      </dgm:t>
    </dgm:pt>
    <dgm:pt modelId="{5181C3D1-1655-4854-99BD-FE8E4CCBD84C}" type="parTrans" cxnId="{CC72CA92-E1DB-40B7-BCD6-B0882D8ED108}">
      <dgm:prSet/>
      <dgm:spPr/>
      <dgm:t>
        <a:bodyPr/>
        <a:lstStyle/>
        <a:p>
          <a:endParaRPr lang="zh-TW" altLang="en-US" sz="2400"/>
        </a:p>
      </dgm:t>
    </dgm:pt>
    <dgm:pt modelId="{753F77F8-B473-49AA-A2C9-1462E83F4536}" type="sibTrans" cxnId="{CC72CA92-E1DB-40B7-BCD6-B0882D8ED108}">
      <dgm:prSet/>
      <dgm:spPr/>
      <dgm:t>
        <a:bodyPr/>
        <a:lstStyle/>
        <a:p>
          <a:endParaRPr lang="zh-TW" altLang="en-US" sz="2400"/>
        </a:p>
      </dgm:t>
    </dgm:pt>
    <dgm:pt modelId="{FC7CA588-3D82-4780-8BED-35E05C92C477}">
      <dgm:prSet phldrT="[文字]" custT="1"/>
      <dgm:spPr/>
      <dgm:t>
        <a:bodyPr/>
        <a:lstStyle/>
        <a:p>
          <a:r>
            <a:rPr kumimoji="0" lang="zh-TW" altLang="en-US" sz="3200" dirty="0" smtClean="0">
              <a:effectLst/>
              <a:latin typeface="微軟正黑體" pitchFamily="34" charset="-120"/>
              <a:ea typeface="微軟正黑體" pitchFamily="34" charset="-120"/>
            </a:rPr>
            <a:t>財務規劃</a:t>
          </a:r>
          <a:endParaRPr kumimoji="0" lang="zh-TW" altLang="en-US" sz="3200" dirty="0">
            <a:effectLst/>
            <a:latin typeface="微軟正黑體" pitchFamily="34" charset="-120"/>
            <a:ea typeface="微軟正黑體" pitchFamily="34" charset="-120"/>
          </a:endParaRPr>
        </a:p>
      </dgm:t>
    </dgm:pt>
    <dgm:pt modelId="{6F5B669C-917F-4911-99EE-0F2C9B564144}" type="parTrans" cxnId="{7FE5166C-D8C6-4AC2-AA0B-8281FBA9B5D2}">
      <dgm:prSet/>
      <dgm:spPr/>
      <dgm:t>
        <a:bodyPr/>
        <a:lstStyle/>
        <a:p>
          <a:endParaRPr lang="zh-TW" altLang="en-US" sz="2400"/>
        </a:p>
      </dgm:t>
    </dgm:pt>
    <dgm:pt modelId="{86389DCA-DFCA-4F2B-A350-55A5AB67CC21}" type="sibTrans" cxnId="{7FE5166C-D8C6-4AC2-AA0B-8281FBA9B5D2}">
      <dgm:prSet/>
      <dgm:spPr/>
      <dgm:t>
        <a:bodyPr/>
        <a:lstStyle/>
        <a:p>
          <a:endParaRPr lang="zh-TW" altLang="en-US" sz="2400"/>
        </a:p>
      </dgm:t>
    </dgm:pt>
    <dgm:pt modelId="{6FA6A605-1630-4CDE-B1BA-4C82BFEC04B4}">
      <dgm:prSet phldrT="[文字]" custT="1"/>
      <dgm:spPr/>
      <dgm:t>
        <a:bodyPr/>
        <a:lstStyle/>
        <a:p>
          <a:r>
            <a:rPr kumimoji="0" lang="zh-TW" altLang="en-US" sz="3200" dirty="0" smtClean="0">
              <a:effectLst/>
              <a:latin typeface="微軟正黑體" pitchFamily="34" charset="-120"/>
              <a:ea typeface="微軟正黑體" pitchFamily="34" charset="-120"/>
            </a:rPr>
            <a:t>物業建議</a:t>
          </a:r>
          <a:endParaRPr kumimoji="0" lang="zh-TW" altLang="en-US" sz="3200" dirty="0">
            <a:effectLst/>
            <a:latin typeface="微軟正黑體" pitchFamily="34" charset="-120"/>
            <a:ea typeface="微軟正黑體" pitchFamily="34" charset="-120"/>
          </a:endParaRPr>
        </a:p>
      </dgm:t>
    </dgm:pt>
    <dgm:pt modelId="{F75CBB40-86D3-4BC2-976E-AA37ED3C26E9}" type="parTrans" cxnId="{FA222284-5D82-4049-AE54-97B61ACC43AD}">
      <dgm:prSet/>
      <dgm:spPr/>
      <dgm:t>
        <a:bodyPr/>
        <a:lstStyle/>
        <a:p>
          <a:endParaRPr lang="zh-TW" altLang="en-US"/>
        </a:p>
      </dgm:t>
    </dgm:pt>
    <dgm:pt modelId="{49DB1297-D2D4-4C51-86BC-E334DE7F3728}" type="sibTrans" cxnId="{FA222284-5D82-4049-AE54-97B61ACC43AD}">
      <dgm:prSet/>
      <dgm:spPr/>
      <dgm:t>
        <a:bodyPr/>
        <a:lstStyle/>
        <a:p>
          <a:endParaRPr lang="zh-TW" altLang="en-US"/>
        </a:p>
      </dgm:t>
    </dgm:pt>
    <dgm:pt modelId="{274A104B-31F2-4B51-B244-7D1D122BA12F}" type="pres">
      <dgm:prSet presAssocID="{E16E5541-61CC-454E-B0E7-B29AEB132463}" presName="linearFlow" presStyleCnt="0">
        <dgm:presLayoutVars>
          <dgm:dir/>
          <dgm:resizeHandles val="exact"/>
        </dgm:presLayoutVars>
      </dgm:prSet>
      <dgm:spPr/>
    </dgm:pt>
    <dgm:pt modelId="{69596156-C238-42E5-966A-8BBE017D8094}" type="pres">
      <dgm:prSet presAssocID="{834ECAD0-FB96-4B99-816E-DD5403AFE0C6}" presName="composite" presStyleCnt="0"/>
      <dgm:spPr/>
    </dgm:pt>
    <dgm:pt modelId="{ADDF986C-29CA-4E7E-90E3-5FF7793EA122}" type="pres">
      <dgm:prSet presAssocID="{834ECAD0-FB96-4B99-816E-DD5403AFE0C6}" presName="imgShp" presStyleLbl="fgImgPlace1" presStyleIdx="0" presStyleCnt="3"/>
      <dgm:spPr>
        <a:blipFill rotWithShape="0">
          <a:blip xmlns:r="http://schemas.openxmlformats.org/officeDocument/2006/relationships" r:embed="rId1"/>
          <a:stretch>
            <a:fillRect/>
          </a:stretch>
        </a:blipFill>
      </dgm:spPr>
    </dgm:pt>
    <dgm:pt modelId="{14EBFE5B-7E16-4F6B-971C-ED1EA6177668}" type="pres">
      <dgm:prSet presAssocID="{834ECAD0-FB96-4B99-816E-DD5403AFE0C6}" presName="txShp" presStyleLbl="node1" presStyleIdx="0" presStyleCnt="3">
        <dgm:presLayoutVars>
          <dgm:bulletEnabled val="1"/>
        </dgm:presLayoutVars>
      </dgm:prSet>
      <dgm:spPr/>
      <dgm:t>
        <a:bodyPr/>
        <a:lstStyle/>
        <a:p>
          <a:endParaRPr lang="zh-TW" altLang="en-US"/>
        </a:p>
      </dgm:t>
    </dgm:pt>
    <dgm:pt modelId="{5ADD3E70-61B3-4925-AA5B-847C4EE7F2ED}" type="pres">
      <dgm:prSet presAssocID="{753F77F8-B473-49AA-A2C9-1462E83F4536}" presName="spacing" presStyleCnt="0"/>
      <dgm:spPr/>
    </dgm:pt>
    <dgm:pt modelId="{42903628-9ABD-4390-B775-84C11FFCDF85}" type="pres">
      <dgm:prSet presAssocID="{FC7CA588-3D82-4780-8BED-35E05C92C477}" presName="composite" presStyleCnt="0"/>
      <dgm:spPr/>
    </dgm:pt>
    <dgm:pt modelId="{680C7F33-E977-401E-B71F-5F0681B4EFD7}" type="pres">
      <dgm:prSet presAssocID="{FC7CA588-3D82-4780-8BED-35E05C92C477}" presName="imgShp" presStyleLbl="fgImgPlace1" presStyleIdx="1" presStyleCnt="3"/>
      <dgm:spPr>
        <a:blipFill rotWithShape="0">
          <a:blip xmlns:r="http://schemas.openxmlformats.org/officeDocument/2006/relationships" r:embed="rId1">
            <a:duotone>
              <a:prstClr val="black"/>
              <a:schemeClr val="accent4">
                <a:lumMod val="40000"/>
                <a:lumOff val="60000"/>
                <a:tint val="45000"/>
                <a:satMod val="400000"/>
              </a:schemeClr>
            </a:duotone>
          </a:blip>
          <a:stretch>
            <a:fillRect/>
          </a:stretch>
        </a:blipFill>
      </dgm:spPr>
    </dgm:pt>
    <dgm:pt modelId="{9A7EBD01-43A9-4899-9FFF-49710CF83574}" type="pres">
      <dgm:prSet presAssocID="{FC7CA588-3D82-4780-8BED-35E05C92C477}" presName="txShp" presStyleLbl="node1" presStyleIdx="1" presStyleCnt="3">
        <dgm:presLayoutVars>
          <dgm:bulletEnabled val="1"/>
        </dgm:presLayoutVars>
      </dgm:prSet>
      <dgm:spPr/>
      <dgm:t>
        <a:bodyPr/>
        <a:lstStyle/>
        <a:p>
          <a:endParaRPr lang="zh-TW" altLang="en-US"/>
        </a:p>
      </dgm:t>
    </dgm:pt>
    <dgm:pt modelId="{3470D2C6-1ABA-4836-8C58-ABBA2D28406E}" type="pres">
      <dgm:prSet presAssocID="{86389DCA-DFCA-4F2B-A350-55A5AB67CC21}" presName="spacing" presStyleCnt="0"/>
      <dgm:spPr/>
    </dgm:pt>
    <dgm:pt modelId="{F39ED5ED-4BE6-4393-B20F-D13DC85DDF33}" type="pres">
      <dgm:prSet presAssocID="{6FA6A605-1630-4CDE-B1BA-4C82BFEC04B4}" presName="composite" presStyleCnt="0"/>
      <dgm:spPr/>
    </dgm:pt>
    <dgm:pt modelId="{6C4DF50B-DFF1-4A5A-A034-52811BCDAD87}" type="pres">
      <dgm:prSet presAssocID="{6FA6A605-1630-4CDE-B1BA-4C82BFEC04B4}" presName="imgShp" presStyleLbl="fgImgPlace1" presStyleIdx="2" presStyleCnt="3"/>
      <dgm:spPr>
        <a:blipFill rotWithShape="0">
          <a:blip xmlns:r="http://schemas.openxmlformats.org/officeDocument/2006/relationships" r:embed="rId1">
            <a:duotone>
              <a:prstClr val="black"/>
              <a:schemeClr val="accent4">
                <a:lumMod val="40000"/>
                <a:lumOff val="60000"/>
                <a:tint val="45000"/>
                <a:satMod val="400000"/>
              </a:schemeClr>
            </a:duotone>
          </a:blip>
          <a:stretch>
            <a:fillRect/>
          </a:stretch>
        </a:blipFill>
      </dgm:spPr>
    </dgm:pt>
    <dgm:pt modelId="{F050F6EB-DDCB-4ABC-A707-21AA9BFA8414}" type="pres">
      <dgm:prSet presAssocID="{6FA6A605-1630-4CDE-B1BA-4C82BFEC04B4}" presName="txShp" presStyleLbl="node1" presStyleIdx="2" presStyleCnt="3">
        <dgm:presLayoutVars>
          <dgm:bulletEnabled val="1"/>
        </dgm:presLayoutVars>
      </dgm:prSet>
      <dgm:spPr/>
      <dgm:t>
        <a:bodyPr/>
        <a:lstStyle/>
        <a:p>
          <a:endParaRPr lang="zh-TW" altLang="en-US"/>
        </a:p>
      </dgm:t>
    </dgm:pt>
  </dgm:ptLst>
  <dgm:cxnLst>
    <dgm:cxn modelId="{A6708881-4EE2-4EDB-B48C-B88165208511}" type="presOf" srcId="{E16E5541-61CC-454E-B0E7-B29AEB132463}" destId="{274A104B-31F2-4B51-B244-7D1D122BA12F}" srcOrd="0" destOrd="0" presId="urn:microsoft.com/office/officeart/2005/8/layout/vList3#1"/>
    <dgm:cxn modelId="{9E8C7A46-803C-44D7-82F8-2E5010CCF272}" type="presOf" srcId="{FC7CA588-3D82-4780-8BED-35E05C92C477}" destId="{9A7EBD01-43A9-4899-9FFF-49710CF83574}" srcOrd="0" destOrd="0" presId="urn:microsoft.com/office/officeart/2005/8/layout/vList3#1"/>
    <dgm:cxn modelId="{7FE5166C-D8C6-4AC2-AA0B-8281FBA9B5D2}" srcId="{E16E5541-61CC-454E-B0E7-B29AEB132463}" destId="{FC7CA588-3D82-4780-8BED-35E05C92C477}" srcOrd="1" destOrd="0" parTransId="{6F5B669C-917F-4911-99EE-0F2C9B564144}" sibTransId="{86389DCA-DFCA-4F2B-A350-55A5AB67CC21}"/>
    <dgm:cxn modelId="{D2E01831-786C-4403-824B-817DC098C166}" type="presOf" srcId="{834ECAD0-FB96-4B99-816E-DD5403AFE0C6}" destId="{14EBFE5B-7E16-4F6B-971C-ED1EA6177668}" srcOrd="0" destOrd="0" presId="urn:microsoft.com/office/officeart/2005/8/layout/vList3#1"/>
    <dgm:cxn modelId="{90D6EBE7-C850-4313-B442-2D192899EB47}" type="presOf" srcId="{6FA6A605-1630-4CDE-B1BA-4C82BFEC04B4}" destId="{F050F6EB-DDCB-4ABC-A707-21AA9BFA8414}" srcOrd="0" destOrd="0" presId="urn:microsoft.com/office/officeart/2005/8/layout/vList3#1"/>
    <dgm:cxn modelId="{CC72CA92-E1DB-40B7-BCD6-B0882D8ED108}" srcId="{E16E5541-61CC-454E-B0E7-B29AEB132463}" destId="{834ECAD0-FB96-4B99-816E-DD5403AFE0C6}" srcOrd="0" destOrd="0" parTransId="{5181C3D1-1655-4854-99BD-FE8E4CCBD84C}" sibTransId="{753F77F8-B473-49AA-A2C9-1462E83F4536}"/>
    <dgm:cxn modelId="{FA222284-5D82-4049-AE54-97B61ACC43AD}" srcId="{E16E5541-61CC-454E-B0E7-B29AEB132463}" destId="{6FA6A605-1630-4CDE-B1BA-4C82BFEC04B4}" srcOrd="2" destOrd="0" parTransId="{F75CBB40-86D3-4BC2-976E-AA37ED3C26E9}" sibTransId="{49DB1297-D2D4-4C51-86BC-E334DE7F3728}"/>
    <dgm:cxn modelId="{68F9D7B1-1D1B-44C8-AC2C-52151868D2CB}" type="presParOf" srcId="{274A104B-31F2-4B51-B244-7D1D122BA12F}" destId="{69596156-C238-42E5-966A-8BBE017D8094}" srcOrd="0" destOrd="0" presId="urn:microsoft.com/office/officeart/2005/8/layout/vList3#1"/>
    <dgm:cxn modelId="{7EF7553A-38D1-4388-8596-03A2C61AC563}" type="presParOf" srcId="{69596156-C238-42E5-966A-8BBE017D8094}" destId="{ADDF986C-29CA-4E7E-90E3-5FF7793EA122}" srcOrd="0" destOrd="0" presId="urn:microsoft.com/office/officeart/2005/8/layout/vList3#1"/>
    <dgm:cxn modelId="{0B65F27A-F0D4-4BAA-B786-A8A8780E8242}" type="presParOf" srcId="{69596156-C238-42E5-966A-8BBE017D8094}" destId="{14EBFE5B-7E16-4F6B-971C-ED1EA6177668}" srcOrd="1" destOrd="0" presId="urn:microsoft.com/office/officeart/2005/8/layout/vList3#1"/>
    <dgm:cxn modelId="{8ECA719A-AEEC-4B7D-84AD-DF3AD7820439}" type="presParOf" srcId="{274A104B-31F2-4B51-B244-7D1D122BA12F}" destId="{5ADD3E70-61B3-4925-AA5B-847C4EE7F2ED}" srcOrd="1" destOrd="0" presId="urn:microsoft.com/office/officeart/2005/8/layout/vList3#1"/>
    <dgm:cxn modelId="{A48CA4F9-0411-4FB1-B4DB-6B22543705C7}" type="presParOf" srcId="{274A104B-31F2-4B51-B244-7D1D122BA12F}" destId="{42903628-9ABD-4390-B775-84C11FFCDF85}" srcOrd="2" destOrd="0" presId="urn:microsoft.com/office/officeart/2005/8/layout/vList3#1"/>
    <dgm:cxn modelId="{6C409C7F-58F5-4468-8CB2-71FCDC819FCB}" type="presParOf" srcId="{42903628-9ABD-4390-B775-84C11FFCDF85}" destId="{680C7F33-E977-401E-B71F-5F0681B4EFD7}" srcOrd="0" destOrd="0" presId="urn:microsoft.com/office/officeart/2005/8/layout/vList3#1"/>
    <dgm:cxn modelId="{CD69EFC4-7B94-4173-9806-C15E9A280E92}" type="presParOf" srcId="{42903628-9ABD-4390-B775-84C11FFCDF85}" destId="{9A7EBD01-43A9-4899-9FFF-49710CF83574}" srcOrd="1" destOrd="0" presId="urn:microsoft.com/office/officeart/2005/8/layout/vList3#1"/>
    <dgm:cxn modelId="{3A54413F-EFEF-4268-89BA-ADEF51D28C62}" type="presParOf" srcId="{274A104B-31F2-4B51-B244-7D1D122BA12F}" destId="{3470D2C6-1ABA-4836-8C58-ABBA2D28406E}" srcOrd="3" destOrd="0" presId="urn:microsoft.com/office/officeart/2005/8/layout/vList3#1"/>
    <dgm:cxn modelId="{D69289C8-75D4-43CD-837F-36ADDDDEB20E}" type="presParOf" srcId="{274A104B-31F2-4B51-B244-7D1D122BA12F}" destId="{F39ED5ED-4BE6-4393-B20F-D13DC85DDF33}" srcOrd="4" destOrd="0" presId="urn:microsoft.com/office/officeart/2005/8/layout/vList3#1"/>
    <dgm:cxn modelId="{2BC3E6DF-05F6-4F8B-8600-DBECE46585F8}" type="presParOf" srcId="{F39ED5ED-4BE6-4393-B20F-D13DC85DDF33}" destId="{6C4DF50B-DFF1-4A5A-A034-52811BCDAD87}" srcOrd="0" destOrd="0" presId="urn:microsoft.com/office/officeart/2005/8/layout/vList3#1"/>
    <dgm:cxn modelId="{201AAB87-3B20-45AF-A23B-81614DBBF220}" type="presParOf" srcId="{F39ED5ED-4BE6-4393-B20F-D13DC85DDF33}" destId="{F050F6EB-DDCB-4ABC-A707-21AA9BFA8414}" srcOrd="1" destOrd="0" presId="urn:microsoft.com/office/officeart/2005/8/layout/vList3#1"/>
  </dgm:cxnLst>
  <dgm:bg/>
  <dgm:whole/>
  <dgm:extLst>
    <a:ext uri="http://schemas.microsoft.com/office/drawing/2008/diagram">
      <dsp:dataModelExt xmlns=""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F4C333-90CD-4597-9AB9-BF2A8A605951}" type="doc">
      <dgm:prSet loTypeId="urn:microsoft.com/office/officeart/2005/8/layout/default#3" loCatId="list" qsTypeId="urn:microsoft.com/office/officeart/2005/8/quickstyle/3d3" qsCatId="3D" csTypeId="urn:microsoft.com/office/officeart/2005/8/colors/accent0_3" csCatId="mainScheme" phldr="1"/>
      <dgm:spPr/>
      <dgm:t>
        <a:bodyPr/>
        <a:lstStyle/>
        <a:p>
          <a:endParaRPr lang="zh-TW" altLang="en-US"/>
        </a:p>
      </dgm:t>
    </dgm:pt>
    <dgm:pt modelId="{1F9D54FE-1D84-40A2-8060-A1B215F1D631}" type="pres">
      <dgm:prSet presAssocID="{E5F4C333-90CD-4597-9AB9-BF2A8A605951}" presName="diagram" presStyleCnt="0">
        <dgm:presLayoutVars>
          <dgm:dir/>
          <dgm:resizeHandles val="exact"/>
        </dgm:presLayoutVars>
      </dgm:prSet>
      <dgm:spPr/>
      <dgm:t>
        <a:bodyPr/>
        <a:lstStyle/>
        <a:p>
          <a:endParaRPr lang="zh-TW" altLang="en-US"/>
        </a:p>
      </dgm:t>
    </dgm:pt>
  </dgm:ptLst>
  <dgm:cxnLst>
    <dgm:cxn modelId="{EB94B431-CE63-4FF3-8C51-34EC0D394D6F}" type="presOf" srcId="{E5F4C333-90CD-4597-9AB9-BF2A8A605951}" destId="{1F9D54FE-1D84-40A2-8060-A1B215F1D631}" srcOrd="0" destOrd="0" presId="urn:microsoft.com/office/officeart/2005/8/layout/default#3"/>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F4C333-90CD-4597-9AB9-BF2A8A605951}" type="doc">
      <dgm:prSet loTypeId="urn:microsoft.com/office/officeart/2005/8/layout/default#10" loCatId="list" qsTypeId="urn:microsoft.com/office/officeart/2005/8/quickstyle/3d3" qsCatId="3D" csTypeId="urn:microsoft.com/office/officeart/2005/8/colors/accent0_3" csCatId="mainScheme" phldr="1"/>
      <dgm:spPr/>
      <dgm:t>
        <a:bodyPr/>
        <a:lstStyle/>
        <a:p>
          <a:endParaRPr lang="zh-TW" altLang="en-US"/>
        </a:p>
      </dgm:t>
    </dgm:pt>
    <dgm:pt modelId="{1F9D54FE-1D84-40A2-8060-A1B215F1D631}" type="pres">
      <dgm:prSet presAssocID="{E5F4C333-90CD-4597-9AB9-BF2A8A605951}" presName="diagram" presStyleCnt="0">
        <dgm:presLayoutVars>
          <dgm:dir/>
          <dgm:resizeHandles val="exact"/>
        </dgm:presLayoutVars>
      </dgm:prSet>
      <dgm:spPr/>
      <dgm:t>
        <a:bodyPr/>
        <a:lstStyle/>
        <a:p>
          <a:endParaRPr lang="zh-TW" altLang="en-US"/>
        </a:p>
      </dgm:t>
    </dgm:pt>
  </dgm:ptLst>
  <dgm:cxnLst>
    <dgm:cxn modelId="{DB88AA3B-B64D-4DB8-89E1-FA0507297A61}" type="presOf" srcId="{E5F4C333-90CD-4597-9AB9-BF2A8A605951}" destId="{1F9D54FE-1D84-40A2-8060-A1B215F1D631}" srcOrd="0" destOrd="0" presId="urn:microsoft.com/office/officeart/2005/8/layout/default#10"/>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5F4C333-90CD-4597-9AB9-BF2A8A605951}" type="doc">
      <dgm:prSet loTypeId="urn:microsoft.com/office/officeart/2005/8/layout/default#4" loCatId="list" qsTypeId="urn:microsoft.com/office/officeart/2005/8/quickstyle/3d3" qsCatId="3D" csTypeId="urn:microsoft.com/office/officeart/2005/8/colors/accent0_3" csCatId="mainScheme" phldr="1"/>
      <dgm:spPr/>
      <dgm:t>
        <a:bodyPr/>
        <a:lstStyle/>
        <a:p>
          <a:endParaRPr lang="zh-TW" altLang="en-US"/>
        </a:p>
      </dgm:t>
    </dgm:pt>
    <dgm:pt modelId="{1F9D54FE-1D84-40A2-8060-A1B215F1D631}" type="pres">
      <dgm:prSet presAssocID="{E5F4C333-90CD-4597-9AB9-BF2A8A605951}" presName="diagram" presStyleCnt="0">
        <dgm:presLayoutVars>
          <dgm:dir/>
          <dgm:resizeHandles val="exact"/>
        </dgm:presLayoutVars>
      </dgm:prSet>
      <dgm:spPr/>
      <dgm:t>
        <a:bodyPr/>
        <a:lstStyle/>
        <a:p>
          <a:endParaRPr lang="zh-TW" altLang="en-US"/>
        </a:p>
      </dgm:t>
    </dgm:pt>
  </dgm:ptLst>
  <dgm:cxnLst>
    <dgm:cxn modelId="{FCF4D773-03D7-4FD3-BB3A-642465F1469F}" type="presOf" srcId="{E5F4C333-90CD-4597-9AB9-BF2A8A605951}" destId="{1F9D54FE-1D84-40A2-8060-A1B215F1D631}" srcOrd="0" destOrd="0" presId="urn:microsoft.com/office/officeart/2005/8/layout/default#4"/>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EBFE5B-7E16-4F6B-971C-ED1EA6177668}">
      <dsp:nvSpPr>
        <dsp:cNvPr id="0" name=""/>
        <dsp:cNvSpPr/>
      </dsp:nvSpPr>
      <dsp:spPr>
        <a:xfrm rot="10800000">
          <a:off x="1107190" y="3353"/>
          <a:ext cx="3848007" cy="551820"/>
        </a:xfrm>
        <a:prstGeom prst="homePlate">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3337" tIns="91440" rIns="170688" bIns="91440" numCol="1" spcCol="1270" anchor="ctr" anchorCtr="0">
          <a:noAutofit/>
        </a:bodyPr>
        <a:lstStyle/>
        <a:p>
          <a:pPr lvl="0" algn="ctr" defTabSz="1066800">
            <a:lnSpc>
              <a:spcPct val="90000"/>
            </a:lnSpc>
            <a:spcBef>
              <a:spcPct val="0"/>
            </a:spcBef>
            <a:spcAft>
              <a:spcPct val="35000"/>
            </a:spcAft>
          </a:pPr>
          <a:r>
            <a:rPr kumimoji="0" lang="zh-TW" altLang="en-US" sz="2400" kern="1200" dirty="0">
              <a:effectLst/>
              <a:latin typeface="微軟正黑體" pitchFamily="34" charset="-120"/>
              <a:ea typeface="微軟正黑體" pitchFamily="34" charset="-120"/>
            </a:rPr>
            <a:t>齊家的專業與優勢</a:t>
          </a:r>
          <a:endParaRPr lang="zh-TW" altLang="en-US" sz="2400" kern="1200" dirty="0">
            <a:effectLst/>
            <a:latin typeface="微軟正黑體" pitchFamily="34" charset="-120"/>
            <a:ea typeface="微軟正黑體" pitchFamily="34" charset="-120"/>
          </a:endParaRPr>
        </a:p>
      </dsp:txBody>
      <dsp:txXfrm rot="10800000">
        <a:off x="1245145" y="3353"/>
        <a:ext cx="3710052" cy="551820"/>
      </dsp:txXfrm>
    </dsp:sp>
    <dsp:sp modelId="{ADDF986C-29CA-4E7E-90E3-5FF7793EA122}">
      <dsp:nvSpPr>
        <dsp:cNvPr id="0" name=""/>
        <dsp:cNvSpPr/>
      </dsp:nvSpPr>
      <dsp:spPr>
        <a:xfrm>
          <a:off x="831279" y="3353"/>
          <a:ext cx="551820" cy="551820"/>
        </a:xfrm>
        <a:prstGeom prst="ellipse">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A7EBD01-43A9-4899-9FFF-49710CF83574}">
      <dsp:nvSpPr>
        <dsp:cNvPr id="0" name=""/>
        <dsp:cNvSpPr/>
      </dsp:nvSpPr>
      <dsp:spPr>
        <a:xfrm rot="10800000">
          <a:off x="1107190" y="719896"/>
          <a:ext cx="3848007" cy="551820"/>
        </a:xfrm>
        <a:prstGeom prst="homePlate">
          <a:avLst/>
        </a:prstGeom>
        <a:solidFill>
          <a:schemeClr val="accent4">
            <a:hueOff val="-1005190"/>
            <a:satOff val="7017"/>
            <a:lumOff val="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3337" tIns="91440" rIns="170688" bIns="91440" numCol="1" spcCol="1270" anchor="ctr" anchorCtr="0">
          <a:noAutofit/>
        </a:bodyPr>
        <a:lstStyle/>
        <a:p>
          <a:pPr lvl="0" algn="ctr" defTabSz="1066800">
            <a:lnSpc>
              <a:spcPct val="90000"/>
            </a:lnSpc>
            <a:spcBef>
              <a:spcPct val="0"/>
            </a:spcBef>
            <a:spcAft>
              <a:spcPct val="35000"/>
            </a:spcAft>
          </a:pPr>
          <a:r>
            <a:rPr kumimoji="0" lang="zh-TW" altLang="en-US" sz="2400" kern="1200" dirty="0">
              <a:effectLst/>
              <a:latin typeface="微軟正黑體" pitchFamily="34" charset="-120"/>
              <a:ea typeface="微軟正黑體" pitchFamily="34" charset="-120"/>
            </a:rPr>
            <a:t>交屋前規劃</a:t>
          </a:r>
        </a:p>
      </dsp:txBody>
      <dsp:txXfrm rot="10800000">
        <a:off x="1245145" y="719896"/>
        <a:ext cx="3710052" cy="551820"/>
      </dsp:txXfrm>
    </dsp:sp>
    <dsp:sp modelId="{680C7F33-E977-401E-B71F-5F0681B4EFD7}">
      <dsp:nvSpPr>
        <dsp:cNvPr id="0" name=""/>
        <dsp:cNvSpPr/>
      </dsp:nvSpPr>
      <dsp:spPr>
        <a:xfrm>
          <a:off x="831279" y="719896"/>
          <a:ext cx="551820" cy="551820"/>
        </a:xfrm>
        <a:prstGeom prst="ellipse">
          <a:avLst/>
        </a:prstGeom>
        <a:blipFill rotWithShape="0">
          <a:blip xmlns:r="http://schemas.openxmlformats.org/officeDocument/2006/relationships" r:embed="rId1">
            <a:duotone>
              <a:prstClr val="black"/>
              <a:schemeClr val="accent4">
                <a:lumMod val="40000"/>
                <a:lumOff val="60000"/>
                <a:tint val="45000"/>
                <a:satMod val="400000"/>
              </a:schemeClr>
            </a:duotone>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CFC8404-26D8-4D13-9B80-9B65FD73541D}">
      <dsp:nvSpPr>
        <dsp:cNvPr id="0" name=""/>
        <dsp:cNvSpPr/>
      </dsp:nvSpPr>
      <dsp:spPr>
        <a:xfrm rot="10800000">
          <a:off x="1107190" y="1436438"/>
          <a:ext cx="3848007" cy="551820"/>
        </a:xfrm>
        <a:prstGeom prst="homePlate">
          <a:avLst/>
        </a:prstGeom>
        <a:solidFill>
          <a:schemeClr val="accent4">
            <a:hueOff val="-2010380"/>
            <a:satOff val="14035"/>
            <a:lumOff val="150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3337" tIns="91440" rIns="170688" bIns="91440" numCol="1" spcCol="1270" anchor="ctr" anchorCtr="0">
          <a:noAutofit/>
        </a:bodyPr>
        <a:lstStyle/>
        <a:p>
          <a:pPr lvl="0" algn="ctr" defTabSz="1066800">
            <a:lnSpc>
              <a:spcPct val="90000"/>
            </a:lnSpc>
            <a:spcBef>
              <a:spcPct val="0"/>
            </a:spcBef>
            <a:spcAft>
              <a:spcPct val="35000"/>
            </a:spcAft>
          </a:pPr>
          <a:r>
            <a:rPr kumimoji="0" lang="zh-TW" altLang="en-US" sz="2400" kern="1200" dirty="0">
              <a:effectLst/>
              <a:latin typeface="微軟正黑體" pitchFamily="34" charset="-120"/>
              <a:ea typeface="微軟正黑體" pitchFamily="34" charset="-120"/>
            </a:rPr>
            <a:t>交屋期規劃與服務</a:t>
          </a:r>
        </a:p>
      </dsp:txBody>
      <dsp:txXfrm rot="10800000">
        <a:off x="1245145" y="1436438"/>
        <a:ext cx="3710052" cy="551820"/>
      </dsp:txXfrm>
    </dsp:sp>
    <dsp:sp modelId="{C6E7B0D4-EE83-4534-BCD3-3B84C6F2E9C2}">
      <dsp:nvSpPr>
        <dsp:cNvPr id="0" name=""/>
        <dsp:cNvSpPr/>
      </dsp:nvSpPr>
      <dsp:spPr>
        <a:xfrm>
          <a:off x="831279" y="1436438"/>
          <a:ext cx="551820" cy="551820"/>
        </a:xfrm>
        <a:prstGeom prst="ellipse">
          <a:avLst/>
        </a:prstGeom>
        <a:blipFill rotWithShape="0">
          <a:blip xmlns:r="http://schemas.openxmlformats.org/officeDocument/2006/relationships" r:embed="rId1">
            <a:duotone>
              <a:prstClr val="black"/>
              <a:srgbClr val="92D050">
                <a:tint val="45000"/>
                <a:satMod val="400000"/>
              </a:srgbClr>
            </a:duotone>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6EFA824-4661-40B4-91C8-D49DCE6829C2}">
      <dsp:nvSpPr>
        <dsp:cNvPr id="0" name=""/>
        <dsp:cNvSpPr/>
      </dsp:nvSpPr>
      <dsp:spPr>
        <a:xfrm rot="10800000">
          <a:off x="1107190" y="2152981"/>
          <a:ext cx="3848007" cy="551820"/>
        </a:xfrm>
        <a:prstGeom prst="homePlate">
          <a:avLst/>
        </a:prstGeom>
        <a:solidFill>
          <a:schemeClr val="accent4">
            <a:hueOff val="-3015570"/>
            <a:satOff val="21052"/>
            <a:lumOff val="225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3337" tIns="91440" rIns="170688" bIns="91440" numCol="1" spcCol="1270" anchor="ctr" anchorCtr="0">
          <a:noAutofit/>
        </a:bodyPr>
        <a:lstStyle/>
        <a:p>
          <a:pPr lvl="0" algn="ctr" defTabSz="1066800">
            <a:lnSpc>
              <a:spcPct val="90000"/>
            </a:lnSpc>
            <a:spcBef>
              <a:spcPct val="0"/>
            </a:spcBef>
            <a:spcAft>
              <a:spcPct val="35000"/>
            </a:spcAft>
          </a:pPr>
          <a:r>
            <a:rPr kumimoji="0" lang="zh-TW" altLang="en-US" sz="2400" kern="1200" dirty="0">
              <a:effectLst/>
              <a:latin typeface="微軟正黑體" pitchFamily="34" charset="-120"/>
              <a:ea typeface="微軟正黑體" pitchFamily="34" charset="-120"/>
            </a:rPr>
            <a:t>社區專屬規劃與服務</a:t>
          </a:r>
        </a:p>
      </dsp:txBody>
      <dsp:txXfrm rot="10800000">
        <a:off x="1245145" y="2152981"/>
        <a:ext cx="3710052" cy="551820"/>
      </dsp:txXfrm>
    </dsp:sp>
    <dsp:sp modelId="{06D809A8-2B20-42DB-8B19-08DAB3CC471F}">
      <dsp:nvSpPr>
        <dsp:cNvPr id="0" name=""/>
        <dsp:cNvSpPr/>
      </dsp:nvSpPr>
      <dsp:spPr>
        <a:xfrm>
          <a:off x="831279" y="2152981"/>
          <a:ext cx="551820" cy="551820"/>
        </a:xfrm>
        <a:prstGeom prst="ellipse">
          <a:avLst/>
        </a:prstGeom>
        <a:blipFill rotWithShape="0">
          <a:blip xmlns:r="http://schemas.openxmlformats.org/officeDocument/2006/relationships" r:embed="rId1">
            <a:duotone>
              <a:prstClr val="black"/>
              <a:srgbClr val="CCFFCC">
                <a:tint val="45000"/>
                <a:satMod val="400000"/>
              </a:srgbClr>
            </a:duotone>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479F78E-E247-4BB6-96AE-8894C7E2B2AC}">
      <dsp:nvSpPr>
        <dsp:cNvPr id="0" name=""/>
        <dsp:cNvSpPr/>
      </dsp:nvSpPr>
      <dsp:spPr>
        <a:xfrm rot="10800000">
          <a:off x="1107190" y="2869524"/>
          <a:ext cx="3848007" cy="551820"/>
        </a:xfrm>
        <a:prstGeom prst="homePlate">
          <a:avLst/>
        </a:prstGeom>
        <a:solidFill>
          <a:schemeClr val="accent4">
            <a:hueOff val="-4020761"/>
            <a:satOff val="28070"/>
            <a:lumOff val="300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3337" tIns="91440" rIns="170688" bIns="91440" numCol="1" spcCol="1270" anchor="ctr" anchorCtr="0">
          <a:noAutofit/>
        </a:bodyPr>
        <a:lstStyle/>
        <a:p>
          <a:pPr lvl="0" algn="ctr" defTabSz="1066800">
            <a:lnSpc>
              <a:spcPct val="90000"/>
            </a:lnSpc>
            <a:spcBef>
              <a:spcPct val="0"/>
            </a:spcBef>
            <a:spcAft>
              <a:spcPct val="35000"/>
            </a:spcAft>
          </a:pPr>
          <a:r>
            <a:rPr kumimoji="0" lang="zh-TW" altLang="en-US" sz="2400" kern="1200" dirty="0">
              <a:effectLst/>
              <a:latin typeface="微軟正黑體" pitchFamily="34" charset="-120"/>
              <a:ea typeface="微軟正黑體" pitchFamily="34" charset="-120"/>
            </a:rPr>
            <a:t>社區</a:t>
          </a:r>
          <a:r>
            <a:rPr kumimoji="0" lang="en-US" altLang="zh-TW" sz="2400" kern="1200" dirty="0">
              <a:effectLst/>
              <a:latin typeface="微軟正黑體" pitchFamily="34" charset="-120"/>
              <a:ea typeface="微軟正黑體" pitchFamily="34" charset="-120"/>
            </a:rPr>
            <a:t>E</a:t>
          </a:r>
          <a:r>
            <a:rPr kumimoji="0" lang="zh-TW" altLang="en-US" sz="2400" kern="1200" dirty="0">
              <a:effectLst/>
              <a:latin typeface="微軟正黑體" pitchFamily="34" charset="-120"/>
              <a:ea typeface="微軟正黑體" pitchFamily="34" charset="-120"/>
            </a:rPr>
            <a:t>化服務系統</a:t>
          </a:r>
        </a:p>
      </dsp:txBody>
      <dsp:txXfrm rot="10800000">
        <a:off x="1245145" y="2869524"/>
        <a:ext cx="3710052" cy="551820"/>
      </dsp:txXfrm>
    </dsp:sp>
    <dsp:sp modelId="{1C991DF6-9E1E-48FE-A0D1-73B554F0E7F4}">
      <dsp:nvSpPr>
        <dsp:cNvPr id="0" name=""/>
        <dsp:cNvSpPr/>
      </dsp:nvSpPr>
      <dsp:spPr>
        <a:xfrm>
          <a:off x="831279" y="2869524"/>
          <a:ext cx="551820" cy="551820"/>
        </a:xfrm>
        <a:prstGeom prst="ellipse">
          <a:avLst/>
        </a:prstGeom>
        <a:blipFill rotWithShape="0">
          <a:blip xmlns:r="http://schemas.openxmlformats.org/officeDocument/2006/relationships" r:embed="rId1">
            <a:duotone>
              <a:prstClr val="black"/>
              <a:schemeClr val="accent1">
                <a:lumMod val="40000"/>
                <a:lumOff val="60000"/>
                <a:tint val="45000"/>
                <a:satMod val="400000"/>
              </a:schemeClr>
            </a:duotone>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77679A4-80DB-442E-9ACD-0A69F45907AE}">
      <dsp:nvSpPr>
        <dsp:cNvPr id="0" name=""/>
        <dsp:cNvSpPr/>
      </dsp:nvSpPr>
      <dsp:spPr>
        <a:xfrm rot="10800000">
          <a:off x="1107190" y="3586067"/>
          <a:ext cx="3848007" cy="551820"/>
        </a:xfrm>
        <a:prstGeom prst="homePlate">
          <a:avLst/>
        </a:prstGeom>
        <a:solidFill>
          <a:schemeClr val="accent4">
            <a:hueOff val="-5025950"/>
            <a:satOff val="35087"/>
            <a:lumOff val="37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3337" tIns="91440" rIns="170688" bIns="91440" numCol="1" spcCol="1270" anchor="ctr" anchorCtr="0">
          <a:noAutofit/>
        </a:bodyPr>
        <a:lstStyle/>
        <a:p>
          <a:pPr lvl="0" algn="ctr" defTabSz="1066800">
            <a:lnSpc>
              <a:spcPct val="90000"/>
            </a:lnSpc>
            <a:spcBef>
              <a:spcPct val="0"/>
            </a:spcBef>
            <a:spcAft>
              <a:spcPct val="35000"/>
            </a:spcAft>
          </a:pPr>
          <a:r>
            <a:rPr kumimoji="0" lang="en-US" altLang="zh-TW" sz="2400" kern="1200" dirty="0">
              <a:effectLst/>
              <a:latin typeface="微軟正黑體" pitchFamily="34" charset="-120"/>
              <a:ea typeface="微軟正黑體" pitchFamily="34" charset="-120"/>
            </a:rPr>
            <a:t>CIS</a:t>
          </a:r>
          <a:r>
            <a:rPr kumimoji="0" lang="zh-TW" altLang="en-US" sz="2400" kern="1200" dirty="0">
              <a:effectLst/>
              <a:latin typeface="微軟正黑體" pitchFamily="34" charset="-120"/>
              <a:ea typeface="微軟正黑體" pitchFamily="34" charset="-120"/>
            </a:rPr>
            <a:t>社區識別系統</a:t>
          </a:r>
        </a:p>
      </dsp:txBody>
      <dsp:txXfrm rot="10800000">
        <a:off x="1245145" y="3586067"/>
        <a:ext cx="3710052" cy="551820"/>
      </dsp:txXfrm>
    </dsp:sp>
    <dsp:sp modelId="{71847DE4-2103-4488-B146-ADE8B269C380}">
      <dsp:nvSpPr>
        <dsp:cNvPr id="0" name=""/>
        <dsp:cNvSpPr/>
      </dsp:nvSpPr>
      <dsp:spPr>
        <a:xfrm>
          <a:off x="831279" y="3586067"/>
          <a:ext cx="551820" cy="551820"/>
        </a:xfrm>
        <a:prstGeom prst="ellipse">
          <a:avLst/>
        </a:prstGeom>
        <a:blipFill rotWithShape="0">
          <a:blip xmlns:r="http://schemas.openxmlformats.org/officeDocument/2006/relationships" r:embed="rId1">
            <a:duotone>
              <a:prstClr val="black"/>
              <a:schemeClr val="accent5">
                <a:lumMod val="40000"/>
                <a:lumOff val="60000"/>
                <a:tint val="45000"/>
                <a:satMod val="400000"/>
              </a:schemeClr>
            </a:duotone>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C23E8A4-C9DA-44EC-B73D-609AD56210CB}">
      <dsp:nvSpPr>
        <dsp:cNvPr id="0" name=""/>
        <dsp:cNvSpPr/>
      </dsp:nvSpPr>
      <dsp:spPr>
        <a:xfrm rot="10800000">
          <a:off x="1107190" y="4302610"/>
          <a:ext cx="3848007" cy="551820"/>
        </a:xfrm>
        <a:prstGeom prst="homePlate">
          <a:avLst/>
        </a:prstGeom>
        <a:solidFill>
          <a:schemeClr val="accent4">
            <a:hueOff val="-6031141"/>
            <a:satOff val="42105"/>
            <a:lumOff val="450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3337" tIns="91440" rIns="170688" bIns="91440" numCol="1" spcCol="1270" anchor="ctr" anchorCtr="0">
          <a:noAutofit/>
        </a:bodyPr>
        <a:lstStyle/>
        <a:p>
          <a:pPr lvl="0" algn="ctr" defTabSz="1066800">
            <a:lnSpc>
              <a:spcPct val="90000"/>
            </a:lnSpc>
            <a:spcBef>
              <a:spcPct val="0"/>
            </a:spcBef>
            <a:spcAft>
              <a:spcPct val="35000"/>
            </a:spcAft>
          </a:pPr>
          <a:r>
            <a:rPr kumimoji="0" lang="zh-TW" altLang="en-US" sz="2400" kern="1200" dirty="0">
              <a:effectLst/>
              <a:latin typeface="微軟正黑體" pitchFamily="34" charset="-120"/>
              <a:ea typeface="微軟正黑體" pitchFamily="34" charset="-120"/>
            </a:rPr>
            <a:t>人事、設備、財務建議</a:t>
          </a:r>
        </a:p>
      </dsp:txBody>
      <dsp:txXfrm rot="10800000">
        <a:off x="1245145" y="4302610"/>
        <a:ext cx="3710052" cy="551820"/>
      </dsp:txXfrm>
    </dsp:sp>
    <dsp:sp modelId="{0A440FC5-5854-4521-A9CF-08514D8009C0}">
      <dsp:nvSpPr>
        <dsp:cNvPr id="0" name=""/>
        <dsp:cNvSpPr/>
      </dsp:nvSpPr>
      <dsp:spPr>
        <a:xfrm>
          <a:off x="831279" y="4302610"/>
          <a:ext cx="551820" cy="551820"/>
        </a:xfrm>
        <a:prstGeom prst="ellipse">
          <a:avLst/>
        </a:prstGeom>
        <a:blipFill rotWithShape="0">
          <a:blip xmlns:r="http://schemas.openxmlformats.org/officeDocument/2006/relationships" r:embed="rId1">
            <a:duotone>
              <a:prstClr val="black"/>
              <a:schemeClr val="accent5">
                <a:lumMod val="75000"/>
                <a:tint val="45000"/>
                <a:satMod val="400000"/>
              </a:schemeClr>
            </a:duotone>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3">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10">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4">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5300" cy="500384"/>
          </a:xfrm>
          <a:prstGeom prst="rect">
            <a:avLst/>
          </a:prstGeom>
        </p:spPr>
        <p:txBody>
          <a:bodyPr vert="horz" lIns="92181" tIns="46090" rIns="92181" bIns="46090" rtlCol="0"/>
          <a:lstStyle>
            <a:lvl1pPr algn="l">
              <a:defRPr sz="1200"/>
            </a:lvl1pPr>
          </a:lstStyle>
          <a:p>
            <a:endParaRPr lang="zh-TW" altLang="en-US"/>
          </a:p>
        </p:txBody>
      </p:sp>
      <p:sp>
        <p:nvSpPr>
          <p:cNvPr id="3" name="日期版面配置區 2"/>
          <p:cNvSpPr>
            <a:spLocks noGrp="1"/>
          </p:cNvSpPr>
          <p:nvPr>
            <p:ph type="dt" sz="quarter" idx="1"/>
          </p:nvPr>
        </p:nvSpPr>
        <p:spPr>
          <a:xfrm>
            <a:off x="3887448" y="0"/>
            <a:ext cx="2975300" cy="500384"/>
          </a:xfrm>
          <a:prstGeom prst="rect">
            <a:avLst/>
          </a:prstGeom>
        </p:spPr>
        <p:txBody>
          <a:bodyPr vert="horz" lIns="92181" tIns="46090" rIns="92181" bIns="46090" rtlCol="0"/>
          <a:lstStyle>
            <a:lvl1pPr algn="r">
              <a:defRPr sz="1200"/>
            </a:lvl1pPr>
          </a:lstStyle>
          <a:p>
            <a:fld id="{9B3B88FE-0D96-41A1-8F66-1334CF8538A7}" type="datetimeFigureOut">
              <a:rPr lang="zh-TW" altLang="en-US" smtClean="0"/>
              <a:pPr/>
              <a:t>2019/8/6</a:t>
            </a:fld>
            <a:endParaRPr lang="zh-TW" altLang="en-US"/>
          </a:p>
        </p:txBody>
      </p:sp>
      <p:sp>
        <p:nvSpPr>
          <p:cNvPr id="4" name="頁尾版面配置區 3"/>
          <p:cNvSpPr>
            <a:spLocks noGrp="1"/>
          </p:cNvSpPr>
          <p:nvPr>
            <p:ph type="ftr" sz="quarter" idx="2"/>
          </p:nvPr>
        </p:nvSpPr>
        <p:spPr>
          <a:xfrm>
            <a:off x="0" y="9494506"/>
            <a:ext cx="2975300" cy="500383"/>
          </a:xfrm>
          <a:prstGeom prst="rect">
            <a:avLst/>
          </a:prstGeom>
        </p:spPr>
        <p:txBody>
          <a:bodyPr vert="horz" lIns="92181" tIns="46090" rIns="92181" bIns="4609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7448" y="9494506"/>
            <a:ext cx="2975300" cy="500383"/>
          </a:xfrm>
          <a:prstGeom prst="rect">
            <a:avLst/>
          </a:prstGeom>
        </p:spPr>
        <p:txBody>
          <a:bodyPr vert="horz" lIns="92181" tIns="46090" rIns="92181" bIns="46090" rtlCol="0" anchor="b"/>
          <a:lstStyle>
            <a:lvl1pPr algn="r">
              <a:defRPr sz="1200"/>
            </a:lvl1pPr>
          </a:lstStyle>
          <a:p>
            <a:fld id="{201C0C52-A002-434D-9384-953DB214F513}" type="slidenum">
              <a:rPr lang="zh-TW" altLang="en-US" smtClean="0"/>
              <a:pPr/>
              <a:t>‹#›</a:t>
            </a:fld>
            <a:endParaRPr lang="zh-TW" altLang="en-US"/>
          </a:p>
        </p:txBody>
      </p:sp>
    </p:spTree>
    <p:extLst>
      <p:ext uri="{BB962C8B-B14F-4D97-AF65-F5344CB8AC3E}">
        <p14:creationId xmlns="" xmlns:p14="http://schemas.microsoft.com/office/powerpoint/2010/main" val="21248863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1" y="0"/>
            <a:ext cx="2974551" cy="499825"/>
          </a:xfrm>
          <a:prstGeom prst="rect">
            <a:avLst/>
          </a:prstGeom>
        </p:spPr>
        <p:txBody>
          <a:bodyPr vert="horz" lIns="92181" tIns="46090" rIns="92181" bIns="46090" rtlCol="0"/>
          <a:lstStyle>
            <a:lvl1pPr algn="l" fontAlgn="auto">
              <a:spcBef>
                <a:spcPts val="0"/>
              </a:spcBef>
              <a:spcAft>
                <a:spcPts val="0"/>
              </a:spcAft>
              <a:defRPr kumimoji="0" sz="1200">
                <a:latin typeface="+mn-lt"/>
                <a:ea typeface="+mn-ea"/>
              </a:defRPr>
            </a:lvl1pPr>
          </a:lstStyle>
          <a:p>
            <a:pPr>
              <a:defRPr/>
            </a:pPr>
            <a:endParaRPr lang="zh-TW" altLang="en-US"/>
          </a:p>
        </p:txBody>
      </p:sp>
      <p:sp>
        <p:nvSpPr>
          <p:cNvPr id="3" name="日期版面配置區 2"/>
          <p:cNvSpPr>
            <a:spLocks noGrp="1"/>
          </p:cNvSpPr>
          <p:nvPr>
            <p:ph type="dt" idx="1"/>
          </p:nvPr>
        </p:nvSpPr>
        <p:spPr>
          <a:xfrm>
            <a:off x="3888211" y="0"/>
            <a:ext cx="2974551" cy="499825"/>
          </a:xfrm>
          <a:prstGeom prst="rect">
            <a:avLst/>
          </a:prstGeom>
        </p:spPr>
        <p:txBody>
          <a:bodyPr vert="horz" lIns="92181" tIns="46090" rIns="92181" bIns="46090" rtlCol="0"/>
          <a:lstStyle>
            <a:lvl1pPr algn="r" fontAlgn="auto">
              <a:spcBef>
                <a:spcPts val="0"/>
              </a:spcBef>
              <a:spcAft>
                <a:spcPts val="0"/>
              </a:spcAft>
              <a:defRPr kumimoji="0" sz="1200">
                <a:latin typeface="+mn-lt"/>
                <a:ea typeface="+mn-ea"/>
              </a:defRPr>
            </a:lvl1pPr>
          </a:lstStyle>
          <a:p>
            <a:pPr>
              <a:defRPr/>
            </a:pPr>
            <a:fld id="{DF902D90-1B69-4C27-9580-5ADDF80CA8EE}" type="datetimeFigureOut">
              <a:rPr lang="zh-TW" altLang="en-US"/>
              <a:pPr>
                <a:defRPr/>
              </a:pPr>
              <a:t>2019/8/6</a:t>
            </a:fld>
            <a:endParaRPr lang="zh-TW" altLang="en-US"/>
          </a:p>
        </p:txBody>
      </p:sp>
      <p:sp>
        <p:nvSpPr>
          <p:cNvPr id="4" name="投影片圖像版面配置區 3"/>
          <p:cNvSpPr>
            <a:spLocks noGrp="1" noRot="1" noChangeAspect="1"/>
          </p:cNvSpPr>
          <p:nvPr>
            <p:ph type="sldImg" idx="2"/>
          </p:nvPr>
        </p:nvSpPr>
        <p:spPr>
          <a:xfrm>
            <a:off x="931863" y="749300"/>
            <a:ext cx="5000625" cy="3749675"/>
          </a:xfrm>
          <a:prstGeom prst="rect">
            <a:avLst/>
          </a:prstGeom>
          <a:noFill/>
          <a:ln w="12700">
            <a:solidFill>
              <a:prstClr val="black"/>
            </a:solidFill>
          </a:ln>
        </p:spPr>
        <p:txBody>
          <a:bodyPr vert="horz" lIns="92181" tIns="46090" rIns="92181" bIns="46090" rtlCol="0" anchor="ctr"/>
          <a:lstStyle/>
          <a:p>
            <a:pPr lvl="0"/>
            <a:endParaRPr lang="zh-TW" altLang="en-US" noProof="0"/>
          </a:p>
        </p:txBody>
      </p:sp>
      <p:sp>
        <p:nvSpPr>
          <p:cNvPr id="5" name="備忘稿版面配置區 4"/>
          <p:cNvSpPr>
            <a:spLocks noGrp="1"/>
          </p:cNvSpPr>
          <p:nvPr>
            <p:ph type="body" sz="quarter" idx="3"/>
          </p:nvPr>
        </p:nvSpPr>
        <p:spPr>
          <a:xfrm>
            <a:off x="686436" y="4748333"/>
            <a:ext cx="5491480" cy="4498419"/>
          </a:xfrm>
          <a:prstGeom prst="rect">
            <a:avLst/>
          </a:prstGeom>
        </p:spPr>
        <p:txBody>
          <a:bodyPr vert="horz" lIns="92181" tIns="46090" rIns="92181" bIns="46090" rtlCol="0">
            <a:normAutofit/>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6" name="頁尾版面配置區 5"/>
          <p:cNvSpPr>
            <a:spLocks noGrp="1"/>
          </p:cNvSpPr>
          <p:nvPr>
            <p:ph type="ftr" sz="quarter" idx="4"/>
          </p:nvPr>
        </p:nvSpPr>
        <p:spPr>
          <a:xfrm>
            <a:off x="1" y="9494928"/>
            <a:ext cx="2974551" cy="499825"/>
          </a:xfrm>
          <a:prstGeom prst="rect">
            <a:avLst/>
          </a:prstGeom>
        </p:spPr>
        <p:txBody>
          <a:bodyPr vert="horz" lIns="92181" tIns="46090" rIns="92181" bIns="46090" rtlCol="0" anchor="b"/>
          <a:lstStyle>
            <a:lvl1pPr algn="l" fontAlgn="auto">
              <a:spcBef>
                <a:spcPts val="0"/>
              </a:spcBef>
              <a:spcAft>
                <a:spcPts val="0"/>
              </a:spcAft>
              <a:defRPr kumimoji="0" sz="1200">
                <a:latin typeface="+mn-lt"/>
                <a:ea typeface="+mn-ea"/>
              </a:defRPr>
            </a:lvl1pPr>
          </a:lstStyle>
          <a:p>
            <a:pPr>
              <a:defRPr/>
            </a:pPr>
            <a:endParaRPr lang="zh-TW" altLang="en-US"/>
          </a:p>
        </p:txBody>
      </p:sp>
      <p:sp>
        <p:nvSpPr>
          <p:cNvPr id="7" name="投影片編號版面配置區 6"/>
          <p:cNvSpPr>
            <a:spLocks noGrp="1"/>
          </p:cNvSpPr>
          <p:nvPr>
            <p:ph type="sldNum" sz="quarter" idx="5"/>
          </p:nvPr>
        </p:nvSpPr>
        <p:spPr>
          <a:xfrm>
            <a:off x="3888211" y="9494928"/>
            <a:ext cx="2974551" cy="499825"/>
          </a:xfrm>
          <a:prstGeom prst="rect">
            <a:avLst/>
          </a:prstGeom>
        </p:spPr>
        <p:txBody>
          <a:bodyPr vert="horz" lIns="92181" tIns="46090" rIns="92181" bIns="46090" rtlCol="0" anchor="b"/>
          <a:lstStyle>
            <a:lvl1pPr algn="r" fontAlgn="auto">
              <a:spcBef>
                <a:spcPts val="0"/>
              </a:spcBef>
              <a:spcAft>
                <a:spcPts val="0"/>
              </a:spcAft>
              <a:defRPr kumimoji="0" sz="1200">
                <a:latin typeface="+mn-lt"/>
                <a:ea typeface="+mn-ea"/>
              </a:defRPr>
            </a:lvl1pPr>
          </a:lstStyle>
          <a:p>
            <a:pPr>
              <a:defRPr/>
            </a:pPr>
            <a:fld id="{33D93DD0-D6B8-4151-AFB8-3D73C5409E66}" type="slidenum">
              <a:rPr lang="zh-TW" altLang="en-US"/>
              <a:pPr>
                <a:defRPr/>
              </a:pPr>
              <a:t>‹#›</a:t>
            </a:fld>
            <a:endParaRPr lang="zh-TW" altLang="en-US"/>
          </a:p>
        </p:txBody>
      </p:sp>
    </p:spTree>
    <p:extLst>
      <p:ext uri="{BB962C8B-B14F-4D97-AF65-F5344CB8AC3E}">
        <p14:creationId xmlns="" xmlns:p14="http://schemas.microsoft.com/office/powerpoint/2010/main" val="1008406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投影片圖像版面配置區 1"/>
          <p:cNvSpPr>
            <a:spLocks noGrp="1" noRot="1" noChangeAspect="1" noTextEdit="1"/>
          </p:cNvSpPr>
          <p:nvPr>
            <p:ph type="sldImg"/>
          </p:nvPr>
        </p:nvSpPr>
        <p:spPr bwMode="auto">
          <a:noFill/>
          <a:ln>
            <a:solidFill>
              <a:srgbClr val="000000"/>
            </a:solidFill>
            <a:miter lim="800000"/>
          </a:ln>
        </p:spPr>
      </p:sp>
      <p:sp>
        <p:nvSpPr>
          <p:cNvPr id="116739" name="備忘稿版面配置區 2"/>
          <p:cNvSpPr>
            <a:spLocks noGrp="1"/>
          </p:cNvSpPr>
          <p:nvPr>
            <p:ph type="body" idx="1"/>
          </p:nvPr>
        </p:nvSpPr>
        <p:spPr bwMode="auto">
          <a:noFill/>
        </p:spPr>
        <p:txBody>
          <a:bodyPr wrap="square" numCol="1" anchor="t" anchorCtr="0" compatLnSpc="1"/>
          <a:lstStyle/>
          <a:p>
            <a:pPr eaLnBrk="1" hangingPunct="1">
              <a:spcBef>
                <a:spcPct val="0"/>
              </a:spcBef>
            </a:pPr>
            <a:endParaRPr lang="zh-TW" altLang="en-US" dirty="0"/>
          </a:p>
        </p:txBody>
      </p:sp>
      <p:sp>
        <p:nvSpPr>
          <p:cNvPr id="23556" name="投影片編號版面配置區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55BD8D9E-A207-4EF4-B212-057267AACD8F}" type="slidenum">
              <a:rPr lang="zh-TW" altLang="en-US" smtClean="0"/>
              <a:pPr fontAlgn="base">
                <a:spcBef>
                  <a:spcPct val="0"/>
                </a:spcBef>
                <a:spcAft>
                  <a:spcPct val="0"/>
                </a:spcAft>
                <a:defRPr/>
              </a:pPr>
              <a:t>1</a:t>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投影片圖像版面配置區 1"/>
          <p:cNvSpPr>
            <a:spLocks noGrp="1" noRot="1" noChangeAspect="1" noTextEdit="1"/>
          </p:cNvSpPr>
          <p:nvPr>
            <p:ph type="sldImg"/>
          </p:nvPr>
        </p:nvSpPr>
        <p:spPr bwMode="auto">
          <a:noFill/>
          <a:ln>
            <a:solidFill>
              <a:srgbClr val="000000"/>
            </a:solidFill>
            <a:miter lim="800000"/>
          </a:ln>
        </p:spPr>
      </p:sp>
      <p:sp>
        <p:nvSpPr>
          <p:cNvPr id="117763" name="備忘稿版面配置區 2"/>
          <p:cNvSpPr>
            <a:spLocks noGrp="1"/>
          </p:cNvSpPr>
          <p:nvPr>
            <p:ph type="body" idx="1"/>
          </p:nvPr>
        </p:nvSpPr>
        <p:spPr bwMode="auto">
          <a:noFill/>
        </p:spPr>
        <p:txBody>
          <a:bodyPr wrap="square" numCol="1" anchor="t" anchorCtr="0" compatLnSpc="1"/>
          <a:lstStyle/>
          <a:p>
            <a:pPr eaLnBrk="1" hangingPunct="1">
              <a:spcBef>
                <a:spcPct val="0"/>
              </a:spcBef>
            </a:pPr>
            <a:endParaRPr lang="zh-TW" altLang="en-US"/>
          </a:p>
        </p:txBody>
      </p:sp>
      <p:sp>
        <p:nvSpPr>
          <p:cNvPr id="24580" name="投影片編號版面配置區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CEAD7E53-C6AE-419A-AC47-ABC9795E649E}" type="slidenum">
              <a:rPr lang="zh-TW" altLang="en-US" smtClean="0"/>
              <a:pPr fontAlgn="base">
                <a:spcBef>
                  <a:spcPct val="0"/>
                </a:spcBef>
                <a:spcAft>
                  <a:spcPct val="0"/>
                </a:spcAft>
                <a:defRPr/>
              </a:pPr>
              <a:t>2</a:t>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投影片圖像版面配置區 1"/>
          <p:cNvSpPr>
            <a:spLocks noGrp="1" noRot="1" noChangeAspect="1" noTextEdit="1"/>
          </p:cNvSpPr>
          <p:nvPr>
            <p:ph type="sldImg"/>
          </p:nvPr>
        </p:nvSpPr>
        <p:spPr bwMode="auto">
          <a:noFill/>
          <a:ln>
            <a:solidFill>
              <a:srgbClr val="000000"/>
            </a:solidFill>
            <a:miter lim="800000"/>
          </a:ln>
        </p:spPr>
      </p:sp>
      <p:sp>
        <p:nvSpPr>
          <p:cNvPr id="137219" name="備忘稿版面配置區 2"/>
          <p:cNvSpPr>
            <a:spLocks noGrp="1"/>
          </p:cNvSpPr>
          <p:nvPr>
            <p:ph type="body" idx="1"/>
          </p:nvPr>
        </p:nvSpPr>
        <p:spPr bwMode="auto">
          <a:noFill/>
        </p:spPr>
        <p:txBody>
          <a:bodyPr wrap="square" numCol="1" anchor="t" anchorCtr="0" compatLnSpc="1"/>
          <a:lstStyle/>
          <a:p>
            <a:pPr eaLnBrk="1" hangingPunct="1">
              <a:spcBef>
                <a:spcPct val="0"/>
              </a:spcBef>
            </a:pPr>
            <a:endParaRPr lang="zh-TW" altLang="en-US"/>
          </a:p>
        </p:txBody>
      </p:sp>
      <p:sp>
        <p:nvSpPr>
          <p:cNvPr id="43012" name="投影片編號版面配置區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20999488-A31D-4B99-A2F5-640FA0A11408}" type="slidenum">
              <a:rPr lang="zh-TW" altLang="en-US" smtClean="0"/>
              <a:pPr fontAlgn="base">
                <a:spcBef>
                  <a:spcPct val="0"/>
                </a:spcBef>
                <a:spcAft>
                  <a:spcPct val="0"/>
                </a:spcAft>
                <a:defRPr/>
              </a:pPr>
              <a:t>34</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714360"/>
            <a:ext cx="8229600" cy="5411807"/>
          </a:xfrm>
          <a:prstGeom prst="rect">
            <a:avLst/>
          </a:prstGeom>
          <a:noFill/>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3" name="日期版面配置區 24"/>
          <p:cNvSpPr>
            <a:spLocks noGrp="1"/>
          </p:cNvSpPr>
          <p:nvPr>
            <p:ph type="dt" sz="half" idx="10"/>
          </p:nvPr>
        </p:nvSpPr>
        <p:spPr>
          <a:xfrm>
            <a:off x="3776663" y="6111879"/>
            <a:ext cx="2286000" cy="365125"/>
          </a:xfrm>
          <a:prstGeom prst="rect">
            <a:avLst/>
          </a:prstGeom>
        </p:spPr>
        <p:txBody>
          <a:bodyPr/>
          <a:lstStyle>
            <a:lvl1pPr>
              <a:defRPr/>
            </a:lvl1pPr>
          </a:lstStyle>
          <a:p>
            <a:pPr>
              <a:defRPr/>
            </a:pPr>
            <a:fld id="{7FAC87DE-2ABC-48F7-A9A8-370B2A8F5D60}" type="datetime1">
              <a:rPr lang="zh-TW" altLang="en-US"/>
              <a:pPr>
                <a:defRPr/>
              </a:pPr>
              <a:t>2019/8/6</a:t>
            </a:fld>
            <a:endParaRPr lang="en-US" altLang="zh-TW"/>
          </a:p>
        </p:txBody>
      </p:sp>
      <p:sp>
        <p:nvSpPr>
          <p:cNvPr id="4" name="頁尾版面配置區 17"/>
          <p:cNvSpPr>
            <a:spLocks noGrp="1"/>
          </p:cNvSpPr>
          <p:nvPr>
            <p:ph type="ftr" sz="quarter" idx="11"/>
          </p:nvPr>
        </p:nvSpPr>
        <p:spPr>
          <a:xfrm>
            <a:off x="6062663" y="6111879"/>
            <a:ext cx="2286000" cy="365125"/>
          </a:xfrm>
          <a:prstGeom prst="rect">
            <a:avLst/>
          </a:prstGeom>
        </p:spPr>
        <p:txBody>
          <a:bodyPr/>
          <a:lstStyle>
            <a:lvl1pPr>
              <a:defRPr/>
            </a:lvl1pPr>
          </a:lstStyle>
          <a:p>
            <a:pPr>
              <a:defRPr/>
            </a:pPr>
            <a:endParaRPr lang="zh-TW" altLang="en-US"/>
          </a:p>
        </p:txBody>
      </p:sp>
      <p:sp>
        <p:nvSpPr>
          <p:cNvPr id="5" name="投影片編號版面配置區 4"/>
          <p:cNvSpPr>
            <a:spLocks noGrp="1"/>
          </p:cNvSpPr>
          <p:nvPr>
            <p:ph type="sldNum" sz="quarter" idx="12"/>
          </p:nvPr>
        </p:nvSpPr>
        <p:spPr>
          <a:xfrm>
            <a:off x="8348663" y="6111879"/>
            <a:ext cx="457200" cy="365125"/>
          </a:xfrm>
          <a:prstGeom prst="rect">
            <a:avLst/>
          </a:prstGeom>
        </p:spPr>
        <p:txBody>
          <a:bodyPr/>
          <a:lstStyle>
            <a:lvl1pPr>
              <a:defRPr/>
            </a:lvl1pPr>
          </a:lstStyle>
          <a:p>
            <a:pPr>
              <a:defRPr/>
            </a:pPr>
            <a:fld id="{7E90CFEC-C12B-450C-93F9-7FE49DD4C278}" type="slidenum">
              <a:rPr lang="zh-TW" altLang="en-US"/>
              <a:pPr>
                <a:defRPr/>
              </a:pPr>
              <a:t>‹#›</a:t>
            </a:fld>
            <a:endParaRPr lang="en-US" altLang="zh-TW"/>
          </a:p>
        </p:txBody>
      </p:sp>
    </p:spTree>
  </p:cSld>
  <p:clrMapOvr>
    <a:masterClrMapping/>
  </p:clrMapOvr>
  <p:transition spd="med">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1785918" y="214290"/>
            <a:ext cx="6900882" cy="642942"/>
          </a:xfrm>
          <a:prstGeom prst="rect">
            <a:avLst/>
          </a:prstGeom>
          <a:noFill/>
        </p:spPr>
        <p:txBody>
          <a:bodyPr/>
          <a:lstStyle>
            <a:lvl1pPr>
              <a:defRPr>
                <a:solidFill>
                  <a:srgbClr val="C00000"/>
                </a:solidFill>
                <a:latin typeface="華康儷粗宋" pitchFamily="49" charset="-120"/>
                <a:ea typeface="華康儷粗宋" pitchFamily="49" charset="-120"/>
              </a:defRPr>
            </a:lvl1pPr>
          </a:lstStyle>
          <a:p>
            <a:r>
              <a:rPr lang="zh-TW" altLang="en-US" dirty="0"/>
              <a:t>按一下以編輯母片標題樣式</a:t>
            </a:r>
          </a:p>
        </p:txBody>
      </p:sp>
      <p:sp>
        <p:nvSpPr>
          <p:cNvPr id="3" name="內容版面配置區 2"/>
          <p:cNvSpPr>
            <a:spLocks noGrp="1"/>
          </p:cNvSpPr>
          <p:nvPr>
            <p:ph idx="1"/>
          </p:nvPr>
        </p:nvSpPr>
        <p:spPr>
          <a:xfrm>
            <a:off x="457200" y="1071550"/>
            <a:ext cx="8229600" cy="5054617"/>
          </a:xfrm>
          <a:prstGeom prst="rect">
            <a:avLst/>
          </a:prstGeom>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24"/>
          <p:cNvSpPr>
            <a:spLocks noGrp="1"/>
          </p:cNvSpPr>
          <p:nvPr>
            <p:ph type="dt" sz="half" idx="10"/>
          </p:nvPr>
        </p:nvSpPr>
        <p:spPr>
          <a:xfrm>
            <a:off x="3776663" y="6111879"/>
            <a:ext cx="2286000" cy="365125"/>
          </a:xfrm>
          <a:prstGeom prst="rect">
            <a:avLst/>
          </a:prstGeom>
        </p:spPr>
        <p:txBody>
          <a:bodyPr/>
          <a:lstStyle>
            <a:lvl1pPr>
              <a:defRPr/>
            </a:lvl1pPr>
          </a:lstStyle>
          <a:p>
            <a:pPr>
              <a:defRPr/>
            </a:pPr>
            <a:fld id="{7D437A78-0AE4-4EC7-8BDD-388ED6C05FE5}" type="datetime1">
              <a:rPr lang="zh-TW" altLang="en-US"/>
              <a:pPr>
                <a:defRPr/>
              </a:pPr>
              <a:t>2019/8/6</a:t>
            </a:fld>
            <a:endParaRPr lang="en-US" altLang="zh-TW"/>
          </a:p>
        </p:txBody>
      </p:sp>
      <p:sp>
        <p:nvSpPr>
          <p:cNvPr id="5" name="頁尾版面配置區 17"/>
          <p:cNvSpPr>
            <a:spLocks noGrp="1"/>
          </p:cNvSpPr>
          <p:nvPr>
            <p:ph type="ftr" sz="quarter" idx="11"/>
          </p:nvPr>
        </p:nvSpPr>
        <p:spPr>
          <a:xfrm>
            <a:off x="6062663" y="6111879"/>
            <a:ext cx="2286000" cy="365125"/>
          </a:xfrm>
          <a:prstGeom prst="rect">
            <a:avLst/>
          </a:prstGeom>
        </p:spPr>
        <p:txBody>
          <a:bodyPr/>
          <a:lstStyle>
            <a:lvl1pPr>
              <a:defRPr/>
            </a:lvl1pPr>
          </a:lstStyle>
          <a:p>
            <a:pPr>
              <a:defRPr/>
            </a:pPr>
            <a:endParaRPr lang="zh-TW" altLang="en-US"/>
          </a:p>
        </p:txBody>
      </p:sp>
      <p:sp>
        <p:nvSpPr>
          <p:cNvPr id="6" name="投影片編號版面配置區 4"/>
          <p:cNvSpPr>
            <a:spLocks noGrp="1"/>
          </p:cNvSpPr>
          <p:nvPr>
            <p:ph type="sldNum" sz="quarter" idx="12"/>
          </p:nvPr>
        </p:nvSpPr>
        <p:spPr>
          <a:xfrm>
            <a:off x="8348663" y="6111879"/>
            <a:ext cx="457200" cy="365125"/>
          </a:xfrm>
          <a:prstGeom prst="rect">
            <a:avLst/>
          </a:prstGeom>
        </p:spPr>
        <p:txBody>
          <a:bodyPr/>
          <a:lstStyle>
            <a:lvl1pPr>
              <a:defRPr/>
            </a:lvl1pPr>
          </a:lstStyle>
          <a:p>
            <a:pPr>
              <a:defRPr/>
            </a:pPr>
            <a:fld id="{A92633A0-AA73-4221-9772-DF5CDA1FDB62}" type="slidenum">
              <a:rPr lang="zh-TW" altLang="en-US"/>
              <a:pPr>
                <a:defRPr/>
              </a:pPr>
              <a:t>‹#›</a:t>
            </a:fld>
            <a:endParaRPr lang="en-US" altLang="zh-TW"/>
          </a:p>
        </p:txBody>
      </p:sp>
    </p:spTree>
  </p:cSld>
  <p:clrMapOvr>
    <a:masterClrMapping/>
  </p:clrMapOvr>
  <p:transition spd="med">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9"/>
            <a:ext cx="7772400" cy="1470025"/>
          </a:xfrm>
          <a:prstGeom prst="rect">
            <a:avLst/>
          </a:prstGeom>
        </p:spPr>
        <p:txBody>
          <a:bodyPr/>
          <a:lstStyle/>
          <a:p>
            <a:r>
              <a:rPr lang="zh-TW" altLang="en-US" dirty="0"/>
              <a:t>按一下以編輯母片標題樣式</a:t>
            </a:r>
          </a:p>
        </p:txBody>
      </p:sp>
      <p:sp>
        <p:nvSpPr>
          <p:cNvPr id="3" name="副標題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a:xfrm>
            <a:off x="3776663" y="6111879"/>
            <a:ext cx="2286000" cy="365125"/>
          </a:xfrm>
          <a:prstGeom prst="rect">
            <a:avLst/>
          </a:prstGeom>
        </p:spPr>
        <p:txBody>
          <a:bodyPr/>
          <a:lstStyle>
            <a:lvl1pPr>
              <a:defRPr/>
            </a:lvl1pPr>
          </a:lstStyle>
          <a:p>
            <a:pPr>
              <a:defRPr/>
            </a:pPr>
            <a:endParaRPr lang="en-US" altLang="zh-TW"/>
          </a:p>
        </p:txBody>
      </p:sp>
      <p:sp>
        <p:nvSpPr>
          <p:cNvPr id="5" name="頁尾版面配置區 4"/>
          <p:cNvSpPr>
            <a:spLocks noGrp="1"/>
          </p:cNvSpPr>
          <p:nvPr>
            <p:ph type="ftr" sz="quarter" idx="11"/>
          </p:nvPr>
        </p:nvSpPr>
        <p:spPr>
          <a:xfrm>
            <a:off x="6062663" y="6111879"/>
            <a:ext cx="2286000" cy="365125"/>
          </a:xfrm>
          <a:prstGeom prst="rect">
            <a:avLst/>
          </a:prstGeom>
        </p:spPr>
        <p:txBody>
          <a:bodyPr/>
          <a:lstStyle>
            <a:lvl1pPr>
              <a:defRPr/>
            </a:lvl1pPr>
          </a:lstStyle>
          <a:p>
            <a:pPr>
              <a:defRPr/>
            </a:pPr>
            <a:endParaRPr lang="en-US" altLang="zh-TW"/>
          </a:p>
        </p:txBody>
      </p:sp>
      <p:sp>
        <p:nvSpPr>
          <p:cNvPr id="6" name="投影片編號版面配置區 5"/>
          <p:cNvSpPr>
            <a:spLocks noGrp="1"/>
          </p:cNvSpPr>
          <p:nvPr>
            <p:ph type="sldNum" sz="quarter" idx="12"/>
          </p:nvPr>
        </p:nvSpPr>
        <p:spPr>
          <a:xfrm>
            <a:off x="8348663" y="6111879"/>
            <a:ext cx="457200" cy="365125"/>
          </a:xfrm>
          <a:prstGeom prst="rect">
            <a:avLst/>
          </a:prstGeom>
        </p:spPr>
        <p:txBody>
          <a:bodyPr/>
          <a:lstStyle>
            <a:lvl1pPr>
              <a:defRPr/>
            </a:lvl1pPr>
          </a:lstStyle>
          <a:p>
            <a:pPr>
              <a:defRPr/>
            </a:pPr>
            <a:fld id="{E591A63A-68AC-4FBF-939F-92CF98A47E31}" type="slidenum">
              <a:rPr lang="en-US" altLang="zh-TW"/>
              <a:pPr>
                <a:defRPr/>
              </a:pPr>
              <a:t>‹#›</a:t>
            </a:fld>
            <a:endParaRPr lang="en-US" altLang="zh-TW" dirty="0"/>
          </a:p>
        </p:txBody>
      </p:sp>
    </p:spTree>
  </p:cSld>
  <p:clrMapOvr>
    <a:masterClrMapping/>
  </p:clrMapOvr>
  <p:transition spd="med">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a:t>按一下以編輯母片標題樣式</a:t>
            </a:r>
          </a:p>
        </p:txBody>
      </p:sp>
      <p:sp>
        <p:nvSpPr>
          <p:cNvPr id="3" name="內容版面配置區 2"/>
          <p:cNvSpPr>
            <a:spLocks noGrp="1"/>
          </p:cNvSpPr>
          <p:nvPr>
            <p:ph sz="half" idx="1"/>
          </p:nvPr>
        </p:nvSpPr>
        <p:spPr>
          <a:xfrm>
            <a:off x="457200" y="1600204"/>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4"/>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24"/>
          <p:cNvSpPr>
            <a:spLocks noGrp="1"/>
          </p:cNvSpPr>
          <p:nvPr>
            <p:ph type="dt" sz="half" idx="10"/>
          </p:nvPr>
        </p:nvSpPr>
        <p:spPr>
          <a:xfrm>
            <a:off x="3776663" y="6111879"/>
            <a:ext cx="2286000" cy="365125"/>
          </a:xfrm>
          <a:prstGeom prst="rect">
            <a:avLst/>
          </a:prstGeom>
        </p:spPr>
        <p:txBody>
          <a:bodyPr/>
          <a:lstStyle>
            <a:lvl1pPr>
              <a:defRPr/>
            </a:lvl1pPr>
          </a:lstStyle>
          <a:p>
            <a:pPr>
              <a:defRPr/>
            </a:pPr>
            <a:fld id="{A15DADB5-D687-46D3-ABA8-A295DC7BB019}" type="datetime1">
              <a:rPr lang="zh-TW" altLang="en-US"/>
              <a:pPr>
                <a:defRPr/>
              </a:pPr>
              <a:t>2019/8/6</a:t>
            </a:fld>
            <a:endParaRPr lang="en-US" altLang="zh-TW"/>
          </a:p>
        </p:txBody>
      </p:sp>
      <p:sp>
        <p:nvSpPr>
          <p:cNvPr id="6" name="頁尾版面配置區 17"/>
          <p:cNvSpPr>
            <a:spLocks noGrp="1"/>
          </p:cNvSpPr>
          <p:nvPr>
            <p:ph type="ftr" sz="quarter" idx="11"/>
          </p:nvPr>
        </p:nvSpPr>
        <p:spPr>
          <a:xfrm>
            <a:off x="6062663" y="6111879"/>
            <a:ext cx="2286000" cy="365125"/>
          </a:xfrm>
          <a:prstGeom prst="rect">
            <a:avLst/>
          </a:prstGeom>
        </p:spPr>
        <p:txBody>
          <a:bodyPr/>
          <a:lstStyle>
            <a:lvl1pPr>
              <a:defRPr/>
            </a:lvl1pPr>
          </a:lstStyle>
          <a:p>
            <a:pPr>
              <a:defRPr/>
            </a:pPr>
            <a:endParaRPr lang="zh-TW" altLang="en-US"/>
          </a:p>
        </p:txBody>
      </p:sp>
      <p:sp>
        <p:nvSpPr>
          <p:cNvPr id="7" name="投影片編號版面配置區 4"/>
          <p:cNvSpPr>
            <a:spLocks noGrp="1"/>
          </p:cNvSpPr>
          <p:nvPr>
            <p:ph type="sldNum" sz="quarter" idx="12"/>
          </p:nvPr>
        </p:nvSpPr>
        <p:spPr>
          <a:xfrm>
            <a:off x="8348663" y="6111879"/>
            <a:ext cx="457200" cy="365125"/>
          </a:xfrm>
          <a:prstGeom prst="rect">
            <a:avLst/>
          </a:prstGeom>
        </p:spPr>
        <p:txBody>
          <a:bodyPr/>
          <a:lstStyle>
            <a:lvl1pPr>
              <a:defRPr/>
            </a:lvl1pPr>
          </a:lstStyle>
          <a:p>
            <a:pPr>
              <a:defRPr/>
            </a:pPr>
            <a:fld id="{7A05213D-D7ED-42BF-85F0-E5BE6B8AFD6C}" type="slidenum">
              <a:rPr lang="zh-TW" altLang="en-US"/>
              <a:pPr>
                <a:defRPr/>
              </a:pPr>
              <a:t>‹#›</a:t>
            </a:fld>
            <a:endParaRPr lang="en-US" altLang="zh-TW"/>
          </a:p>
        </p:txBody>
      </p:sp>
    </p:spTree>
  </p:cSld>
  <p:clrMapOvr>
    <a:masterClrMapping/>
  </p:clrMapOvr>
  <p:transition spd="med">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fourObj" preserve="1">
  <p:cSld name="標題，四項物件">
    <p:spTree>
      <p:nvGrpSpPr>
        <p:cNvPr id="1" name=""/>
        <p:cNvGrpSpPr/>
        <p:nvPr/>
      </p:nvGrpSpPr>
      <p:grpSpPr>
        <a:xfrm>
          <a:off x="0" y="0"/>
          <a:ext cx="0" cy="0"/>
          <a:chOff x="0" y="0"/>
          <a:chExt cx="0" cy="0"/>
        </a:xfrm>
      </p:grpSpPr>
      <p:sp>
        <p:nvSpPr>
          <p:cNvPr id="2" name="標題 1"/>
          <p:cNvSpPr>
            <a:spLocks noGrp="1"/>
          </p:cNvSpPr>
          <p:nvPr>
            <p:ph type="title" sz="quarter"/>
          </p:nvPr>
        </p:nvSpPr>
        <p:spPr>
          <a:xfrm>
            <a:off x="457200" y="274638"/>
            <a:ext cx="8229600" cy="1143000"/>
          </a:xfrm>
          <a:prstGeom prst="rect">
            <a:avLst/>
          </a:prstGeom>
        </p:spPr>
        <p:txBody>
          <a:bodyPr/>
          <a:lstStyle/>
          <a:p>
            <a:r>
              <a:rPr lang="zh-TW" altLang="en-US"/>
              <a:t>按一下以編輯母片標題樣式</a:t>
            </a:r>
          </a:p>
        </p:txBody>
      </p:sp>
      <p:sp>
        <p:nvSpPr>
          <p:cNvPr id="3" name="內容版面配置區 2"/>
          <p:cNvSpPr>
            <a:spLocks noGrp="1"/>
          </p:cNvSpPr>
          <p:nvPr>
            <p:ph sz="quarter" idx="1"/>
          </p:nvPr>
        </p:nvSpPr>
        <p:spPr>
          <a:xfrm>
            <a:off x="457200" y="1600200"/>
            <a:ext cx="4038600" cy="2185988"/>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quarter" idx="2"/>
          </p:nvPr>
        </p:nvSpPr>
        <p:spPr>
          <a:xfrm>
            <a:off x="4648200" y="1600200"/>
            <a:ext cx="4038600" cy="2185988"/>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內容版面配置區 4"/>
          <p:cNvSpPr>
            <a:spLocks noGrp="1"/>
          </p:cNvSpPr>
          <p:nvPr>
            <p:ph sz="quarter" idx="3"/>
          </p:nvPr>
        </p:nvSpPr>
        <p:spPr>
          <a:xfrm>
            <a:off x="457200" y="3938592"/>
            <a:ext cx="4038600" cy="2187575"/>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內容版面配置區 5"/>
          <p:cNvSpPr>
            <a:spLocks noGrp="1"/>
          </p:cNvSpPr>
          <p:nvPr>
            <p:ph sz="quarter" idx="4"/>
          </p:nvPr>
        </p:nvSpPr>
        <p:spPr>
          <a:xfrm>
            <a:off x="4648200" y="3938592"/>
            <a:ext cx="4038600" cy="2187575"/>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a:xfrm>
            <a:off x="457200" y="6245225"/>
            <a:ext cx="2133600" cy="476250"/>
          </a:xfrm>
          <a:prstGeom prst="rect">
            <a:avLst/>
          </a:prstGeom>
        </p:spPr>
        <p:txBody>
          <a:bodyPr/>
          <a:lstStyle>
            <a:lvl1pPr>
              <a:defRPr/>
            </a:lvl1pPr>
          </a:lstStyle>
          <a:p>
            <a:pPr>
              <a:defRPr/>
            </a:pPr>
            <a:endParaRPr lang="en-US" altLang="zh-TW"/>
          </a:p>
        </p:txBody>
      </p:sp>
      <p:sp>
        <p:nvSpPr>
          <p:cNvPr id="8" name="頁尾版面配置區 7"/>
          <p:cNvSpPr>
            <a:spLocks noGrp="1"/>
          </p:cNvSpPr>
          <p:nvPr>
            <p:ph type="ftr" sz="quarter" idx="11"/>
          </p:nvPr>
        </p:nvSpPr>
        <p:spPr>
          <a:xfrm>
            <a:off x="3124200" y="6245225"/>
            <a:ext cx="2895600" cy="476250"/>
          </a:xfrm>
          <a:prstGeom prst="rect">
            <a:avLst/>
          </a:prstGeom>
        </p:spPr>
        <p:txBody>
          <a:bodyPr/>
          <a:lstStyle>
            <a:lvl1pPr>
              <a:defRPr/>
            </a:lvl1pPr>
          </a:lstStyle>
          <a:p>
            <a:pPr>
              <a:defRPr/>
            </a:pPr>
            <a:endParaRPr lang="en-US" altLang="zh-TW"/>
          </a:p>
        </p:txBody>
      </p:sp>
    </p:spTree>
  </p:cSld>
  <p:clrMapOvr>
    <a:masterClrMapping/>
  </p:clrMapOvr>
  <p:transition spd="med">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兩項物件">
    <p:spTree>
      <p:nvGrpSpPr>
        <p:cNvPr id="1" name=""/>
        <p:cNvGrpSpPr/>
        <p:nvPr/>
      </p:nvGrpSpPr>
      <p:grpSpPr>
        <a:xfrm>
          <a:off x="0" y="0"/>
          <a:ext cx="0" cy="0"/>
          <a:chOff x="0" y="0"/>
          <a:chExt cx="0" cy="0"/>
        </a:xfrm>
      </p:grpSpPr>
      <p:sp>
        <p:nvSpPr>
          <p:cNvPr id="17" name="標題 1"/>
          <p:cNvSpPr>
            <a:spLocks noGrp="1"/>
          </p:cNvSpPr>
          <p:nvPr>
            <p:ph type="title"/>
          </p:nvPr>
        </p:nvSpPr>
        <p:spPr>
          <a:xfrm>
            <a:off x="5786446" y="142852"/>
            <a:ext cx="2757478" cy="1143000"/>
          </a:xfrm>
        </p:spPr>
        <p:txBody>
          <a:bodyPr>
            <a:noAutofit/>
          </a:bodyPr>
          <a:lstStyle>
            <a:lvl1pPr>
              <a:defRPr sz="3200" b="1">
                <a:solidFill>
                  <a:srgbClr val="800000"/>
                </a:solidFill>
                <a:effectLst/>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 xmlns:p14="http://schemas.microsoft.com/office/powerpoint/2010/main" val="3440482885"/>
      </p:ext>
    </p:extLst>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兩項物件">
    <p:spTree>
      <p:nvGrpSpPr>
        <p:cNvPr id="1" name=""/>
        <p:cNvGrpSpPr/>
        <p:nvPr/>
      </p:nvGrpSpPr>
      <p:grpSpPr>
        <a:xfrm>
          <a:off x="0" y="0"/>
          <a:ext cx="0" cy="0"/>
          <a:chOff x="0" y="0"/>
          <a:chExt cx="0" cy="0"/>
        </a:xfrm>
      </p:grpSpPr>
      <p:sp>
        <p:nvSpPr>
          <p:cNvPr id="17" name="標題 1"/>
          <p:cNvSpPr>
            <a:spLocks noGrp="1"/>
          </p:cNvSpPr>
          <p:nvPr>
            <p:ph type="title"/>
          </p:nvPr>
        </p:nvSpPr>
        <p:spPr>
          <a:xfrm>
            <a:off x="5786446" y="142852"/>
            <a:ext cx="2757478" cy="1143000"/>
          </a:xfrm>
          <a:prstGeom prst="rect">
            <a:avLst/>
          </a:prstGeom>
        </p:spPr>
        <p:txBody>
          <a:bodyPr>
            <a:noAutofit/>
          </a:bodyPr>
          <a:lstStyle>
            <a:lvl1pPr>
              <a:defRPr sz="3200" b="1">
                <a:solidFill>
                  <a:srgbClr val="800000"/>
                </a:solidFill>
                <a:effectLst/>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 xmlns:p14="http://schemas.microsoft.com/office/powerpoint/2010/main" val="3440482885"/>
      </p:ext>
    </p:extLst>
  </p:cSld>
  <p:clrMapOvr>
    <a:masterClrMapping/>
  </p:clrMapOvr>
  <p:transition>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兩項物件">
    <p:spTree>
      <p:nvGrpSpPr>
        <p:cNvPr id="1" name=""/>
        <p:cNvGrpSpPr/>
        <p:nvPr/>
      </p:nvGrpSpPr>
      <p:grpSpPr>
        <a:xfrm>
          <a:off x="0" y="0"/>
          <a:ext cx="0" cy="0"/>
          <a:chOff x="0" y="0"/>
          <a:chExt cx="0" cy="0"/>
        </a:xfrm>
      </p:grpSpPr>
      <p:sp>
        <p:nvSpPr>
          <p:cNvPr id="17" name="標題 1"/>
          <p:cNvSpPr>
            <a:spLocks noGrp="1"/>
          </p:cNvSpPr>
          <p:nvPr>
            <p:ph type="title"/>
          </p:nvPr>
        </p:nvSpPr>
        <p:spPr>
          <a:xfrm>
            <a:off x="5786446" y="142852"/>
            <a:ext cx="2757478" cy="1143000"/>
          </a:xfrm>
          <a:prstGeom prst="rect">
            <a:avLst/>
          </a:prstGeom>
        </p:spPr>
        <p:txBody>
          <a:bodyPr>
            <a:noAutofit/>
          </a:bodyPr>
          <a:lstStyle>
            <a:lvl1pPr>
              <a:defRPr sz="3200" b="1">
                <a:solidFill>
                  <a:srgbClr val="800000"/>
                </a:solidFill>
                <a:effectLst/>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 xmlns:p14="http://schemas.microsoft.com/office/powerpoint/2010/main" val="3440482885"/>
      </p:ext>
    </p:extLst>
  </p:cSld>
  <p:clrMapOvr>
    <a:masterClrMapping/>
  </p:clrMapOvr>
  <p:transition>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5_兩項物件">
    <p:spTree>
      <p:nvGrpSpPr>
        <p:cNvPr id="1" name=""/>
        <p:cNvGrpSpPr/>
        <p:nvPr/>
      </p:nvGrpSpPr>
      <p:grpSpPr>
        <a:xfrm>
          <a:off x="0" y="0"/>
          <a:ext cx="0" cy="0"/>
          <a:chOff x="0" y="0"/>
          <a:chExt cx="0" cy="0"/>
        </a:xfrm>
      </p:grpSpPr>
      <p:sp>
        <p:nvSpPr>
          <p:cNvPr id="17" name="標題 1"/>
          <p:cNvSpPr>
            <a:spLocks noGrp="1"/>
          </p:cNvSpPr>
          <p:nvPr>
            <p:ph type="title"/>
          </p:nvPr>
        </p:nvSpPr>
        <p:spPr>
          <a:xfrm>
            <a:off x="5786446" y="142852"/>
            <a:ext cx="2757478" cy="1143000"/>
          </a:xfrm>
          <a:prstGeom prst="rect">
            <a:avLst/>
          </a:prstGeom>
        </p:spPr>
        <p:txBody>
          <a:bodyPr>
            <a:noAutofit/>
          </a:bodyPr>
          <a:lstStyle>
            <a:lvl1pPr>
              <a:defRPr sz="3200" b="1">
                <a:solidFill>
                  <a:srgbClr val="800000"/>
                </a:solidFill>
                <a:effectLst/>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 xmlns:p14="http://schemas.microsoft.com/office/powerpoint/2010/main" val="3440482885"/>
      </p:ext>
    </p:extLst>
  </p:cSld>
  <p:clrMapOvr>
    <a:masterClrMapping/>
  </p:clrMapOvr>
  <p:transition>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標題及物件">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xmlns="" id="{B37DB727-A86B-4280-9B39-22683EE2C31F}"/>
              </a:ext>
            </a:extLst>
          </p:cNvPr>
          <p:cNvSpPr/>
          <p:nvPr/>
        </p:nvSpPr>
        <p:spPr bwMode="auto">
          <a:xfrm>
            <a:off x="0" y="6442075"/>
            <a:ext cx="9144000" cy="415925"/>
          </a:xfrm>
          <a:prstGeom prst="rect">
            <a:avLst/>
          </a:prstGeom>
          <a:solidFill>
            <a:schemeClr val="bg1">
              <a:lumMod val="95000"/>
            </a:schemeClr>
          </a:solidFill>
          <a:ln w="28575" cap="flat" cmpd="sng" algn="ctr">
            <a:noFill/>
            <a:prstDash val="solid"/>
            <a:round/>
            <a:headEnd type="none" w="med" len="med"/>
            <a:tailEnd type="none" w="med" len="med"/>
          </a:ln>
          <a:effectLst/>
        </p:spPr>
        <p:txBody>
          <a:bodyPr wrap="none" anchor="ctr"/>
          <a:lstStyle/>
          <a:p>
            <a:pPr algn="ctr" eaLnBrk="1" hangingPunct="1">
              <a:defRPr/>
            </a:pPr>
            <a:endParaRPr lang="zh-TW" altLang="en-US">
              <a:latin typeface="Times New Roman" charset="0"/>
            </a:endParaRPr>
          </a:p>
        </p:txBody>
      </p:sp>
      <p:pic>
        <p:nvPicPr>
          <p:cNvPr id="3" name="Picture 6" descr="上境設計工程有限公司-景觀‧空間‧室內‧庭園‧裝潢">
            <a:extLst>
              <a:ext uri="{FF2B5EF4-FFF2-40B4-BE49-F238E27FC236}">
                <a16:creationId xmlns:a16="http://schemas.microsoft.com/office/drawing/2014/main" xmlns="" id="{4A26F623-413A-4D8E-B9F3-2A9B78CFD7E7}"/>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8532813" y="6413500"/>
            <a:ext cx="411162"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xmlns="" id="{D7370805-396C-4737-A3E1-575CF688DB48}"/>
              </a:ext>
            </a:extLst>
          </p:cNvPr>
          <p:cNvSpPr/>
          <p:nvPr userDrawn="1"/>
        </p:nvSpPr>
        <p:spPr bwMode="auto">
          <a:xfrm>
            <a:off x="0" y="-9525"/>
            <a:ext cx="9144000" cy="417513"/>
          </a:xfrm>
          <a:prstGeom prst="rect">
            <a:avLst/>
          </a:prstGeom>
          <a:solidFill>
            <a:schemeClr val="bg1">
              <a:lumMod val="95000"/>
            </a:schemeClr>
          </a:solidFill>
          <a:ln w="28575" cap="flat" cmpd="sng" algn="ctr">
            <a:noFill/>
            <a:prstDash val="solid"/>
            <a:round/>
            <a:headEnd type="none" w="med" len="med"/>
            <a:tailEnd type="none" w="med" len="med"/>
          </a:ln>
          <a:effectLst/>
        </p:spPr>
        <p:txBody>
          <a:bodyPr wrap="none" anchor="ctr"/>
          <a:lstStyle/>
          <a:p>
            <a:pPr algn="ctr" eaLnBrk="1" hangingPunct="1">
              <a:defRPr/>
            </a:pPr>
            <a:endParaRPr lang="zh-TW" altLang="en-US">
              <a:latin typeface="Times New Roman" charset="0"/>
            </a:endParaRPr>
          </a:p>
        </p:txBody>
      </p:sp>
    </p:spTree>
    <p:extLst>
      <p:ext uri="{BB962C8B-B14F-4D97-AF65-F5344CB8AC3E}">
        <p14:creationId xmlns="" xmlns:p14="http://schemas.microsoft.com/office/powerpoint/2010/main" val="437074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9" r:id="rId8"/>
    <p:sldLayoutId id="2147483683" r:id="rId9"/>
    <p:sldLayoutId id="2147483725" r:id="rId10"/>
    <p:sldLayoutId id="2147483726" r:id="rId11"/>
  </p:sldLayoutIdLst>
  <p:transition spd="med">
    <p:randomBar dir="vert"/>
  </p:transition>
  <p:txStyles>
    <p:titleStyle>
      <a:lvl1pPr algn="l" rtl="0" eaLnBrk="0" fontAlgn="base" hangingPunct="0">
        <a:spcBef>
          <a:spcPct val="0"/>
        </a:spcBef>
        <a:spcAft>
          <a:spcPct val="0"/>
        </a:spcAft>
        <a:defRPr sz="3600" b="1" kern="1200">
          <a:solidFill>
            <a:srgbClr val="FF8D3E"/>
          </a:solidFill>
          <a:effectLst>
            <a:outerShdw blurRad="53975" dist="22860" dir="5400000" algn="tl" rotWithShape="0">
              <a:srgbClr val="000000">
                <a:alpha val="55000"/>
              </a:srgbClr>
            </a:outerShdw>
          </a:effectLst>
          <a:latin typeface="+mj-lt"/>
          <a:ea typeface="+mj-ea"/>
          <a:cs typeface="微軟正黑體" panose="020B0604030504040204" pitchFamily="34" charset="-120"/>
        </a:defRPr>
      </a:lvl1pPr>
      <a:lvl2pPr algn="l" rtl="0" eaLnBrk="0" fontAlgn="base" hangingPunct="0">
        <a:spcBef>
          <a:spcPct val="0"/>
        </a:spcBef>
        <a:spcAft>
          <a:spcPct val="0"/>
        </a:spcAft>
        <a:defRPr sz="3600" b="1">
          <a:solidFill>
            <a:srgbClr val="FF8D3E"/>
          </a:solidFill>
          <a:latin typeface="Verdana" panose="020B0604030504040204" pitchFamily="34" charset="0"/>
          <a:ea typeface="微軟正黑體" panose="020B0604030504040204" pitchFamily="34" charset="-120"/>
          <a:cs typeface="微軟正黑體" panose="020B0604030504040204" pitchFamily="34" charset="-120"/>
        </a:defRPr>
      </a:lvl2pPr>
      <a:lvl3pPr algn="l" rtl="0" eaLnBrk="0" fontAlgn="base" hangingPunct="0">
        <a:spcBef>
          <a:spcPct val="0"/>
        </a:spcBef>
        <a:spcAft>
          <a:spcPct val="0"/>
        </a:spcAft>
        <a:defRPr sz="3600" b="1">
          <a:solidFill>
            <a:srgbClr val="FF8D3E"/>
          </a:solidFill>
          <a:latin typeface="Verdana" panose="020B0604030504040204" pitchFamily="34" charset="0"/>
          <a:ea typeface="微軟正黑體" panose="020B0604030504040204" pitchFamily="34" charset="-120"/>
          <a:cs typeface="微軟正黑體" panose="020B0604030504040204" pitchFamily="34" charset="-120"/>
        </a:defRPr>
      </a:lvl3pPr>
      <a:lvl4pPr algn="l" rtl="0" eaLnBrk="0" fontAlgn="base" hangingPunct="0">
        <a:spcBef>
          <a:spcPct val="0"/>
        </a:spcBef>
        <a:spcAft>
          <a:spcPct val="0"/>
        </a:spcAft>
        <a:defRPr sz="3600" b="1">
          <a:solidFill>
            <a:srgbClr val="FF8D3E"/>
          </a:solidFill>
          <a:latin typeface="Verdana" panose="020B0604030504040204" pitchFamily="34" charset="0"/>
          <a:ea typeface="微軟正黑體" panose="020B0604030504040204" pitchFamily="34" charset="-120"/>
          <a:cs typeface="微軟正黑體" panose="020B0604030504040204" pitchFamily="34" charset="-120"/>
        </a:defRPr>
      </a:lvl4pPr>
      <a:lvl5pPr algn="l" rtl="0" eaLnBrk="0" fontAlgn="base" hangingPunct="0">
        <a:spcBef>
          <a:spcPct val="0"/>
        </a:spcBef>
        <a:spcAft>
          <a:spcPct val="0"/>
        </a:spcAft>
        <a:defRPr sz="3600" b="1">
          <a:solidFill>
            <a:srgbClr val="FF8D3E"/>
          </a:solidFill>
          <a:latin typeface="Verdana" panose="020B0604030504040204" pitchFamily="34" charset="0"/>
          <a:ea typeface="微軟正黑體" panose="020B0604030504040204" pitchFamily="34" charset="-120"/>
          <a:cs typeface="微軟正黑體" panose="020B0604030504040204" pitchFamily="34" charset="-120"/>
        </a:defRPr>
      </a:lvl5pPr>
      <a:lvl6pPr marL="457200" algn="l" rtl="0" fontAlgn="base">
        <a:spcBef>
          <a:spcPct val="0"/>
        </a:spcBef>
        <a:spcAft>
          <a:spcPct val="0"/>
        </a:spcAft>
        <a:defRPr sz="3600" b="1">
          <a:solidFill>
            <a:srgbClr val="FF8D3E"/>
          </a:solidFill>
          <a:latin typeface="Verdana" panose="020B0604030504040204" pitchFamily="34" charset="0"/>
          <a:ea typeface="微軟正黑體" panose="020B0604030504040204" pitchFamily="34" charset="-120"/>
        </a:defRPr>
      </a:lvl6pPr>
      <a:lvl7pPr marL="914400" algn="l" rtl="0" fontAlgn="base">
        <a:spcBef>
          <a:spcPct val="0"/>
        </a:spcBef>
        <a:spcAft>
          <a:spcPct val="0"/>
        </a:spcAft>
        <a:defRPr sz="3600" b="1">
          <a:solidFill>
            <a:srgbClr val="FF8D3E"/>
          </a:solidFill>
          <a:latin typeface="Verdana" panose="020B0604030504040204" pitchFamily="34" charset="0"/>
          <a:ea typeface="微軟正黑體" panose="020B0604030504040204" pitchFamily="34" charset="-120"/>
        </a:defRPr>
      </a:lvl7pPr>
      <a:lvl8pPr marL="1371600" algn="l" rtl="0" fontAlgn="base">
        <a:spcBef>
          <a:spcPct val="0"/>
        </a:spcBef>
        <a:spcAft>
          <a:spcPct val="0"/>
        </a:spcAft>
        <a:defRPr sz="3600" b="1">
          <a:solidFill>
            <a:srgbClr val="FF8D3E"/>
          </a:solidFill>
          <a:latin typeface="Verdana" panose="020B0604030504040204" pitchFamily="34" charset="0"/>
          <a:ea typeface="微軟正黑體" panose="020B0604030504040204" pitchFamily="34" charset="-120"/>
        </a:defRPr>
      </a:lvl8pPr>
      <a:lvl9pPr marL="1828800" algn="l" rtl="0" fontAlgn="base">
        <a:spcBef>
          <a:spcPct val="0"/>
        </a:spcBef>
        <a:spcAft>
          <a:spcPct val="0"/>
        </a:spcAft>
        <a:defRPr sz="3600" b="1">
          <a:solidFill>
            <a:srgbClr val="FF8D3E"/>
          </a:solidFill>
          <a:latin typeface="Verdana" panose="020B0604030504040204" pitchFamily="34" charset="0"/>
          <a:ea typeface="微軟正黑體" panose="020B0604030504040204" pitchFamily="34" charset="-120"/>
        </a:defRPr>
      </a:lvl9pPr>
    </p:titleStyle>
    <p:bodyStyle>
      <a:lvl1pPr marL="265430" indent="-265430" algn="l" rtl="0" eaLnBrk="0" fontAlgn="base" hangingPunct="0">
        <a:spcBef>
          <a:spcPts val="250"/>
        </a:spcBef>
        <a:spcAft>
          <a:spcPct val="0"/>
        </a:spcAft>
        <a:buClr>
          <a:schemeClr val="accent1"/>
        </a:buClr>
        <a:buSzPct val="80000"/>
        <a:buFont typeface="Wingdings 2" pitchFamily="18" charset="2"/>
        <a:buChar char=""/>
        <a:defRPr sz="2800" kern="1200">
          <a:solidFill>
            <a:schemeClr val="tx1"/>
          </a:solidFill>
          <a:latin typeface="+mn-lt"/>
          <a:ea typeface="+mn-ea"/>
          <a:cs typeface="微軟正黑體" panose="020B0604030504040204" pitchFamily="34" charset="-120"/>
        </a:defRPr>
      </a:lvl1pPr>
      <a:lvl2pPr marL="548005" indent="-200025" algn="l" rtl="0" eaLnBrk="0" fontAlgn="base" hangingPunct="0">
        <a:spcBef>
          <a:spcPts val="250"/>
        </a:spcBef>
        <a:spcAft>
          <a:spcPct val="0"/>
        </a:spcAft>
        <a:buClr>
          <a:schemeClr val="accent1"/>
        </a:buClr>
        <a:buSzPct val="100000"/>
        <a:buFont typeface="Verdana" panose="020B0604030504040204" pitchFamily="34" charset="0"/>
        <a:buChar char="◦"/>
        <a:defRPr sz="2400" kern="1200">
          <a:solidFill>
            <a:schemeClr val="tx1"/>
          </a:solidFill>
          <a:latin typeface="+mn-lt"/>
          <a:ea typeface="+mn-ea"/>
          <a:cs typeface="微軟正黑體" panose="020B0604030504040204" pitchFamily="34" charset="-120"/>
        </a:defRPr>
      </a:lvl2pPr>
      <a:lvl3pPr marL="786130" indent="-182880" algn="l" rtl="0" eaLnBrk="0" fontAlgn="base" hangingPunct="0">
        <a:spcBef>
          <a:spcPts val="250"/>
        </a:spcBef>
        <a:spcAft>
          <a:spcPct val="0"/>
        </a:spcAft>
        <a:buClr>
          <a:srgbClr val="ED3742"/>
        </a:buClr>
        <a:buSzPct val="100000"/>
        <a:buFont typeface="Wingdings 2" pitchFamily="18" charset="2"/>
        <a:buChar char=""/>
        <a:defRPr sz="2200" kern="1200">
          <a:solidFill>
            <a:schemeClr val="tx1"/>
          </a:solidFill>
          <a:latin typeface="+mn-lt"/>
          <a:ea typeface="+mn-ea"/>
          <a:cs typeface="微軟正黑體" panose="020B0604030504040204" pitchFamily="34" charset="-120"/>
        </a:defRPr>
      </a:lvl3pPr>
      <a:lvl4pPr marL="1024255" indent="-182880" algn="l" rtl="0" eaLnBrk="0" fontAlgn="base" hangingPunct="0">
        <a:spcBef>
          <a:spcPts val="225"/>
        </a:spcBef>
        <a:spcAft>
          <a:spcPct val="0"/>
        </a:spcAft>
        <a:buClr>
          <a:srgbClr val="ED3742"/>
        </a:buClr>
        <a:buSzPct val="112000"/>
        <a:buFont typeface="Verdana" panose="020B0604030504040204" pitchFamily="34" charset="0"/>
        <a:buChar char="◦"/>
        <a:defRPr sz="1900" kern="1200">
          <a:solidFill>
            <a:schemeClr val="tx1"/>
          </a:solidFill>
          <a:latin typeface="+mn-lt"/>
          <a:ea typeface="+mn-ea"/>
          <a:cs typeface="微軟正黑體" panose="020B0604030504040204" pitchFamily="34" charset="-120"/>
        </a:defRPr>
      </a:lvl4pPr>
      <a:lvl5pPr marL="1279525" indent="-182880" algn="l" rtl="0" eaLnBrk="0" fontAlgn="base" hangingPunct="0">
        <a:spcBef>
          <a:spcPts val="250"/>
        </a:spcBef>
        <a:spcAft>
          <a:spcPct val="0"/>
        </a:spcAft>
        <a:buClr>
          <a:srgbClr val="4A85BF"/>
        </a:buClr>
        <a:buSzPct val="100000"/>
        <a:buFont typeface="Wingdings 2" pitchFamily="18" charset="2"/>
        <a:buChar char=""/>
        <a:defRPr sz="2000" kern="1200">
          <a:solidFill>
            <a:schemeClr val="tx1"/>
          </a:solidFill>
          <a:latin typeface="+mn-lt"/>
          <a:ea typeface="+mn-ea"/>
          <a:cs typeface="微軟正黑體" panose="020B0604030504040204" pitchFamily="34" charset="-120"/>
        </a:defRPr>
      </a:lvl5pPr>
      <a:lvl6pPr marL="1490345" indent="-182880" algn="l" rtl="0" eaLnBrk="1" latinLnBrk="0" hangingPunct="1">
        <a:spcBef>
          <a:spcPts val="250"/>
        </a:spcBef>
        <a:buClr>
          <a:schemeClr val="accent3">
            <a:tint val="85000"/>
            <a:satMod val="275000"/>
          </a:schemeClr>
        </a:buClr>
        <a:buSzPct val="100000"/>
        <a:buFont typeface="Verdana" panose="020B0604030504040204"/>
        <a:buChar char="◦"/>
        <a:defRPr kumimoji="0" sz="1700" kern="1200" baseline="0">
          <a:solidFill>
            <a:schemeClr val="tx1"/>
          </a:solidFill>
          <a:latin typeface="+mn-lt"/>
          <a:ea typeface="+mn-ea"/>
          <a:cs typeface="+mn-cs"/>
        </a:defRPr>
      </a:lvl6pPr>
      <a:lvl7pPr marL="170053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5"/>
        </a:spcBef>
        <a:buClr>
          <a:schemeClr val="accent3">
            <a:tint val="85000"/>
            <a:satMod val="275000"/>
          </a:schemeClr>
        </a:buClr>
        <a:buSzPct val="100000"/>
        <a:buFont typeface="Verdana" panose="020B0604030504040204"/>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5.png"/><Relationship Id="rId7" Type="http://schemas.openxmlformats.org/officeDocument/2006/relationships/diagramLayout" Target="../diagrams/layout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Data" Target="../diagrams/data1.xml"/><Relationship Id="rId5" Type="http://schemas.openxmlformats.org/officeDocument/2006/relationships/image" Target="../media/image4.png"/><Relationship Id="rId10" Type="http://schemas.microsoft.com/office/2007/relationships/diagramDrawing" Target="../diagrams/drawing1.xml"/><Relationship Id="rId4" Type="http://schemas.openxmlformats.org/officeDocument/2006/relationships/image" Target="../media/image6.png"/><Relationship Id="rId9" Type="http://schemas.openxmlformats.org/officeDocument/2006/relationships/diagramColors" Target="../diagrams/colors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4.png"/><Relationship Id="rId2" Type="http://schemas.openxmlformats.org/officeDocument/2006/relationships/image" Target="../media/image9.jpeg"/><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4.png"/><Relationship Id="rId2" Type="http://schemas.openxmlformats.org/officeDocument/2006/relationships/image" Target="../media/image9.jpeg"/><Relationship Id="rId1" Type="http://schemas.openxmlformats.org/officeDocument/2006/relationships/slideLayout" Target="../slideLayouts/slideLayout11.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1.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7.jpe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8.jpe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9.jpeg"/><Relationship Id="rId1" Type="http://schemas.openxmlformats.org/officeDocument/2006/relationships/slideLayout" Target="../slideLayouts/slideLayout11.xml"/><Relationship Id="rId5" Type="http://schemas.openxmlformats.org/officeDocument/2006/relationships/image" Target="../media/image21.jpe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jpeg"/><Relationship Id="rId1" Type="http://schemas.openxmlformats.org/officeDocument/2006/relationships/slideLayout" Target="../slideLayouts/slideLayout11.xml"/><Relationship Id="rId4" Type="http://schemas.openxmlformats.org/officeDocument/2006/relationships/image" Target="../media/image21.jpe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diagramLayout" Target="../diagrams/layout2.xml"/><Relationship Id="rId7" Type="http://schemas.openxmlformats.org/officeDocument/2006/relationships/image" Target="../media/image25.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diagramLayout" Target="../diagrams/layout3.xml"/><Relationship Id="rId7" Type="http://schemas.openxmlformats.org/officeDocument/2006/relationships/image" Target="../media/image27.png"/><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diagramLayout" Target="../diagrams/layout4.xml"/><Relationship Id="rId7" Type="http://schemas.openxmlformats.org/officeDocument/2006/relationships/image" Target="../media/image29.jpeg"/><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0.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11.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30.xml.rels><?xml version="1.0" encoding="UTF-8" standalone="yes"?>
<Relationships xmlns="http://schemas.openxmlformats.org/package/2006/relationships"><Relationship Id="rId3" Type="http://schemas.openxmlformats.org/officeDocument/2006/relationships/hyperlink" Target="https://www.youtube.com/watch?v=PviCVPYgtiQ" TargetMode="External"/><Relationship Id="rId2" Type="http://schemas.openxmlformats.org/officeDocument/2006/relationships/image" Target="../media/image38.png"/><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2" Type="http://schemas.openxmlformats.org/officeDocument/2006/relationships/image" Target="../media/image41.gif"/><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46.jpeg"/><Relationship Id="rId4" Type="http://schemas.openxmlformats.org/officeDocument/2006/relationships/image" Target="../media/image4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圖片 32" descr="齊家精緻物業logo.tif"/>
          <p:cNvPicPr>
            <a:picLocks noChangeAspect="1"/>
          </p:cNvPicPr>
          <p:nvPr/>
        </p:nvPicPr>
        <p:blipFill>
          <a:blip r:embed="rId3" cstate="print"/>
          <a:stretch>
            <a:fillRect/>
          </a:stretch>
        </p:blipFill>
        <p:spPr>
          <a:xfrm>
            <a:off x="3474720" y="5992639"/>
            <a:ext cx="2131174" cy="604713"/>
          </a:xfrm>
          <a:prstGeom prst="rect">
            <a:avLst/>
          </a:prstGeom>
        </p:spPr>
      </p:pic>
      <p:sp>
        <p:nvSpPr>
          <p:cNvPr id="18" name="文字方塊 17"/>
          <p:cNvSpPr txBox="1"/>
          <p:nvPr/>
        </p:nvSpPr>
        <p:spPr>
          <a:xfrm>
            <a:off x="323528" y="1844824"/>
            <a:ext cx="8496944" cy="1938992"/>
          </a:xfrm>
          <a:prstGeom prst="rect">
            <a:avLst/>
          </a:prstGeom>
          <a:noFill/>
        </p:spPr>
        <p:txBody>
          <a:bodyPr wrap="square" rtlCol="0">
            <a:spAutoFit/>
          </a:bodyPr>
          <a:lstStyle/>
          <a:p>
            <a:pPr algn="ctr"/>
            <a:r>
              <a:rPr lang="zh-TW" altLang="en-US" sz="6000" b="1" dirty="0" smtClean="0">
                <a:solidFill>
                  <a:srgbClr val="C00000"/>
                </a:solidFill>
                <a:latin typeface="微軟正黑體" pitchFamily="34" charset="-120"/>
                <a:ea typeface="微軟正黑體" pitchFamily="34" charset="-120"/>
              </a:rPr>
              <a:t>名</a:t>
            </a:r>
            <a:r>
              <a:rPr lang="zh-TW" altLang="en-US" sz="6000" b="1" dirty="0">
                <a:solidFill>
                  <a:srgbClr val="C00000"/>
                </a:solidFill>
                <a:latin typeface="微軟正黑體" pitchFamily="34" charset="-120"/>
                <a:ea typeface="微軟正黑體" pitchFamily="34" charset="-120"/>
              </a:rPr>
              <a:t>軒開發</a:t>
            </a:r>
            <a:r>
              <a:rPr lang="zh-TW" altLang="en-US" sz="6000" b="1" dirty="0" smtClean="0">
                <a:solidFill>
                  <a:srgbClr val="C00000"/>
                </a:solidFill>
                <a:latin typeface="微軟正黑體" pitchFamily="34" charset="-120"/>
                <a:ea typeface="微軟正黑體" pitchFamily="34" charset="-120"/>
              </a:rPr>
              <a:t>股份有限公司淡海段</a:t>
            </a:r>
            <a:r>
              <a:rPr lang="en-US" altLang="zh-TW" sz="6000" b="1" dirty="0" smtClean="0">
                <a:solidFill>
                  <a:srgbClr val="C00000"/>
                </a:solidFill>
                <a:latin typeface="微軟正黑體" pitchFamily="34" charset="-120"/>
                <a:ea typeface="微軟正黑體" pitchFamily="34" charset="-120"/>
              </a:rPr>
              <a:t>2</a:t>
            </a:r>
            <a:r>
              <a:rPr lang="zh-TW" altLang="en-US" sz="6000" b="1" dirty="0" smtClean="0">
                <a:solidFill>
                  <a:srgbClr val="C00000"/>
                </a:solidFill>
                <a:latin typeface="微軟正黑體" pitchFamily="34" charset="-120"/>
                <a:ea typeface="微軟正黑體" pitchFamily="34" charset="-120"/>
              </a:rPr>
              <a:t>地</a:t>
            </a:r>
            <a:r>
              <a:rPr lang="zh-TW" altLang="en-US" sz="6000" b="1" dirty="0">
                <a:solidFill>
                  <a:srgbClr val="C00000"/>
                </a:solidFill>
                <a:latin typeface="微軟正黑體" pitchFamily="34" charset="-120"/>
                <a:ea typeface="微軟正黑體" pitchFamily="34" charset="-120"/>
              </a:rPr>
              <a:t>號</a:t>
            </a:r>
          </a:p>
        </p:txBody>
      </p:sp>
    </p:spTree>
  </p:cSld>
  <p:clrMapOvr>
    <a:masterClrMapping/>
  </p:clrMapOvr>
  <p:transition spd="med">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1" name="Picture 3" descr="\\A-s6jw4x7y9lv85\d\張協理\小唐給協理資料\2011攝影師拍照\小圖\IMG_2827.jpg"/>
          <p:cNvPicPr>
            <a:picLocks noChangeAspect="1" noChangeArrowheads="1"/>
          </p:cNvPicPr>
          <p:nvPr/>
        </p:nvPicPr>
        <p:blipFill>
          <a:blip r:embed="rId3" cstate="print"/>
          <a:stretch>
            <a:fillRect/>
          </a:stretch>
        </p:blipFill>
        <p:spPr bwMode="auto">
          <a:xfrm>
            <a:off x="357158" y="3660039"/>
            <a:ext cx="3419469" cy="24651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9094" name="Picture 6" descr="\\A-s6jw4x7y9lv85\d\張協理\小唐給協理資料\2011攝影師拍照\小圖\IMG_2900.jpg"/>
          <p:cNvPicPr>
            <a:picLocks noChangeAspect="1" noChangeArrowheads="1"/>
          </p:cNvPicPr>
          <p:nvPr/>
        </p:nvPicPr>
        <p:blipFill>
          <a:blip r:embed="rId4" cstate="print"/>
          <a:stretch>
            <a:fillRect/>
          </a:stretch>
        </p:blipFill>
        <p:spPr bwMode="auto">
          <a:xfrm>
            <a:off x="1043608" y="404664"/>
            <a:ext cx="2233199" cy="3039905"/>
          </a:xfrm>
          <a:prstGeom prst="rect">
            <a:avLst/>
          </a:prstGeom>
          <a:ln>
            <a:noFill/>
          </a:ln>
          <a:effectLst>
            <a:outerShdw blurRad="292100" dist="139700" dir="2700000" algn="tl" rotWithShape="0">
              <a:srgbClr val="333333">
                <a:alpha val="65000"/>
              </a:srgbClr>
            </a:outerShdw>
          </a:effectLst>
        </p:spPr>
      </p:pic>
      <p:pic>
        <p:nvPicPr>
          <p:cNvPr id="8" name="圖片 7" descr="齊家精緻物業logo.tif"/>
          <p:cNvPicPr>
            <a:picLocks noChangeAspect="1"/>
          </p:cNvPicPr>
          <p:nvPr/>
        </p:nvPicPr>
        <p:blipFill>
          <a:blip r:embed="rId5" cstate="print"/>
          <a:stretch>
            <a:fillRect/>
          </a:stretch>
        </p:blipFill>
        <p:spPr>
          <a:xfrm>
            <a:off x="3779912" y="6237312"/>
            <a:ext cx="1584176" cy="449504"/>
          </a:xfrm>
          <a:prstGeom prst="rect">
            <a:avLst/>
          </a:prstGeom>
        </p:spPr>
      </p:pic>
      <p:sp>
        <p:nvSpPr>
          <p:cNvPr id="9" name="文字方塊 8"/>
          <p:cNvSpPr txBox="1"/>
          <p:nvPr/>
        </p:nvSpPr>
        <p:spPr>
          <a:xfrm>
            <a:off x="5724128" y="404664"/>
            <a:ext cx="1368152" cy="646331"/>
          </a:xfrm>
          <a:prstGeom prst="rect">
            <a:avLst/>
          </a:prstGeom>
          <a:noFill/>
          <a:effectLst>
            <a:glow rad="63500">
              <a:schemeClr val="accent3">
                <a:satMod val="175000"/>
                <a:alpha val="40000"/>
              </a:schemeClr>
            </a:glow>
          </a:effectLst>
        </p:spPr>
        <p:txBody>
          <a:bodyPr wrap="square" rtlCol="0">
            <a:spAutoFit/>
          </a:bodyPr>
          <a:lstStyle/>
          <a:p>
            <a:r>
              <a:rPr lang="zh-TW" altLang="en-US" sz="3600" dirty="0">
                <a:solidFill>
                  <a:srgbClr val="002060"/>
                </a:solidFill>
                <a:latin typeface="微軟正黑體" pitchFamily="34" charset="-120"/>
                <a:ea typeface="微軟正黑體" pitchFamily="34" charset="-120"/>
              </a:rPr>
              <a:t>目 錄</a:t>
            </a:r>
          </a:p>
        </p:txBody>
      </p:sp>
      <p:graphicFrame>
        <p:nvGraphicFramePr>
          <p:cNvPr id="10" name="資料庫圖表 9"/>
          <p:cNvGraphicFramePr/>
          <p:nvPr/>
        </p:nvGraphicFramePr>
        <p:xfrm>
          <a:off x="3786182" y="1714488"/>
          <a:ext cx="4857784" cy="328614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transition spd="med">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p:nvPr>
        </p:nvSpPr>
        <p:spPr>
          <a:xfrm>
            <a:off x="323528" y="1196752"/>
            <a:ext cx="8229600" cy="1714512"/>
          </a:xfrm>
        </p:spPr>
        <p:txBody>
          <a:bodyPr anchor="ctr"/>
          <a:lstStyle/>
          <a:p>
            <a:pPr algn="ctr">
              <a:buNone/>
            </a:pPr>
            <a:r>
              <a:rPr lang="zh-TW" altLang="en-US" sz="6600" b="1" dirty="0">
                <a:solidFill>
                  <a:srgbClr val="002060"/>
                </a:solidFill>
                <a:latin typeface="微軟正黑體" pitchFamily="34" charset="-120"/>
                <a:ea typeface="微軟正黑體" pitchFamily="34" charset="-120"/>
              </a:rPr>
              <a:t>人力配置</a:t>
            </a:r>
          </a:p>
        </p:txBody>
      </p:sp>
      <p:pic>
        <p:nvPicPr>
          <p:cNvPr id="7" name="圖片 6" descr="齊家精緻物業logo.tif"/>
          <p:cNvPicPr>
            <a:picLocks noChangeAspect="1"/>
          </p:cNvPicPr>
          <p:nvPr/>
        </p:nvPicPr>
        <p:blipFill>
          <a:blip r:embed="rId2" cstate="print"/>
          <a:stretch>
            <a:fillRect/>
          </a:stretch>
        </p:blipFill>
        <p:spPr>
          <a:xfrm>
            <a:off x="3474720" y="5992639"/>
            <a:ext cx="2131174" cy="604713"/>
          </a:xfrm>
          <a:prstGeom prst="rect">
            <a:avLst/>
          </a:prstGeom>
        </p:spPr>
      </p:pic>
      <p:pic>
        <p:nvPicPr>
          <p:cNvPr id="10" name="圖片 9" descr="人員.png"/>
          <p:cNvPicPr>
            <a:picLocks noChangeAspect="1"/>
          </p:cNvPicPr>
          <p:nvPr/>
        </p:nvPicPr>
        <p:blipFill>
          <a:blip r:embed="rId3" cstate="print"/>
          <a:stretch>
            <a:fillRect/>
          </a:stretch>
        </p:blipFill>
        <p:spPr>
          <a:xfrm>
            <a:off x="3410051" y="3429000"/>
            <a:ext cx="2313931" cy="2164444"/>
          </a:xfrm>
          <a:prstGeom prst="rect">
            <a:avLst/>
          </a:prstGeom>
          <a:effectLst>
            <a:outerShdw blurRad="50800" dist="38100" dir="2700000" algn="tl" rotWithShape="0">
              <a:prstClr val="black">
                <a:alpha val="40000"/>
              </a:prstClr>
            </a:outerShdw>
          </a:effectLst>
        </p:spPr>
      </p:pic>
    </p:spTree>
  </p:cSld>
  <p:clrMapOvr>
    <a:masterClrMapping/>
  </p:clrMapOvr>
  <p:transition spd="med">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5" name="Picture 1" descr="C:\Users\User\Desktop\近期洽談新案(儲備人力)\麗寶建設三新案(淡水新莊桃園)\淡海\協理提供\麗寶淡水\平面圖jpg\5.一層平面圖 _工作區域 1.jpg"/>
          <p:cNvPicPr>
            <a:picLocks noChangeAspect="1" noChangeArrowheads="1"/>
          </p:cNvPicPr>
          <p:nvPr/>
        </p:nvPicPr>
        <p:blipFill>
          <a:blip r:embed="rId2" cstate="print"/>
          <a:srcRect/>
          <a:stretch>
            <a:fillRect/>
          </a:stretch>
        </p:blipFill>
        <p:spPr bwMode="auto">
          <a:xfrm>
            <a:off x="0" y="714356"/>
            <a:ext cx="8572560" cy="5910246"/>
          </a:xfrm>
          <a:prstGeom prst="rect">
            <a:avLst/>
          </a:prstGeom>
          <a:noFill/>
        </p:spPr>
      </p:pic>
      <p:pic>
        <p:nvPicPr>
          <p:cNvPr id="4" name="Picture 2">
            <a:extLst>
              <a:ext uri="{FF2B5EF4-FFF2-40B4-BE49-F238E27FC236}">
                <a16:creationId xmlns:a16="http://schemas.microsoft.com/office/drawing/2014/main" xmlns="" id="{50907829-19B0-4533-A51A-77D61416DB7C}"/>
              </a:ext>
            </a:extLst>
          </p:cNvPr>
          <p:cNvPicPr>
            <a:picLocks noChangeAspect="1" noChangeArrowheads="1"/>
          </p:cNvPicPr>
          <p:nvPr/>
        </p:nvPicPr>
        <p:blipFill>
          <a:blip r:embed="rId3"/>
          <a:srcRect/>
          <a:stretch>
            <a:fillRect/>
          </a:stretch>
        </p:blipFill>
        <p:spPr bwMode="auto">
          <a:xfrm>
            <a:off x="6000760" y="2357430"/>
            <a:ext cx="390525" cy="1285875"/>
          </a:xfrm>
          <a:prstGeom prst="rect">
            <a:avLst/>
          </a:prstGeom>
          <a:noFill/>
          <a:ln w="9525">
            <a:noFill/>
            <a:miter lim="800000"/>
            <a:headEnd/>
            <a:tailEnd/>
          </a:ln>
        </p:spPr>
      </p:pic>
      <p:pic>
        <p:nvPicPr>
          <p:cNvPr id="5" name="Picture 6" descr="保全人偶">
            <a:extLst>
              <a:ext uri="{FF2B5EF4-FFF2-40B4-BE49-F238E27FC236}">
                <a16:creationId xmlns:a16="http://schemas.microsoft.com/office/drawing/2014/main" xmlns="" id="{1F66A86A-D7D3-484F-B98A-11CA9A313C9C}"/>
              </a:ext>
            </a:extLst>
          </p:cNvPr>
          <p:cNvPicPr>
            <a:picLocks noChangeAspect="1" noChangeArrowheads="1"/>
          </p:cNvPicPr>
          <p:nvPr/>
        </p:nvPicPr>
        <p:blipFill>
          <a:blip r:embed="rId4"/>
          <a:srcRect/>
          <a:stretch>
            <a:fillRect/>
          </a:stretch>
        </p:blipFill>
        <p:spPr bwMode="auto">
          <a:xfrm>
            <a:off x="2643174" y="2928934"/>
            <a:ext cx="357187" cy="985838"/>
          </a:xfrm>
          <a:prstGeom prst="rect">
            <a:avLst/>
          </a:prstGeom>
          <a:noFill/>
          <a:ln w="9525">
            <a:noFill/>
            <a:miter lim="800000"/>
            <a:headEnd/>
            <a:tailEnd/>
          </a:ln>
        </p:spPr>
      </p:pic>
      <p:sp>
        <p:nvSpPr>
          <p:cNvPr id="6" name="矩形圖說文字 60">
            <a:extLst>
              <a:ext uri="{FF2B5EF4-FFF2-40B4-BE49-F238E27FC236}">
                <a16:creationId xmlns:a16="http://schemas.microsoft.com/office/drawing/2014/main" xmlns="" id="{BEE40A0F-71C4-47DB-9922-60DC99237143}"/>
              </a:ext>
            </a:extLst>
          </p:cNvPr>
          <p:cNvSpPr>
            <a:spLocks noChangeArrowheads="1"/>
          </p:cNvSpPr>
          <p:nvPr/>
        </p:nvSpPr>
        <p:spPr bwMode="auto">
          <a:xfrm>
            <a:off x="3571868" y="3143248"/>
            <a:ext cx="2214563" cy="1714500"/>
          </a:xfrm>
          <a:prstGeom prst="wedgeRectCallout">
            <a:avLst>
              <a:gd name="adj1" fmla="val 47542"/>
              <a:gd name="adj2" fmla="val 53382"/>
            </a:avLst>
          </a:prstGeom>
          <a:solidFill>
            <a:schemeClr val="accent6">
              <a:lumMod val="60000"/>
              <a:lumOff val="40000"/>
            </a:schemeClr>
          </a:solidFill>
        </p:spPr>
        <p:style>
          <a:lnRef idx="3">
            <a:schemeClr val="lt1"/>
          </a:lnRef>
          <a:fillRef idx="1">
            <a:schemeClr val="accent2"/>
          </a:fillRef>
          <a:effectRef idx="1">
            <a:schemeClr val="accent2"/>
          </a:effectRef>
          <a:fontRef idx="minor">
            <a:schemeClr val="lt1"/>
          </a:fontRef>
        </p:style>
        <p:txBody>
          <a:bodyPr anchor="ctr"/>
          <a:lstStyle/>
          <a:p>
            <a:pPr>
              <a:defRPr/>
            </a:pPr>
            <a:r>
              <a:rPr lang="zh-TW" altLang="en-US" dirty="0">
                <a:solidFill>
                  <a:srgbClr val="262626"/>
                </a:solidFill>
                <a:latin typeface="微軟正黑體" panose="020B0604030504040204" pitchFamily="34" charset="-120"/>
              </a:rPr>
              <a:t> </a:t>
            </a:r>
            <a:r>
              <a:rPr lang="zh-TW" altLang="en-US" sz="1400" dirty="0" smtClean="0">
                <a:solidFill>
                  <a:srgbClr val="262626"/>
                </a:solidFill>
                <a:latin typeface="微軟正黑體" panose="020B0604030504040204" pitchFamily="34" charset="-120"/>
              </a:rPr>
              <a:t>社區防災中心</a:t>
            </a:r>
            <a:r>
              <a:rPr lang="en-US" altLang="zh-TW" sz="1400" dirty="0" smtClean="0">
                <a:solidFill>
                  <a:srgbClr val="262626"/>
                </a:solidFill>
                <a:latin typeface="微軟正黑體" panose="020B0604030504040204" pitchFamily="34" charset="-120"/>
              </a:rPr>
              <a:t>(</a:t>
            </a:r>
            <a:r>
              <a:rPr lang="zh-TW" altLang="en-US" sz="1400" dirty="0" smtClean="0">
                <a:solidFill>
                  <a:srgbClr val="262626"/>
                </a:solidFill>
                <a:latin typeface="微軟正黑體" panose="020B0604030504040204" pitchFamily="34" charset="-120"/>
              </a:rPr>
              <a:t>中</a:t>
            </a:r>
            <a:r>
              <a:rPr lang="zh-TW" altLang="en-US" sz="1400" dirty="0">
                <a:solidFill>
                  <a:srgbClr val="262626"/>
                </a:solidFill>
                <a:latin typeface="微軟正黑體" panose="020B0604030504040204" pitchFamily="34" charset="-120"/>
              </a:rPr>
              <a:t>控</a:t>
            </a:r>
            <a:r>
              <a:rPr lang="zh-TW" altLang="en-US" sz="1400" dirty="0" smtClean="0">
                <a:solidFill>
                  <a:srgbClr val="262626"/>
                </a:solidFill>
                <a:latin typeface="微軟正黑體" panose="020B0604030504040204" pitchFamily="34" charset="-120"/>
              </a:rPr>
              <a:t>哨</a:t>
            </a:r>
            <a:r>
              <a:rPr lang="en-US" altLang="zh-TW" sz="1400" dirty="0" smtClean="0">
                <a:solidFill>
                  <a:srgbClr val="262626"/>
                </a:solidFill>
                <a:latin typeface="微軟正黑體" panose="020B0604030504040204" pitchFamily="34" charset="-120"/>
              </a:rPr>
              <a:t>)</a:t>
            </a:r>
            <a:r>
              <a:rPr lang="zh-TW" altLang="en-US" sz="1400" dirty="0" smtClean="0">
                <a:solidFill>
                  <a:srgbClr val="262626"/>
                </a:solidFill>
                <a:latin typeface="微軟正黑體" panose="020B0604030504040204" pitchFamily="34" charset="-120"/>
              </a:rPr>
              <a:t>安全</a:t>
            </a:r>
            <a:r>
              <a:rPr lang="zh-TW" altLang="en-US" sz="1400" dirty="0">
                <a:solidFill>
                  <a:srgbClr val="262626"/>
                </a:solidFill>
                <a:latin typeface="微軟正黑體" panose="020B0604030504040204" pitchFamily="34" charset="-120"/>
              </a:rPr>
              <a:t>人員</a:t>
            </a:r>
            <a:r>
              <a:rPr lang="en-US" altLang="zh-TW" sz="1400" dirty="0">
                <a:solidFill>
                  <a:srgbClr val="262626"/>
                </a:solidFill>
                <a:latin typeface="微軟正黑體" panose="020B0604030504040204" pitchFamily="34" charset="-120"/>
              </a:rPr>
              <a:t>(24H)</a:t>
            </a:r>
          </a:p>
          <a:p>
            <a:pPr>
              <a:defRPr/>
            </a:pPr>
            <a:r>
              <a:rPr lang="en-US" altLang="zh-TW" sz="1400" dirty="0">
                <a:solidFill>
                  <a:srgbClr val="262626"/>
                </a:solidFill>
                <a:latin typeface="微軟正黑體" panose="020B0604030504040204" pitchFamily="34" charset="-120"/>
              </a:rPr>
              <a:t>1.</a:t>
            </a:r>
            <a:r>
              <a:rPr lang="zh-TW" altLang="en-US" sz="1400" dirty="0">
                <a:solidFill>
                  <a:srgbClr val="262626"/>
                </a:solidFill>
                <a:latin typeface="微軟正黑體" panose="020B0604030504040204" pitchFamily="34" charset="-120"/>
              </a:rPr>
              <a:t>巡邏服務</a:t>
            </a:r>
            <a:endParaRPr lang="en-US" altLang="zh-TW" sz="1400" dirty="0">
              <a:solidFill>
                <a:srgbClr val="262626"/>
              </a:solidFill>
              <a:latin typeface="微軟正黑體" panose="020B0604030504040204" pitchFamily="34" charset="-120"/>
            </a:endParaRPr>
          </a:p>
          <a:p>
            <a:pPr>
              <a:defRPr/>
            </a:pPr>
            <a:r>
              <a:rPr lang="en-US" altLang="zh-TW" sz="1400" dirty="0">
                <a:solidFill>
                  <a:srgbClr val="262626"/>
                </a:solidFill>
                <a:latin typeface="微軟正黑體" panose="020B0604030504040204" pitchFamily="34" charset="-120"/>
              </a:rPr>
              <a:t>2.</a:t>
            </a:r>
            <a:r>
              <a:rPr lang="zh-TW" altLang="en-US" sz="1400" dirty="0">
                <a:solidFill>
                  <a:srgbClr val="262626"/>
                </a:solidFill>
                <a:latin typeface="微軟正黑體" panose="020B0604030504040204" pitchFamily="34" charset="-120"/>
              </a:rPr>
              <a:t>遠端監控</a:t>
            </a:r>
            <a:endParaRPr lang="en-US" altLang="zh-TW" sz="1400" dirty="0">
              <a:solidFill>
                <a:srgbClr val="262626"/>
              </a:solidFill>
              <a:latin typeface="微軟正黑體" panose="020B0604030504040204" pitchFamily="34" charset="-120"/>
            </a:endParaRPr>
          </a:p>
          <a:p>
            <a:pPr>
              <a:defRPr/>
            </a:pPr>
            <a:r>
              <a:rPr lang="en-US" altLang="zh-TW" sz="1400" dirty="0">
                <a:solidFill>
                  <a:srgbClr val="262626"/>
                </a:solidFill>
                <a:latin typeface="微軟正黑體" panose="020B0604030504040204" pitchFamily="34" charset="-120"/>
              </a:rPr>
              <a:t>3.</a:t>
            </a:r>
            <a:r>
              <a:rPr lang="zh-TW" altLang="en-US" sz="1400" dirty="0">
                <a:solidFill>
                  <a:srgbClr val="262626"/>
                </a:solidFill>
                <a:latin typeface="微軟正黑體" panose="020B0604030504040204" pitchFamily="34" charset="-120"/>
              </a:rPr>
              <a:t>門禁管制</a:t>
            </a:r>
            <a:endParaRPr lang="en-US" altLang="zh-TW" sz="1400" dirty="0">
              <a:solidFill>
                <a:srgbClr val="262626"/>
              </a:solidFill>
              <a:latin typeface="微軟正黑體" panose="020B0604030504040204" pitchFamily="34" charset="-120"/>
            </a:endParaRPr>
          </a:p>
          <a:p>
            <a:pPr>
              <a:defRPr/>
            </a:pPr>
            <a:r>
              <a:rPr lang="en-US" altLang="zh-TW" sz="1400" dirty="0">
                <a:solidFill>
                  <a:srgbClr val="262626"/>
                </a:solidFill>
                <a:latin typeface="微軟正黑體" panose="020B0604030504040204" pitchFamily="34" charset="-120"/>
              </a:rPr>
              <a:t>4.</a:t>
            </a:r>
            <a:r>
              <a:rPr lang="zh-TW" altLang="en-US" sz="1400" dirty="0">
                <a:solidFill>
                  <a:srgbClr val="262626"/>
                </a:solidFill>
                <a:latin typeface="微軟正黑體" panose="020B0604030504040204" pitchFamily="34" charset="-120"/>
              </a:rPr>
              <a:t>社區安全防護</a:t>
            </a:r>
            <a:endParaRPr lang="en-US" altLang="zh-TW" sz="1400" dirty="0">
              <a:solidFill>
                <a:srgbClr val="262626"/>
              </a:solidFill>
              <a:latin typeface="微軟正黑體" panose="020B0604030504040204" pitchFamily="34" charset="-120"/>
            </a:endParaRPr>
          </a:p>
          <a:p>
            <a:pPr>
              <a:defRPr/>
            </a:pPr>
            <a:r>
              <a:rPr lang="en-US" altLang="zh-TW" sz="1400" dirty="0">
                <a:solidFill>
                  <a:srgbClr val="262626"/>
                </a:solidFill>
                <a:latin typeface="微軟正黑體" panose="020B0604030504040204" pitchFamily="34" charset="-120"/>
              </a:rPr>
              <a:t>5.</a:t>
            </a:r>
            <a:r>
              <a:rPr lang="zh-TW" altLang="en-US" sz="1400" dirty="0">
                <a:solidFill>
                  <a:srgbClr val="262626"/>
                </a:solidFill>
                <a:latin typeface="微軟正黑體" panose="020B0604030504040204" pitchFamily="34" charset="-120"/>
              </a:rPr>
              <a:t>緊急作業通報流程</a:t>
            </a:r>
          </a:p>
        </p:txBody>
      </p:sp>
      <p:sp>
        <p:nvSpPr>
          <p:cNvPr id="7" name="矩形圖說文字 60">
            <a:extLst>
              <a:ext uri="{FF2B5EF4-FFF2-40B4-BE49-F238E27FC236}">
                <a16:creationId xmlns:a16="http://schemas.microsoft.com/office/drawing/2014/main" xmlns="" id="{D18D4001-B846-4C07-84D8-D0D440E2F91D}"/>
              </a:ext>
            </a:extLst>
          </p:cNvPr>
          <p:cNvSpPr>
            <a:spLocks noChangeArrowheads="1"/>
          </p:cNvSpPr>
          <p:nvPr/>
        </p:nvSpPr>
        <p:spPr bwMode="auto">
          <a:xfrm>
            <a:off x="5143504" y="0"/>
            <a:ext cx="1500188" cy="2016125"/>
          </a:xfrm>
          <a:prstGeom prst="wedgeRectCallout">
            <a:avLst>
              <a:gd name="adj1" fmla="val 31428"/>
              <a:gd name="adj2" fmla="val 74221"/>
            </a:avLst>
          </a:prstGeom>
          <a:solidFill>
            <a:schemeClr val="accent2">
              <a:lumMod val="50000"/>
            </a:schemeClr>
          </a:solidFill>
        </p:spPr>
        <p:style>
          <a:lnRef idx="3">
            <a:schemeClr val="lt1"/>
          </a:lnRef>
          <a:fillRef idx="1">
            <a:schemeClr val="accent2"/>
          </a:fillRef>
          <a:effectRef idx="1">
            <a:schemeClr val="accent2"/>
          </a:effectRef>
          <a:fontRef idx="minor">
            <a:schemeClr val="lt1"/>
          </a:fontRef>
        </p:style>
        <p:txBody>
          <a:bodyPr anchor="ctr"/>
          <a:lstStyle/>
          <a:p>
            <a:pPr>
              <a:defRPr/>
            </a:pPr>
            <a:r>
              <a:rPr lang="zh-TW" altLang="en-US" dirty="0">
                <a:solidFill>
                  <a:schemeClr val="bg1"/>
                </a:solidFill>
                <a:latin typeface="+mn-ea"/>
              </a:rPr>
              <a:t>  </a:t>
            </a:r>
            <a:r>
              <a:rPr lang="zh-TW" altLang="en-US" sz="1400" dirty="0">
                <a:solidFill>
                  <a:schemeClr val="bg1"/>
                </a:solidFill>
                <a:latin typeface="+mn-ea"/>
              </a:rPr>
              <a:t>社區</a:t>
            </a:r>
            <a:r>
              <a:rPr lang="en-US" altLang="zh-TW" sz="1400" dirty="0">
                <a:solidFill>
                  <a:schemeClr val="bg1"/>
                </a:solidFill>
                <a:latin typeface="+mn-ea"/>
              </a:rPr>
              <a:t>VIP</a:t>
            </a:r>
            <a:r>
              <a:rPr lang="zh-TW" altLang="en-US" sz="1400" dirty="0">
                <a:solidFill>
                  <a:schemeClr val="bg1"/>
                </a:solidFill>
                <a:latin typeface="+mn-ea"/>
              </a:rPr>
              <a:t>秘書</a:t>
            </a:r>
            <a:r>
              <a:rPr lang="en-US" altLang="zh-TW" sz="1400" dirty="0">
                <a:solidFill>
                  <a:schemeClr val="bg1"/>
                </a:solidFill>
                <a:latin typeface="+mn-ea"/>
              </a:rPr>
              <a:t> </a:t>
            </a:r>
          </a:p>
          <a:p>
            <a:pPr>
              <a:defRPr/>
            </a:pPr>
            <a:r>
              <a:rPr lang="en-US" altLang="zh-TW" sz="1400" dirty="0">
                <a:solidFill>
                  <a:schemeClr val="bg1"/>
                </a:solidFill>
                <a:latin typeface="+mn-ea"/>
              </a:rPr>
              <a:t>1.</a:t>
            </a:r>
            <a:r>
              <a:rPr lang="zh-TW" altLang="en-US" sz="1400" dirty="0">
                <a:solidFill>
                  <a:schemeClr val="bg1"/>
                </a:solidFill>
                <a:latin typeface="+mn-ea"/>
              </a:rPr>
              <a:t>禮賓接待服務</a:t>
            </a:r>
            <a:endParaRPr lang="en-US" altLang="zh-TW" sz="1400" dirty="0">
              <a:solidFill>
                <a:schemeClr val="bg1"/>
              </a:solidFill>
              <a:latin typeface="+mn-ea"/>
            </a:endParaRPr>
          </a:p>
          <a:p>
            <a:pPr>
              <a:defRPr/>
            </a:pPr>
            <a:r>
              <a:rPr lang="en-US" altLang="zh-TW" sz="1400" dirty="0">
                <a:solidFill>
                  <a:schemeClr val="bg1"/>
                </a:solidFill>
                <a:latin typeface="+mn-ea"/>
              </a:rPr>
              <a:t>2.</a:t>
            </a:r>
            <a:r>
              <a:rPr lang="zh-TW" altLang="en-US" sz="1400" dirty="0">
                <a:solidFill>
                  <a:schemeClr val="bg1"/>
                </a:solidFill>
                <a:latin typeface="+mn-ea"/>
              </a:rPr>
              <a:t>文書作業整備</a:t>
            </a:r>
            <a:endParaRPr lang="en-US" altLang="zh-TW" sz="1400" dirty="0">
              <a:solidFill>
                <a:schemeClr val="bg1"/>
              </a:solidFill>
              <a:latin typeface="+mn-ea"/>
            </a:endParaRPr>
          </a:p>
          <a:p>
            <a:pPr>
              <a:defRPr/>
            </a:pPr>
            <a:r>
              <a:rPr lang="en-US" altLang="zh-TW" sz="1400" dirty="0">
                <a:solidFill>
                  <a:schemeClr val="bg1"/>
                </a:solidFill>
                <a:latin typeface="+mn-ea"/>
              </a:rPr>
              <a:t>3.</a:t>
            </a:r>
            <a:r>
              <a:rPr lang="zh-TW" altLang="en-US" sz="1400" dirty="0">
                <a:solidFill>
                  <a:schemeClr val="bg1"/>
                </a:solidFill>
                <a:latin typeface="+mn-ea"/>
              </a:rPr>
              <a:t>行政業務代辦</a:t>
            </a:r>
            <a:endParaRPr lang="en-US" altLang="zh-TW" sz="1400" dirty="0">
              <a:solidFill>
                <a:schemeClr val="bg1"/>
              </a:solidFill>
              <a:latin typeface="+mn-ea"/>
            </a:endParaRPr>
          </a:p>
          <a:p>
            <a:pPr>
              <a:defRPr/>
            </a:pPr>
            <a:r>
              <a:rPr lang="en-US" altLang="zh-TW" sz="1400" dirty="0">
                <a:solidFill>
                  <a:schemeClr val="bg1"/>
                </a:solidFill>
                <a:latin typeface="+mn-ea"/>
              </a:rPr>
              <a:t>4.</a:t>
            </a:r>
            <a:r>
              <a:rPr lang="zh-TW" altLang="en-US" sz="1400" dirty="0">
                <a:solidFill>
                  <a:schemeClr val="bg1"/>
                </a:solidFill>
                <a:latin typeface="+mn-ea"/>
              </a:rPr>
              <a:t>公設使用管理</a:t>
            </a:r>
            <a:endParaRPr lang="en-US" altLang="zh-TW" sz="1400" dirty="0">
              <a:solidFill>
                <a:schemeClr val="bg1"/>
              </a:solidFill>
              <a:latin typeface="+mn-ea"/>
            </a:endParaRPr>
          </a:p>
          <a:p>
            <a:pPr>
              <a:defRPr/>
            </a:pPr>
            <a:r>
              <a:rPr lang="en-US" altLang="zh-TW" sz="1400" dirty="0">
                <a:solidFill>
                  <a:schemeClr val="bg1"/>
                </a:solidFill>
                <a:latin typeface="+mn-ea"/>
              </a:rPr>
              <a:t>5.</a:t>
            </a:r>
            <a:r>
              <a:rPr lang="zh-TW" altLang="en-US" sz="1400" dirty="0">
                <a:solidFill>
                  <a:schemeClr val="bg1"/>
                </a:solidFill>
                <a:latin typeface="+mn-ea"/>
              </a:rPr>
              <a:t>招待訪客來賓</a:t>
            </a:r>
            <a:endParaRPr lang="en-US" altLang="zh-TW" sz="1400" dirty="0">
              <a:solidFill>
                <a:schemeClr val="bg1"/>
              </a:solidFill>
              <a:latin typeface="+mn-ea"/>
            </a:endParaRPr>
          </a:p>
          <a:p>
            <a:pPr>
              <a:defRPr/>
            </a:pPr>
            <a:r>
              <a:rPr lang="en-US" altLang="zh-TW" sz="1400" dirty="0">
                <a:solidFill>
                  <a:schemeClr val="bg1"/>
                </a:solidFill>
                <a:latin typeface="+mn-ea"/>
              </a:rPr>
              <a:t>6.</a:t>
            </a:r>
            <a:r>
              <a:rPr lang="zh-TW" altLang="en-US" sz="1400" dirty="0">
                <a:solidFill>
                  <a:schemeClr val="bg1"/>
                </a:solidFill>
                <a:latin typeface="+mn-ea"/>
              </a:rPr>
              <a:t>櫃台服務</a:t>
            </a:r>
            <a:endParaRPr lang="en-US" altLang="zh-TW" sz="1400" dirty="0">
              <a:solidFill>
                <a:schemeClr val="bg1"/>
              </a:solidFill>
              <a:latin typeface="+mn-ea"/>
            </a:endParaRPr>
          </a:p>
          <a:p>
            <a:pPr>
              <a:defRPr/>
            </a:pPr>
            <a:r>
              <a:rPr lang="en-US" altLang="zh-TW" sz="1400" dirty="0">
                <a:solidFill>
                  <a:schemeClr val="bg1"/>
                </a:solidFill>
                <a:latin typeface="+mn-ea"/>
              </a:rPr>
              <a:t>7.</a:t>
            </a:r>
            <a:r>
              <a:rPr lang="zh-TW" altLang="en-US" sz="1400" dirty="0">
                <a:solidFill>
                  <a:schemeClr val="bg1"/>
                </a:solidFill>
                <a:latin typeface="+mn-ea"/>
              </a:rPr>
              <a:t>其他</a:t>
            </a:r>
          </a:p>
        </p:txBody>
      </p:sp>
      <p:pic>
        <p:nvPicPr>
          <p:cNvPr id="8" name="Picture 3">
            <a:extLst>
              <a:ext uri="{FF2B5EF4-FFF2-40B4-BE49-F238E27FC236}">
                <a16:creationId xmlns:a16="http://schemas.microsoft.com/office/drawing/2014/main" xmlns="" id="{8FECBCB9-0A5D-4DD7-BF39-3D240965BD98}"/>
              </a:ext>
            </a:extLst>
          </p:cNvPr>
          <p:cNvPicPr>
            <a:picLocks noChangeAspect="1" noChangeArrowheads="1"/>
          </p:cNvPicPr>
          <p:nvPr/>
        </p:nvPicPr>
        <p:blipFill>
          <a:blip r:embed="rId5"/>
          <a:srcRect/>
          <a:stretch>
            <a:fillRect/>
          </a:stretch>
        </p:blipFill>
        <p:spPr bwMode="auto">
          <a:xfrm>
            <a:off x="6640530" y="2357430"/>
            <a:ext cx="431800" cy="1244600"/>
          </a:xfrm>
          <a:prstGeom prst="rect">
            <a:avLst/>
          </a:prstGeom>
          <a:noFill/>
          <a:ln w="9525">
            <a:noFill/>
            <a:miter lim="800000"/>
            <a:headEnd/>
            <a:tailEnd/>
          </a:ln>
        </p:spPr>
      </p:pic>
      <p:sp>
        <p:nvSpPr>
          <p:cNvPr id="9" name="矩形圖說文字 60">
            <a:extLst>
              <a:ext uri="{FF2B5EF4-FFF2-40B4-BE49-F238E27FC236}">
                <a16:creationId xmlns:a16="http://schemas.microsoft.com/office/drawing/2014/main" xmlns="" id="{326AA49F-9FA7-4444-9C7E-AD27540EE1B9}"/>
              </a:ext>
            </a:extLst>
          </p:cNvPr>
          <p:cNvSpPr>
            <a:spLocks noChangeArrowheads="1"/>
          </p:cNvSpPr>
          <p:nvPr/>
        </p:nvSpPr>
        <p:spPr bwMode="auto">
          <a:xfrm>
            <a:off x="7143768" y="357166"/>
            <a:ext cx="1733550" cy="1785938"/>
          </a:xfrm>
          <a:prstGeom prst="wedgeRectCallout">
            <a:avLst>
              <a:gd name="adj1" fmla="val -57205"/>
              <a:gd name="adj2" fmla="val 103571"/>
            </a:avLst>
          </a:prstGeom>
          <a:solidFill>
            <a:schemeClr val="accent4">
              <a:lumMod val="75000"/>
            </a:schemeClr>
          </a:solidFill>
        </p:spPr>
        <p:style>
          <a:lnRef idx="3">
            <a:schemeClr val="lt1"/>
          </a:lnRef>
          <a:fillRef idx="1">
            <a:schemeClr val="accent2"/>
          </a:fillRef>
          <a:effectRef idx="1">
            <a:schemeClr val="accent2"/>
          </a:effectRef>
          <a:fontRef idx="minor">
            <a:schemeClr val="lt1"/>
          </a:fontRef>
        </p:style>
        <p:txBody>
          <a:bodyPr anchor="ctr"/>
          <a:lstStyle/>
          <a:p>
            <a:pPr>
              <a:defRPr/>
            </a:pPr>
            <a:r>
              <a:rPr lang="zh-TW" altLang="en-US" sz="1400" dirty="0" smtClean="0">
                <a:latin typeface="Calibri" panose="020F0502020204030204" pitchFamily="34" charset="0"/>
                <a:ea typeface="超研澤細圓" pitchFamily="49" charset="-120"/>
              </a:rPr>
              <a:t>社區經理</a:t>
            </a:r>
            <a:endParaRPr lang="en-US" altLang="zh-TW" sz="1400" dirty="0" smtClean="0">
              <a:latin typeface="Calibri" panose="020F0502020204030204" pitchFamily="34" charset="0"/>
              <a:ea typeface="超研澤細圓" pitchFamily="49" charset="-120"/>
            </a:endParaRPr>
          </a:p>
          <a:p>
            <a:pPr>
              <a:defRPr/>
            </a:pPr>
            <a:r>
              <a:rPr lang="en-US" altLang="zh-TW" sz="1400" dirty="0" smtClean="0">
                <a:latin typeface="Calibri" panose="020F0502020204030204" pitchFamily="34" charset="0"/>
                <a:ea typeface="超研澤細圓" pitchFamily="49" charset="-120"/>
              </a:rPr>
              <a:t>1</a:t>
            </a:r>
            <a:r>
              <a:rPr lang="en-US" altLang="zh-TW" sz="1400" dirty="0">
                <a:latin typeface="Calibri" panose="020F0502020204030204" pitchFamily="34" charset="0"/>
                <a:ea typeface="超研澤細圓" pitchFamily="49" charset="-120"/>
              </a:rPr>
              <a:t>.</a:t>
            </a:r>
            <a:r>
              <a:rPr lang="zh-TW" altLang="en-US" sz="1400" dirty="0">
                <a:latin typeface="Calibri" panose="020F0502020204030204" pitchFamily="34" charset="0"/>
                <a:ea typeface="超研澤細圓" pitchFamily="49" charset="-120"/>
              </a:rPr>
              <a:t>文書作業整備</a:t>
            </a:r>
            <a:endParaRPr lang="en-US" altLang="zh-TW" sz="1400" dirty="0">
              <a:latin typeface="Calibri" panose="020F0502020204030204" pitchFamily="34" charset="0"/>
              <a:ea typeface="超研澤細圓" pitchFamily="49" charset="-120"/>
            </a:endParaRPr>
          </a:p>
          <a:p>
            <a:pPr>
              <a:defRPr/>
            </a:pPr>
            <a:r>
              <a:rPr lang="en-US" altLang="zh-TW" sz="1400" dirty="0">
                <a:latin typeface="Calibri" panose="020F0502020204030204" pitchFamily="34" charset="0"/>
                <a:ea typeface="超研澤細圓" pitchFamily="49" charset="-120"/>
              </a:rPr>
              <a:t>2.</a:t>
            </a:r>
            <a:r>
              <a:rPr lang="zh-TW" altLang="en-US" sz="1400" dirty="0">
                <a:latin typeface="Calibri" panose="020F0502020204030204" pitchFamily="34" charset="0"/>
                <a:ea typeface="超研澤細圓" pitchFamily="49" charset="-120"/>
              </a:rPr>
              <a:t>行政業務代辦</a:t>
            </a:r>
            <a:endParaRPr lang="en-US" altLang="zh-TW" sz="1400" dirty="0">
              <a:latin typeface="Calibri" panose="020F0502020204030204" pitchFamily="34" charset="0"/>
              <a:ea typeface="超研澤細圓" pitchFamily="49" charset="-120"/>
            </a:endParaRPr>
          </a:p>
          <a:p>
            <a:pPr>
              <a:defRPr/>
            </a:pPr>
            <a:r>
              <a:rPr lang="en-US" altLang="zh-TW" sz="1400" dirty="0">
                <a:latin typeface="Calibri" panose="020F0502020204030204" pitchFamily="34" charset="0"/>
                <a:ea typeface="超研澤細圓" pitchFamily="49" charset="-120"/>
              </a:rPr>
              <a:t>3.</a:t>
            </a:r>
            <a:r>
              <a:rPr lang="zh-TW" altLang="en-US" sz="1400" dirty="0">
                <a:latin typeface="Calibri" panose="020F0502020204030204" pitchFamily="34" charset="0"/>
                <a:ea typeface="超研澤細圓" pitchFamily="49" charset="-120"/>
              </a:rPr>
              <a:t>公設使用管理</a:t>
            </a:r>
            <a:endParaRPr lang="en-US" altLang="zh-TW" sz="1400" dirty="0">
              <a:latin typeface="Calibri" panose="020F0502020204030204" pitchFamily="34" charset="0"/>
              <a:ea typeface="超研澤細圓" pitchFamily="49" charset="-120"/>
            </a:endParaRPr>
          </a:p>
          <a:p>
            <a:pPr>
              <a:defRPr/>
            </a:pPr>
            <a:r>
              <a:rPr lang="en-US" altLang="zh-TW" sz="1400" dirty="0">
                <a:latin typeface="Calibri" panose="020F0502020204030204" pitchFamily="34" charset="0"/>
                <a:ea typeface="超研澤細圓" pitchFamily="49" charset="-120"/>
              </a:rPr>
              <a:t>4.</a:t>
            </a:r>
            <a:r>
              <a:rPr lang="zh-TW" altLang="en-US" sz="1400" dirty="0">
                <a:latin typeface="Calibri" panose="020F0502020204030204" pitchFamily="34" charset="0"/>
                <a:ea typeface="超研澤細圓" pitchFamily="49" charset="-120"/>
              </a:rPr>
              <a:t>招待訪客來賓</a:t>
            </a:r>
            <a:endParaRPr lang="en-US" altLang="zh-TW" sz="1400" dirty="0">
              <a:latin typeface="Calibri" panose="020F0502020204030204" pitchFamily="34" charset="0"/>
              <a:ea typeface="超研澤細圓" pitchFamily="49" charset="-120"/>
            </a:endParaRPr>
          </a:p>
          <a:p>
            <a:pPr>
              <a:defRPr/>
            </a:pPr>
            <a:r>
              <a:rPr lang="en-US" altLang="zh-TW" sz="1400" dirty="0">
                <a:latin typeface="Calibri" panose="020F0502020204030204" pitchFamily="34" charset="0"/>
                <a:ea typeface="超研澤細圓" pitchFamily="49" charset="-120"/>
              </a:rPr>
              <a:t>5.</a:t>
            </a:r>
            <a:r>
              <a:rPr lang="zh-TW" altLang="en-US" sz="1400" dirty="0">
                <a:latin typeface="Calibri" panose="020F0502020204030204" pitchFamily="34" charset="0"/>
                <a:ea typeface="超研澤細圓" pitchFamily="49" charset="-120"/>
              </a:rPr>
              <a:t>裝潢施工申請</a:t>
            </a:r>
            <a:endParaRPr lang="en-US" altLang="zh-TW" sz="1400" dirty="0">
              <a:latin typeface="Calibri" panose="020F0502020204030204" pitchFamily="34" charset="0"/>
              <a:ea typeface="超研澤細圓" pitchFamily="49" charset="-120"/>
            </a:endParaRPr>
          </a:p>
          <a:p>
            <a:pPr>
              <a:defRPr/>
            </a:pPr>
            <a:r>
              <a:rPr lang="en-US" altLang="zh-TW" sz="1400" dirty="0">
                <a:latin typeface="Calibri" panose="020F0502020204030204" pitchFamily="34" charset="0"/>
                <a:ea typeface="超研澤細圓" pitchFamily="49" charset="-120"/>
              </a:rPr>
              <a:t>6.</a:t>
            </a:r>
            <a:r>
              <a:rPr lang="zh-TW" altLang="en-US" sz="1400" dirty="0">
                <a:latin typeface="Calibri" panose="020F0502020204030204" pitchFamily="34" charset="0"/>
                <a:ea typeface="超研澤細圓" pitchFamily="49" charset="-120"/>
              </a:rPr>
              <a:t>櫃台服務</a:t>
            </a:r>
            <a:endParaRPr lang="en-US" altLang="zh-TW" sz="1400" dirty="0">
              <a:latin typeface="Calibri" panose="020F0502020204030204" pitchFamily="34" charset="0"/>
              <a:ea typeface="超研澤細圓" pitchFamily="49" charset="-120"/>
            </a:endParaRPr>
          </a:p>
          <a:p>
            <a:pPr>
              <a:defRPr/>
            </a:pPr>
            <a:r>
              <a:rPr lang="en-US" altLang="zh-TW" sz="1400" dirty="0">
                <a:latin typeface="Calibri" panose="020F0502020204030204" pitchFamily="34" charset="0"/>
                <a:ea typeface="超研澤細圓" pitchFamily="49" charset="-120"/>
              </a:rPr>
              <a:t>7.</a:t>
            </a:r>
            <a:r>
              <a:rPr lang="zh-TW" altLang="en-US" sz="1400" dirty="0">
                <a:latin typeface="Calibri" panose="020F0502020204030204" pitchFamily="34" charset="0"/>
                <a:ea typeface="超研澤細圓" pitchFamily="49" charset="-120"/>
              </a:rPr>
              <a:t>其他</a:t>
            </a:r>
          </a:p>
        </p:txBody>
      </p:sp>
      <p:sp>
        <p:nvSpPr>
          <p:cNvPr id="11" name="矩形圖說文字 10">
            <a:extLst>
              <a:ext uri="{FF2B5EF4-FFF2-40B4-BE49-F238E27FC236}">
                <a16:creationId xmlns:a16="http://schemas.microsoft.com/office/drawing/2014/main" xmlns="" id="{532175C9-BD41-49ED-B3F9-9607017288CC}"/>
              </a:ext>
            </a:extLst>
          </p:cNvPr>
          <p:cNvSpPr>
            <a:spLocks noChangeArrowheads="1"/>
          </p:cNvSpPr>
          <p:nvPr/>
        </p:nvSpPr>
        <p:spPr bwMode="auto">
          <a:xfrm>
            <a:off x="500051" y="5000636"/>
            <a:ext cx="2357437" cy="1214437"/>
          </a:xfrm>
          <a:prstGeom prst="wedgeRectCallout">
            <a:avLst>
              <a:gd name="adj1" fmla="val 103101"/>
              <a:gd name="adj2" fmla="val 16263"/>
            </a:avLst>
          </a:prstGeom>
          <a:solidFill>
            <a:schemeClr val="accent6">
              <a:lumMod val="60000"/>
              <a:lumOff val="40000"/>
            </a:schemeClr>
          </a:solidFill>
        </p:spPr>
        <p:style>
          <a:lnRef idx="3">
            <a:schemeClr val="lt1"/>
          </a:lnRef>
          <a:fillRef idx="1">
            <a:schemeClr val="accent2"/>
          </a:fillRef>
          <a:effectRef idx="1">
            <a:schemeClr val="accent2"/>
          </a:effectRef>
          <a:fontRef idx="minor">
            <a:schemeClr val="lt1"/>
          </a:fontRef>
        </p:style>
        <p:txBody>
          <a:bodyPr/>
          <a:lstStyle/>
          <a:p>
            <a:pPr>
              <a:defRPr/>
            </a:pPr>
            <a:r>
              <a:rPr lang="zh-TW" altLang="en-US" sz="1400" dirty="0">
                <a:solidFill>
                  <a:srgbClr val="262626"/>
                </a:solidFill>
                <a:latin typeface="微軟正黑體" panose="020B0604030504040204" pitchFamily="34" charset="-120"/>
              </a:rPr>
              <a:t>社區車道安全人員</a:t>
            </a:r>
            <a:r>
              <a:rPr lang="en-US" altLang="zh-TW" sz="1400" dirty="0">
                <a:solidFill>
                  <a:srgbClr val="262626"/>
                </a:solidFill>
                <a:latin typeface="微軟正黑體" panose="020B0604030504040204" pitchFamily="34" charset="-120"/>
              </a:rPr>
              <a:t>(24H)</a:t>
            </a:r>
          </a:p>
          <a:p>
            <a:pPr>
              <a:defRPr/>
            </a:pPr>
            <a:r>
              <a:rPr lang="en-US" altLang="zh-TW" sz="1400" dirty="0">
                <a:solidFill>
                  <a:srgbClr val="262626"/>
                </a:solidFill>
                <a:latin typeface="微軟正黑體" panose="020B0604030504040204" pitchFamily="34" charset="-120"/>
              </a:rPr>
              <a:t>1.</a:t>
            </a:r>
            <a:r>
              <a:rPr lang="zh-TW" altLang="en-US" sz="1400" dirty="0">
                <a:solidFill>
                  <a:srgbClr val="262626"/>
                </a:solidFill>
                <a:latin typeface="微軟正黑體" panose="020B0604030504040204" pitchFamily="34" charset="-120"/>
              </a:rPr>
              <a:t>車輛出入管制</a:t>
            </a:r>
            <a:endParaRPr lang="en-US" altLang="zh-TW" sz="1400" dirty="0">
              <a:solidFill>
                <a:srgbClr val="262626"/>
              </a:solidFill>
              <a:latin typeface="微軟正黑體" panose="020B0604030504040204" pitchFamily="34" charset="-120"/>
            </a:endParaRPr>
          </a:p>
          <a:p>
            <a:pPr>
              <a:defRPr/>
            </a:pPr>
            <a:r>
              <a:rPr lang="en-US" altLang="zh-TW" sz="1400" dirty="0">
                <a:solidFill>
                  <a:srgbClr val="262626"/>
                </a:solidFill>
                <a:latin typeface="微軟正黑體" panose="020B0604030504040204" pitchFamily="34" charset="-120"/>
              </a:rPr>
              <a:t>2.</a:t>
            </a:r>
            <a:r>
              <a:rPr lang="zh-TW" altLang="en-US" sz="1400" dirty="0">
                <a:solidFill>
                  <a:srgbClr val="262626"/>
                </a:solidFill>
                <a:latin typeface="微軟正黑體" panose="020B0604030504040204" pitchFamily="34" charset="-120"/>
              </a:rPr>
              <a:t>門禁管制</a:t>
            </a:r>
            <a:endParaRPr lang="en-US" altLang="zh-TW" sz="1400" dirty="0">
              <a:solidFill>
                <a:srgbClr val="262626"/>
              </a:solidFill>
              <a:latin typeface="微軟正黑體" panose="020B0604030504040204" pitchFamily="34" charset="-120"/>
            </a:endParaRPr>
          </a:p>
          <a:p>
            <a:pPr>
              <a:defRPr/>
            </a:pPr>
            <a:r>
              <a:rPr lang="en-US" altLang="zh-TW" sz="1400" dirty="0">
                <a:solidFill>
                  <a:srgbClr val="262626"/>
                </a:solidFill>
                <a:latin typeface="微軟正黑體" panose="020B0604030504040204" pitchFamily="34" charset="-120"/>
              </a:rPr>
              <a:t>3.</a:t>
            </a:r>
            <a:r>
              <a:rPr lang="zh-TW" altLang="en-US" sz="1400" dirty="0">
                <a:solidFill>
                  <a:srgbClr val="262626"/>
                </a:solidFill>
                <a:latin typeface="微軟正黑體" panose="020B0604030504040204" pitchFamily="34" charset="-120"/>
              </a:rPr>
              <a:t>社區安全防護</a:t>
            </a:r>
            <a:endParaRPr lang="en-US" altLang="zh-TW" sz="1400" dirty="0">
              <a:solidFill>
                <a:srgbClr val="262626"/>
              </a:solidFill>
              <a:latin typeface="微軟正黑體" panose="020B0604030504040204" pitchFamily="34" charset="-120"/>
            </a:endParaRPr>
          </a:p>
          <a:p>
            <a:pPr>
              <a:defRPr/>
            </a:pPr>
            <a:r>
              <a:rPr lang="en-US" altLang="zh-TW" sz="1400" dirty="0">
                <a:solidFill>
                  <a:srgbClr val="262626"/>
                </a:solidFill>
                <a:latin typeface="微軟正黑體" panose="020B0604030504040204" pitchFamily="34" charset="-120"/>
              </a:rPr>
              <a:t>4.</a:t>
            </a:r>
            <a:r>
              <a:rPr lang="zh-TW" altLang="en-US" sz="1400" dirty="0">
                <a:solidFill>
                  <a:srgbClr val="262626"/>
                </a:solidFill>
                <a:latin typeface="微軟正黑體" panose="020B0604030504040204" pitchFamily="34" charset="-120"/>
              </a:rPr>
              <a:t>緊急作業通報流程</a:t>
            </a:r>
          </a:p>
          <a:p>
            <a:pPr>
              <a:defRPr/>
            </a:pPr>
            <a:endParaRPr lang="en-US" altLang="zh-TW" sz="1400" dirty="0">
              <a:solidFill>
                <a:srgbClr val="262626"/>
              </a:solidFill>
              <a:latin typeface="微軟正黑體" panose="020B0604030504040204" pitchFamily="34" charset="-120"/>
            </a:endParaRPr>
          </a:p>
          <a:p>
            <a:pPr>
              <a:defRPr/>
            </a:pPr>
            <a:endParaRPr lang="en-US" altLang="zh-TW" sz="1400" dirty="0">
              <a:solidFill>
                <a:srgbClr val="262626"/>
              </a:solidFill>
              <a:latin typeface="微軟正黑體" panose="020B0604030504040204" pitchFamily="34" charset="-120"/>
            </a:endParaRPr>
          </a:p>
          <a:p>
            <a:pPr>
              <a:defRPr/>
            </a:pPr>
            <a:endParaRPr lang="en-US" altLang="zh-TW" sz="1400" dirty="0">
              <a:solidFill>
                <a:srgbClr val="262626"/>
              </a:solidFill>
              <a:latin typeface="微軟正黑體" panose="020B0604030504040204" pitchFamily="34" charset="-120"/>
            </a:endParaRPr>
          </a:p>
        </p:txBody>
      </p:sp>
      <p:sp>
        <p:nvSpPr>
          <p:cNvPr id="12" name="矩形圖說文字 60">
            <a:extLst>
              <a:ext uri="{FF2B5EF4-FFF2-40B4-BE49-F238E27FC236}">
                <a16:creationId xmlns:a16="http://schemas.microsoft.com/office/drawing/2014/main" xmlns="" id="{4C844A5A-0838-47FB-96DB-A67A3728C4AA}"/>
              </a:ext>
            </a:extLst>
          </p:cNvPr>
          <p:cNvSpPr>
            <a:spLocks noChangeArrowheads="1"/>
          </p:cNvSpPr>
          <p:nvPr/>
        </p:nvSpPr>
        <p:spPr bwMode="auto">
          <a:xfrm>
            <a:off x="6929454" y="5000636"/>
            <a:ext cx="2000280" cy="1571636"/>
          </a:xfrm>
          <a:prstGeom prst="wedgeRectCallout">
            <a:avLst>
              <a:gd name="adj1" fmla="val -41841"/>
              <a:gd name="adj2" fmla="val -118563"/>
            </a:avLst>
          </a:prstGeom>
          <a:solidFill>
            <a:schemeClr val="accent6">
              <a:lumMod val="60000"/>
              <a:lumOff val="40000"/>
            </a:schemeClr>
          </a:solidFill>
        </p:spPr>
        <p:style>
          <a:lnRef idx="3">
            <a:schemeClr val="lt1"/>
          </a:lnRef>
          <a:fillRef idx="1">
            <a:schemeClr val="accent2"/>
          </a:fillRef>
          <a:effectRef idx="1">
            <a:schemeClr val="accent2"/>
          </a:effectRef>
          <a:fontRef idx="minor">
            <a:schemeClr val="lt1"/>
          </a:fontRef>
        </p:style>
        <p:txBody>
          <a:bodyPr anchor="ctr"/>
          <a:lstStyle/>
          <a:p>
            <a:pPr>
              <a:defRPr/>
            </a:pPr>
            <a:r>
              <a:rPr lang="zh-TW" altLang="en-US" dirty="0">
                <a:solidFill>
                  <a:srgbClr val="262626"/>
                </a:solidFill>
                <a:latin typeface="微軟正黑體" panose="020B0604030504040204" pitchFamily="34" charset="-120"/>
              </a:rPr>
              <a:t> </a:t>
            </a:r>
            <a:r>
              <a:rPr lang="zh-TW" altLang="en-US" sz="1400" dirty="0">
                <a:solidFill>
                  <a:srgbClr val="262626"/>
                </a:solidFill>
                <a:latin typeface="微軟正黑體" panose="020B0604030504040204" pitchFamily="34" charset="-120"/>
              </a:rPr>
              <a:t>社區大廳哨安全人員</a:t>
            </a:r>
            <a:r>
              <a:rPr lang="en-US" altLang="zh-TW" sz="1400" dirty="0">
                <a:solidFill>
                  <a:srgbClr val="262626"/>
                </a:solidFill>
                <a:latin typeface="微軟正黑體" panose="020B0604030504040204" pitchFamily="34" charset="-120"/>
              </a:rPr>
              <a:t>(24H)</a:t>
            </a:r>
          </a:p>
          <a:p>
            <a:pPr>
              <a:defRPr/>
            </a:pPr>
            <a:r>
              <a:rPr lang="en-US" altLang="zh-TW" sz="1400" dirty="0">
                <a:solidFill>
                  <a:srgbClr val="262626"/>
                </a:solidFill>
                <a:latin typeface="微軟正黑體" panose="020B0604030504040204" pitchFamily="34" charset="-120"/>
              </a:rPr>
              <a:t>1.</a:t>
            </a:r>
            <a:r>
              <a:rPr lang="zh-TW" altLang="en-US" sz="1400" dirty="0">
                <a:solidFill>
                  <a:srgbClr val="262626"/>
                </a:solidFill>
                <a:latin typeface="微軟正黑體" panose="020B0604030504040204" pitchFamily="34" charset="-120"/>
              </a:rPr>
              <a:t>門僮服務</a:t>
            </a:r>
            <a:endParaRPr lang="en-US" altLang="zh-TW" sz="1400" dirty="0">
              <a:solidFill>
                <a:srgbClr val="262626"/>
              </a:solidFill>
              <a:latin typeface="微軟正黑體" panose="020B0604030504040204" pitchFamily="34" charset="-120"/>
            </a:endParaRPr>
          </a:p>
          <a:p>
            <a:pPr>
              <a:defRPr/>
            </a:pPr>
            <a:r>
              <a:rPr lang="en-US" altLang="zh-TW" sz="1400" dirty="0">
                <a:solidFill>
                  <a:srgbClr val="262626"/>
                </a:solidFill>
                <a:latin typeface="微軟正黑體" panose="020B0604030504040204" pitchFamily="34" charset="-120"/>
              </a:rPr>
              <a:t>2.</a:t>
            </a:r>
            <a:r>
              <a:rPr lang="zh-TW" altLang="en-US" sz="1400" dirty="0">
                <a:solidFill>
                  <a:srgbClr val="262626"/>
                </a:solidFill>
                <a:latin typeface="微軟正黑體" panose="020B0604030504040204" pitchFamily="34" charset="-120"/>
              </a:rPr>
              <a:t>迎賓接待</a:t>
            </a:r>
            <a:endParaRPr lang="en-US" altLang="zh-TW" sz="1400" dirty="0">
              <a:solidFill>
                <a:srgbClr val="262626"/>
              </a:solidFill>
              <a:latin typeface="微軟正黑體" panose="020B0604030504040204" pitchFamily="34" charset="-120"/>
            </a:endParaRPr>
          </a:p>
          <a:p>
            <a:pPr>
              <a:defRPr/>
            </a:pPr>
            <a:r>
              <a:rPr lang="en-US" altLang="zh-TW" sz="1400" dirty="0">
                <a:solidFill>
                  <a:srgbClr val="262626"/>
                </a:solidFill>
                <a:latin typeface="微軟正黑體" panose="020B0604030504040204" pitchFamily="34" charset="-120"/>
              </a:rPr>
              <a:t>3.</a:t>
            </a:r>
            <a:r>
              <a:rPr lang="zh-TW" altLang="en-US" sz="1400" dirty="0">
                <a:solidFill>
                  <a:srgbClr val="262626"/>
                </a:solidFill>
                <a:latin typeface="微軟正黑體" panose="020B0604030504040204" pitchFamily="34" charset="-120"/>
              </a:rPr>
              <a:t>門禁管制</a:t>
            </a:r>
            <a:endParaRPr lang="en-US" altLang="zh-TW" sz="1400" dirty="0">
              <a:solidFill>
                <a:srgbClr val="262626"/>
              </a:solidFill>
              <a:latin typeface="微軟正黑體" panose="020B0604030504040204" pitchFamily="34" charset="-120"/>
            </a:endParaRPr>
          </a:p>
          <a:p>
            <a:pPr>
              <a:defRPr/>
            </a:pPr>
            <a:r>
              <a:rPr lang="en-US" altLang="zh-TW" sz="1400" dirty="0">
                <a:solidFill>
                  <a:srgbClr val="262626"/>
                </a:solidFill>
                <a:latin typeface="微軟正黑體" panose="020B0604030504040204" pitchFamily="34" charset="-120"/>
              </a:rPr>
              <a:t>4.</a:t>
            </a:r>
            <a:r>
              <a:rPr lang="zh-TW" altLang="en-US" sz="1400" dirty="0">
                <a:solidFill>
                  <a:srgbClr val="262626"/>
                </a:solidFill>
                <a:latin typeface="微軟正黑體" panose="020B0604030504040204" pitchFamily="34" charset="-120"/>
              </a:rPr>
              <a:t>社區安全防護</a:t>
            </a:r>
            <a:endParaRPr lang="en-US" altLang="zh-TW" sz="1400" dirty="0">
              <a:solidFill>
                <a:srgbClr val="262626"/>
              </a:solidFill>
              <a:latin typeface="微軟正黑體" panose="020B0604030504040204" pitchFamily="34" charset="-120"/>
            </a:endParaRPr>
          </a:p>
          <a:p>
            <a:pPr>
              <a:defRPr/>
            </a:pPr>
            <a:r>
              <a:rPr lang="en-US" altLang="zh-TW" sz="1400" dirty="0">
                <a:solidFill>
                  <a:srgbClr val="262626"/>
                </a:solidFill>
                <a:latin typeface="微軟正黑體" panose="020B0604030504040204" pitchFamily="34" charset="-120"/>
              </a:rPr>
              <a:t>5.</a:t>
            </a:r>
            <a:r>
              <a:rPr lang="zh-TW" altLang="en-US" sz="1400" dirty="0">
                <a:solidFill>
                  <a:srgbClr val="262626"/>
                </a:solidFill>
                <a:latin typeface="微軟正黑體" panose="020B0604030504040204" pitchFamily="34" charset="-120"/>
              </a:rPr>
              <a:t>緊急作業通報流程</a:t>
            </a:r>
          </a:p>
        </p:txBody>
      </p:sp>
      <p:pic>
        <p:nvPicPr>
          <p:cNvPr id="144386" name="Picture 2"/>
          <p:cNvPicPr>
            <a:picLocks noChangeAspect="1" noChangeArrowheads="1"/>
          </p:cNvPicPr>
          <p:nvPr/>
        </p:nvPicPr>
        <p:blipFill>
          <a:blip r:embed="rId6"/>
          <a:srcRect/>
          <a:stretch>
            <a:fillRect/>
          </a:stretch>
        </p:blipFill>
        <p:spPr bwMode="auto">
          <a:xfrm>
            <a:off x="5715008" y="4714884"/>
            <a:ext cx="357190" cy="919163"/>
          </a:xfrm>
          <a:prstGeom prst="rect">
            <a:avLst/>
          </a:prstGeom>
          <a:noFill/>
          <a:ln w="9525">
            <a:noFill/>
            <a:miter lim="800000"/>
            <a:headEnd/>
            <a:tailEnd/>
          </a:ln>
          <a:effectLst/>
        </p:spPr>
      </p:pic>
      <p:pic>
        <p:nvPicPr>
          <p:cNvPr id="144387" name="Picture 3"/>
          <p:cNvPicPr>
            <a:picLocks noChangeAspect="1" noChangeArrowheads="1"/>
          </p:cNvPicPr>
          <p:nvPr/>
        </p:nvPicPr>
        <p:blipFill>
          <a:blip r:embed="rId7"/>
          <a:srcRect/>
          <a:stretch>
            <a:fillRect/>
          </a:stretch>
        </p:blipFill>
        <p:spPr bwMode="auto">
          <a:xfrm>
            <a:off x="4429124" y="5357826"/>
            <a:ext cx="543131" cy="1023937"/>
          </a:xfrm>
          <a:prstGeom prst="rect">
            <a:avLst/>
          </a:prstGeom>
          <a:noFill/>
          <a:ln w="9525">
            <a:noFill/>
            <a:miter lim="800000"/>
            <a:headEnd/>
            <a:tailEnd/>
          </a:ln>
          <a:effectLst/>
        </p:spPr>
      </p:pic>
      <p:pic>
        <p:nvPicPr>
          <p:cNvPr id="10" name="Picture 6" descr="保全人偶">
            <a:extLst>
              <a:ext uri="{FF2B5EF4-FFF2-40B4-BE49-F238E27FC236}">
                <a16:creationId xmlns:a16="http://schemas.microsoft.com/office/drawing/2014/main" xmlns="" id="{6FBCE692-6DA5-4334-B2A7-C52F764383E8}"/>
              </a:ext>
            </a:extLst>
          </p:cNvPr>
          <p:cNvPicPr>
            <a:picLocks noChangeAspect="1" noChangeArrowheads="1"/>
          </p:cNvPicPr>
          <p:nvPr/>
        </p:nvPicPr>
        <p:blipFill>
          <a:blip r:embed="rId4"/>
          <a:srcRect/>
          <a:stretch>
            <a:fillRect/>
          </a:stretch>
        </p:blipFill>
        <p:spPr bwMode="auto">
          <a:xfrm>
            <a:off x="6858016" y="3571876"/>
            <a:ext cx="336550" cy="928688"/>
          </a:xfrm>
          <a:prstGeom prst="rect">
            <a:avLst/>
          </a:prstGeom>
          <a:noFill/>
          <a:ln w="9525">
            <a:noFill/>
            <a:miter lim="800000"/>
            <a:headEnd/>
            <a:tailEnd/>
          </a:ln>
        </p:spPr>
      </p:pic>
      <p:pic>
        <p:nvPicPr>
          <p:cNvPr id="17" name="Picture 3"/>
          <p:cNvPicPr>
            <a:picLocks noChangeAspect="1" noChangeArrowheads="1"/>
          </p:cNvPicPr>
          <p:nvPr/>
        </p:nvPicPr>
        <p:blipFill>
          <a:blip r:embed="rId7"/>
          <a:srcRect/>
          <a:stretch>
            <a:fillRect/>
          </a:stretch>
        </p:blipFill>
        <p:spPr bwMode="auto">
          <a:xfrm>
            <a:off x="3214678" y="928670"/>
            <a:ext cx="543131" cy="1023937"/>
          </a:xfrm>
          <a:prstGeom prst="rect">
            <a:avLst/>
          </a:prstGeom>
          <a:noFill/>
          <a:ln w="9525">
            <a:noFill/>
            <a:miter lim="800000"/>
            <a:headEnd/>
            <a:tailEnd/>
          </a:ln>
          <a:effectLst/>
        </p:spPr>
      </p:pic>
      <p:sp>
        <p:nvSpPr>
          <p:cNvPr id="18" name="矩形圖說文字 17">
            <a:extLst>
              <a:ext uri="{FF2B5EF4-FFF2-40B4-BE49-F238E27FC236}">
                <a16:creationId xmlns:a16="http://schemas.microsoft.com/office/drawing/2014/main" xmlns="" id="{532175C9-BD41-49ED-B3F9-9607017288CC}"/>
              </a:ext>
            </a:extLst>
          </p:cNvPr>
          <p:cNvSpPr>
            <a:spLocks noChangeArrowheads="1"/>
          </p:cNvSpPr>
          <p:nvPr/>
        </p:nvSpPr>
        <p:spPr bwMode="auto">
          <a:xfrm>
            <a:off x="214282" y="857232"/>
            <a:ext cx="2143155" cy="1214437"/>
          </a:xfrm>
          <a:prstGeom prst="wedgeRectCallout">
            <a:avLst>
              <a:gd name="adj1" fmla="val 85405"/>
              <a:gd name="adj2" fmla="val -20704"/>
            </a:avLst>
          </a:prstGeom>
          <a:solidFill>
            <a:schemeClr val="accent6">
              <a:lumMod val="60000"/>
              <a:lumOff val="40000"/>
            </a:schemeClr>
          </a:solidFill>
        </p:spPr>
        <p:style>
          <a:lnRef idx="3">
            <a:schemeClr val="lt1"/>
          </a:lnRef>
          <a:fillRef idx="1">
            <a:schemeClr val="accent2"/>
          </a:fillRef>
          <a:effectRef idx="1">
            <a:schemeClr val="accent2"/>
          </a:effectRef>
          <a:fontRef idx="minor">
            <a:schemeClr val="lt1"/>
          </a:fontRef>
        </p:style>
        <p:txBody>
          <a:bodyPr/>
          <a:lstStyle/>
          <a:p>
            <a:pPr>
              <a:defRPr/>
            </a:pPr>
            <a:r>
              <a:rPr lang="zh-TW" altLang="en-US" sz="1400" dirty="0">
                <a:solidFill>
                  <a:srgbClr val="262626"/>
                </a:solidFill>
                <a:latin typeface="微軟正黑體" panose="020B0604030504040204" pitchFamily="34" charset="-120"/>
              </a:rPr>
              <a:t>社區車道安全人員</a:t>
            </a:r>
            <a:r>
              <a:rPr lang="en-US" altLang="zh-TW" sz="1400" dirty="0">
                <a:solidFill>
                  <a:srgbClr val="262626"/>
                </a:solidFill>
                <a:latin typeface="微軟正黑體" panose="020B0604030504040204" pitchFamily="34" charset="-120"/>
              </a:rPr>
              <a:t>(24H)</a:t>
            </a:r>
          </a:p>
          <a:p>
            <a:pPr>
              <a:defRPr/>
            </a:pPr>
            <a:r>
              <a:rPr lang="en-US" altLang="zh-TW" sz="1400" dirty="0">
                <a:solidFill>
                  <a:srgbClr val="262626"/>
                </a:solidFill>
                <a:latin typeface="微軟正黑體" panose="020B0604030504040204" pitchFamily="34" charset="-120"/>
              </a:rPr>
              <a:t>1.</a:t>
            </a:r>
            <a:r>
              <a:rPr lang="zh-TW" altLang="en-US" sz="1400" dirty="0">
                <a:solidFill>
                  <a:srgbClr val="262626"/>
                </a:solidFill>
                <a:latin typeface="微軟正黑體" panose="020B0604030504040204" pitchFamily="34" charset="-120"/>
              </a:rPr>
              <a:t>車輛出入管制</a:t>
            </a:r>
            <a:endParaRPr lang="en-US" altLang="zh-TW" sz="1400" dirty="0">
              <a:solidFill>
                <a:srgbClr val="262626"/>
              </a:solidFill>
              <a:latin typeface="微軟正黑體" panose="020B0604030504040204" pitchFamily="34" charset="-120"/>
            </a:endParaRPr>
          </a:p>
          <a:p>
            <a:pPr>
              <a:defRPr/>
            </a:pPr>
            <a:r>
              <a:rPr lang="en-US" altLang="zh-TW" sz="1400" dirty="0">
                <a:solidFill>
                  <a:srgbClr val="262626"/>
                </a:solidFill>
                <a:latin typeface="微軟正黑體" panose="020B0604030504040204" pitchFamily="34" charset="-120"/>
              </a:rPr>
              <a:t>2.</a:t>
            </a:r>
            <a:r>
              <a:rPr lang="zh-TW" altLang="en-US" sz="1400" dirty="0">
                <a:solidFill>
                  <a:srgbClr val="262626"/>
                </a:solidFill>
                <a:latin typeface="微軟正黑體" panose="020B0604030504040204" pitchFamily="34" charset="-120"/>
              </a:rPr>
              <a:t>門禁管制</a:t>
            </a:r>
            <a:endParaRPr lang="en-US" altLang="zh-TW" sz="1400" dirty="0">
              <a:solidFill>
                <a:srgbClr val="262626"/>
              </a:solidFill>
              <a:latin typeface="微軟正黑體" panose="020B0604030504040204" pitchFamily="34" charset="-120"/>
            </a:endParaRPr>
          </a:p>
          <a:p>
            <a:pPr>
              <a:defRPr/>
            </a:pPr>
            <a:r>
              <a:rPr lang="en-US" altLang="zh-TW" sz="1400" dirty="0">
                <a:solidFill>
                  <a:srgbClr val="262626"/>
                </a:solidFill>
                <a:latin typeface="微軟正黑體" panose="020B0604030504040204" pitchFamily="34" charset="-120"/>
              </a:rPr>
              <a:t>3.</a:t>
            </a:r>
            <a:r>
              <a:rPr lang="zh-TW" altLang="en-US" sz="1400" dirty="0">
                <a:solidFill>
                  <a:srgbClr val="262626"/>
                </a:solidFill>
                <a:latin typeface="微軟正黑體" panose="020B0604030504040204" pitchFamily="34" charset="-120"/>
              </a:rPr>
              <a:t>社區安全防護</a:t>
            </a:r>
            <a:endParaRPr lang="en-US" altLang="zh-TW" sz="1400" dirty="0">
              <a:solidFill>
                <a:srgbClr val="262626"/>
              </a:solidFill>
              <a:latin typeface="微軟正黑體" panose="020B0604030504040204" pitchFamily="34" charset="-120"/>
            </a:endParaRPr>
          </a:p>
          <a:p>
            <a:pPr>
              <a:defRPr/>
            </a:pPr>
            <a:r>
              <a:rPr lang="en-US" altLang="zh-TW" sz="1400" dirty="0">
                <a:solidFill>
                  <a:srgbClr val="262626"/>
                </a:solidFill>
                <a:latin typeface="微軟正黑體" panose="020B0604030504040204" pitchFamily="34" charset="-120"/>
              </a:rPr>
              <a:t>4.</a:t>
            </a:r>
            <a:r>
              <a:rPr lang="zh-TW" altLang="en-US" sz="1400" dirty="0">
                <a:solidFill>
                  <a:srgbClr val="262626"/>
                </a:solidFill>
                <a:latin typeface="微軟正黑體" panose="020B0604030504040204" pitchFamily="34" charset="-120"/>
              </a:rPr>
              <a:t>緊急作業通報流程</a:t>
            </a:r>
          </a:p>
          <a:p>
            <a:pPr>
              <a:defRPr/>
            </a:pPr>
            <a:endParaRPr lang="en-US" altLang="zh-TW" sz="1400" dirty="0">
              <a:solidFill>
                <a:srgbClr val="262626"/>
              </a:solidFill>
              <a:latin typeface="微軟正黑體" panose="020B0604030504040204" pitchFamily="34" charset="-120"/>
            </a:endParaRPr>
          </a:p>
          <a:p>
            <a:pPr>
              <a:defRPr/>
            </a:pPr>
            <a:endParaRPr lang="en-US" altLang="zh-TW" sz="1400" dirty="0">
              <a:solidFill>
                <a:srgbClr val="262626"/>
              </a:solidFill>
              <a:latin typeface="微軟正黑體" panose="020B0604030504040204" pitchFamily="34" charset="-120"/>
            </a:endParaRPr>
          </a:p>
          <a:p>
            <a:pPr>
              <a:defRPr/>
            </a:pPr>
            <a:endParaRPr lang="en-US" altLang="zh-TW" sz="1400" dirty="0">
              <a:solidFill>
                <a:srgbClr val="262626"/>
              </a:solidFill>
              <a:latin typeface="微軟正黑體" panose="020B0604030504040204" pitchFamily="34" charset="-120"/>
            </a:endParaRPr>
          </a:p>
        </p:txBody>
      </p:sp>
    </p:spTree>
    <p:extLst>
      <p:ext uri="{BB962C8B-B14F-4D97-AF65-F5344CB8AC3E}">
        <p14:creationId xmlns="" xmlns:p14="http://schemas.microsoft.com/office/powerpoint/2010/main" val="3197290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5" name="Picture 1" descr="C:\Users\User\Desktop\近期洽談新案(儲備人力)\麗寶建設三新案(淡水新莊桃園)\淡海\協理提供\麗寶淡水\平面圖jpg\5.一層平面圖 _工作區域 1.jpg"/>
          <p:cNvPicPr>
            <a:picLocks noChangeAspect="1" noChangeArrowheads="1"/>
          </p:cNvPicPr>
          <p:nvPr/>
        </p:nvPicPr>
        <p:blipFill>
          <a:blip r:embed="rId2" cstate="print"/>
          <a:srcRect/>
          <a:stretch>
            <a:fillRect/>
          </a:stretch>
        </p:blipFill>
        <p:spPr bwMode="auto">
          <a:xfrm>
            <a:off x="0" y="714356"/>
            <a:ext cx="8572560" cy="5910246"/>
          </a:xfrm>
          <a:prstGeom prst="rect">
            <a:avLst/>
          </a:prstGeom>
          <a:noFill/>
        </p:spPr>
      </p:pic>
      <p:pic>
        <p:nvPicPr>
          <p:cNvPr id="4" name="Picture 2">
            <a:extLst>
              <a:ext uri="{FF2B5EF4-FFF2-40B4-BE49-F238E27FC236}">
                <a16:creationId xmlns:a16="http://schemas.microsoft.com/office/drawing/2014/main" xmlns="" id="{50907829-19B0-4533-A51A-77D61416DB7C}"/>
              </a:ext>
            </a:extLst>
          </p:cNvPr>
          <p:cNvPicPr>
            <a:picLocks noChangeAspect="1" noChangeArrowheads="1"/>
          </p:cNvPicPr>
          <p:nvPr/>
        </p:nvPicPr>
        <p:blipFill>
          <a:blip r:embed="rId3"/>
          <a:srcRect/>
          <a:stretch>
            <a:fillRect/>
          </a:stretch>
        </p:blipFill>
        <p:spPr bwMode="auto">
          <a:xfrm>
            <a:off x="6000760" y="2357430"/>
            <a:ext cx="390525" cy="1285875"/>
          </a:xfrm>
          <a:prstGeom prst="rect">
            <a:avLst/>
          </a:prstGeom>
          <a:noFill/>
          <a:ln w="9525">
            <a:noFill/>
            <a:miter lim="800000"/>
            <a:headEnd/>
            <a:tailEnd/>
          </a:ln>
        </p:spPr>
      </p:pic>
      <p:pic>
        <p:nvPicPr>
          <p:cNvPr id="5" name="Picture 6" descr="保全人偶">
            <a:extLst>
              <a:ext uri="{FF2B5EF4-FFF2-40B4-BE49-F238E27FC236}">
                <a16:creationId xmlns:a16="http://schemas.microsoft.com/office/drawing/2014/main" xmlns="" id="{1F66A86A-D7D3-484F-B98A-11CA9A313C9C}"/>
              </a:ext>
            </a:extLst>
          </p:cNvPr>
          <p:cNvPicPr>
            <a:picLocks noChangeAspect="1" noChangeArrowheads="1"/>
          </p:cNvPicPr>
          <p:nvPr/>
        </p:nvPicPr>
        <p:blipFill>
          <a:blip r:embed="rId4"/>
          <a:srcRect/>
          <a:stretch>
            <a:fillRect/>
          </a:stretch>
        </p:blipFill>
        <p:spPr bwMode="auto">
          <a:xfrm>
            <a:off x="2643174" y="3071810"/>
            <a:ext cx="357187" cy="985838"/>
          </a:xfrm>
          <a:prstGeom prst="rect">
            <a:avLst/>
          </a:prstGeom>
          <a:noFill/>
          <a:ln w="9525">
            <a:noFill/>
            <a:miter lim="800000"/>
            <a:headEnd/>
            <a:tailEnd/>
          </a:ln>
        </p:spPr>
      </p:pic>
      <p:pic>
        <p:nvPicPr>
          <p:cNvPr id="8" name="Picture 3">
            <a:extLst>
              <a:ext uri="{FF2B5EF4-FFF2-40B4-BE49-F238E27FC236}">
                <a16:creationId xmlns:a16="http://schemas.microsoft.com/office/drawing/2014/main" xmlns="" id="{8FECBCB9-0A5D-4DD7-BF39-3D240965BD98}"/>
              </a:ext>
            </a:extLst>
          </p:cNvPr>
          <p:cNvPicPr>
            <a:picLocks noChangeAspect="1" noChangeArrowheads="1"/>
          </p:cNvPicPr>
          <p:nvPr/>
        </p:nvPicPr>
        <p:blipFill>
          <a:blip r:embed="rId5"/>
          <a:srcRect/>
          <a:stretch>
            <a:fillRect/>
          </a:stretch>
        </p:blipFill>
        <p:spPr bwMode="auto">
          <a:xfrm>
            <a:off x="6640530" y="2357430"/>
            <a:ext cx="431800" cy="1244600"/>
          </a:xfrm>
          <a:prstGeom prst="rect">
            <a:avLst/>
          </a:prstGeom>
          <a:noFill/>
          <a:ln w="9525">
            <a:noFill/>
            <a:miter lim="800000"/>
            <a:headEnd/>
            <a:tailEnd/>
          </a:ln>
        </p:spPr>
      </p:pic>
      <p:pic>
        <p:nvPicPr>
          <p:cNvPr id="144386" name="Picture 2"/>
          <p:cNvPicPr>
            <a:picLocks noChangeAspect="1" noChangeArrowheads="1"/>
          </p:cNvPicPr>
          <p:nvPr/>
        </p:nvPicPr>
        <p:blipFill>
          <a:blip r:embed="rId6"/>
          <a:srcRect/>
          <a:stretch>
            <a:fillRect/>
          </a:stretch>
        </p:blipFill>
        <p:spPr bwMode="auto">
          <a:xfrm>
            <a:off x="5429256" y="4214818"/>
            <a:ext cx="357190" cy="919163"/>
          </a:xfrm>
          <a:prstGeom prst="rect">
            <a:avLst/>
          </a:prstGeom>
          <a:noFill/>
          <a:ln w="9525">
            <a:noFill/>
            <a:miter lim="800000"/>
            <a:headEnd/>
            <a:tailEnd/>
          </a:ln>
          <a:effectLst/>
        </p:spPr>
      </p:pic>
      <p:pic>
        <p:nvPicPr>
          <p:cNvPr id="144387" name="Picture 3"/>
          <p:cNvPicPr>
            <a:picLocks noChangeAspect="1" noChangeArrowheads="1"/>
          </p:cNvPicPr>
          <p:nvPr/>
        </p:nvPicPr>
        <p:blipFill>
          <a:blip r:embed="rId7"/>
          <a:srcRect/>
          <a:stretch>
            <a:fillRect/>
          </a:stretch>
        </p:blipFill>
        <p:spPr bwMode="auto">
          <a:xfrm>
            <a:off x="3286116" y="5357826"/>
            <a:ext cx="543131" cy="1023937"/>
          </a:xfrm>
          <a:prstGeom prst="rect">
            <a:avLst/>
          </a:prstGeom>
          <a:noFill/>
          <a:ln w="9525">
            <a:noFill/>
            <a:miter lim="800000"/>
            <a:headEnd/>
            <a:tailEnd/>
          </a:ln>
          <a:effectLst/>
        </p:spPr>
      </p:pic>
      <p:pic>
        <p:nvPicPr>
          <p:cNvPr id="10" name="Picture 6" descr="保全人偶">
            <a:extLst>
              <a:ext uri="{FF2B5EF4-FFF2-40B4-BE49-F238E27FC236}">
                <a16:creationId xmlns:a16="http://schemas.microsoft.com/office/drawing/2014/main" xmlns="" id="{6FBCE692-6DA5-4334-B2A7-C52F764383E8}"/>
              </a:ext>
            </a:extLst>
          </p:cNvPr>
          <p:cNvPicPr>
            <a:picLocks noChangeAspect="1" noChangeArrowheads="1"/>
          </p:cNvPicPr>
          <p:nvPr/>
        </p:nvPicPr>
        <p:blipFill>
          <a:blip r:embed="rId4"/>
          <a:srcRect/>
          <a:stretch>
            <a:fillRect/>
          </a:stretch>
        </p:blipFill>
        <p:spPr bwMode="auto">
          <a:xfrm>
            <a:off x="6715140" y="3714752"/>
            <a:ext cx="336550" cy="928688"/>
          </a:xfrm>
          <a:prstGeom prst="rect">
            <a:avLst/>
          </a:prstGeom>
          <a:noFill/>
          <a:ln w="9525">
            <a:noFill/>
            <a:miter lim="800000"/>
            <a:headEnd/>
            <a:tailEnd/>
          </a:ln>
        </p:spPr>
      </p:pic>
      <p:pic>
        <p:nvPicPr>
          <p:cNvPr id="17" name="Picture 3"/>
          <p:cNvPicPr>
            <a:picLocks noChangeAspect="1" noChangeArrowheads="1"/>
          </p:cNvPicPr>
          <p:nvPr/>
        </p:nvPicPr>
        <p:blipFill>
          <a:blip r:embed="rId7"/>
          <a:srcRect/>
          <a:stretch>
            <a:fillRect/>
          </a:stretch>
        </p:blipFill>
        <p:spPr bwMode="auto">
          <a:xfrm>
            <a:off x="3214678" y="928670"/>
            <a:ext cx="543131" cy="1023937"/>
          </a:xfrm>
          <a:prstGeom prst="rect">
            <a:avLst/>
          </a:prstGeom>
          <a:noFill/>
          <a:ln w="9525">
            <a:noFill/>
            <a:miter lim="800000"/>
            <a:headEnd/>
            <a:tailEnd/>
          </a:ln>
          <a:effectLst/>
        </p:spPr>
      </p:pic>
      <p:sp>
        <p:nvSpPr>
          <p:cNvPr id="16" name="文字方塊 15"/>
          <p:cNvSpPr txBox="1"/>
          <p:nvPr/>
        </p:nvSpPr>
        <p:spPr>
          <a:xfrm>
            <a:off x="285720" y="928670"/>
            <a:ext cx="1762021" cy="2062103"/>
          </a:xfrm>
          <a:prstGeom prst="rect">
            <a:avLst/>
          </a:prstGeom>
          <a:solidFill>
            <a:schemeClr val="accent2"/>
          </a:solidFill>
          <a:effectLst>
            <a:glow rad="63500">
              <a:schemeClr val="accent3">
                <a:satMod val="175000"/>
                <a:alpha val="40000"/>
              </a:schemeClr>
            </a:glow>
          </a:effectLst>
        </p:spPr>
        <p:txBody>
          <a:bodyPr wrap="none" rtlCol="0">
            <a:spAutoFit/>
          </a:bodyPr>
          <a:lstStyle/>
          <a:p>
            <a:pPr marL="342900" indent="-342900">
              <a:buFont typeface="+mj-lt"/>
              <a:buAutoNum type="arabicPeriod"/>
            </a:pP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店面</a:t>
            </a:r>
            <a:r>
              <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17</a:t>
            </a: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戶</a:t>
            </a:r>
            <a:endPar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mj-lt"/>
              <a:buAutoNum type="arabicPeriod"/>
            </a:pP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防災中心</a:t>
            </a:r>
            <a:endPar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mj-lt"/>
              <a:buAutoNum type="arabicPeriod"/>
            </a:pP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社區大廳</a:t>
            </a:r>
            <a:endPar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mj-lt"/>
              <a:buAutoNum type="arabicPeriod"/>
            </a:pP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公共設施</a:t>
            </a:r>
            <a:r>
              <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a:t>
            </a:r>
          </a:p>
          <a:p>
            <a:pPr marL="342900" indent="-342900">
              <a:buFont typeface="Wingdings" pitchFamily="2" charset="2"/>
              <a:buAutoNum type="circleNumWdWhitePlain"/>
            </a:pP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球類運動中心</a:t>
            </a:r>
            <a:endPar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en-US" altLang="zh-TW" sz="1600" dirty="0" err="1" smtClean="0">
                <a:solidFill>
                  <a:srgbClr val="800000"/>
                </a:solidFill>
                <a:effectLst>
                  <a:glow rad="63500">
                    <a:schemeClr val="accent3">
                      <a:satMod val="175000"/>
                      <a:alpha val="40000"/>
                    </a:schemeClr>
                  </a:glow>
                </a:effectLst>
                <a:latin typeface="微軟正黑體" pitchFamily="34" charset="-120"/>
                <a:ea typeface="微軟正黑體" pitchFamily="34" charset="-120"/>
              </a:rPr>
              <a:t>Loung</a:t>
            </a: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休息區</a:t>
            </a:r>
            <a:endPar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KTV</a:t>
            </a: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區</a:t>
            </a:r>
            <a:endPar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endParaRPr lang="zh-TW" altLang="en-US" sz="1600" dirty="0">
              <a:solidFill>
                <a:srgbClr val="800000"/>
              </a:solidFill>
              <a:effectLst>
                <a:glow rad="63500">
                  <a:schemeClr val="accent3">
                    <a:satMod val="175000"/>
                    <a:alpha val="40000"/>
                  </a:schemeClr>
                </a:glow>
              </a:effectLst>
              <a:latin typeface="微軟正黑體" pitchFamily="34" charset="-120"/>
              <a:ea typeface="微軟正黑體" pitchFamily="34" charset="-120"/>
            </a:endParaRPr>
          </a:p>
        </p:txBody>
      </p:sp>
    </p:spTree>
    <p:extLst>
      <p:ext uri="{BB962C8B-B14F-4D97-AF65-F5344CB8AC3E}">
        <p14:creationId xmlns="" xmlns:p14="http://schemas.microsoft.com/office/powerpoint/2010/main" val="3197290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410" name="Picture 2" descr="C:\Users\User\Desktop\近期洽談新案(儲備人力)\麗寶建設三新案(淡水新莊桃園)\淡海\協理提供\麗寶淡水\平面圖jpg\6.二層平面圖 _工作區域 1.jpg"/>
          <p:cNvPicPr>
            <a:picLocks noChangeAspect="1" noChangeArrowheads="1"/>
          </p:cNvPicPr>
          <p:nvPr/>
        </p:nvPicPr>
        <p:blipFill>
          <a:blip r:embed="rId2" cstate="print"/>
          <a:srcRect/>
          <a:stretch>
            <a:fillRect/>
          </a:stretch>
        </p:blipFill>
        <p:spPr bwMode="auto">
          <a:xfrm>
            <a:off x="285720" y="571480"/>
            <a:ext cx="8572560" cy="6061790"/>
          </a:xfrm>
          <a:prstGeom prst="rect">
            <a:avLst/>
          </a:prstGeom>
          <a:noFill/>
        </p:spPr>
      </p:pic>
      <p:pic>
        <p:nvPicPr>
          <p:cNvPr id="3" name="Picture 6" descr="http://pic.nipic.com/2007-06-20/2007620163833855_2.jpg">
            <a:extLst>
              <a:ext uri="{FF2B5EF4-FFF2-40B4-BE49-F238E27FC236}">
                <a16:creationId xmlns:a16="http://schemas.microsoft.com/office/drawing/2014/main" xmlns="" id="{E88C7CAF-A809-4F99-9850-CA9723D171D8}"/>
              </a:ext>
            </a:extLst>
          </p:cNvPr>
          <p:cNvPicPr>
            <a:picLocks noChangeAspect="1" noChangeArrowheads="1"/>
          </p:cNvPicPr>
          <p:nvPr/>
        </p:nvPicPr>
        <p:blipFill>
          <a:blip r:embed="rId3"/>
          <a:srcRect t="3751" r="66927" b="12999"/>
          <a:stretch>
            <a:fillRect/>
          </a:stretch>
        </p:blipFill>
        <p:spPr bwMode="auto">
          <a:xfrm>
            <a:off x="5143504" y="4429132"/>
            <a:ext cx="430212" cy="935038"/>
          </a:xfrm>
          <a:prstGeom prst="rect">
            <a:avLst/>
          </a:prstGeom>
          <a:noFill/>
          <a:ln w="9525">
            <a:noFill/>
            <a:miter lim="800000"/>
            <a:headEnd/>
            <a:tailEnd/>
          </a:ln>
        </p:spPr>
      </p:pic>
      <p:sp>
        <p:nvSpPr>
          <p:cNvPr id="4" name="矩形圖說文字 60">
            <a:extLst>
              <a:ext uri="{FF2B5EF4-FFF2-40B4-BE49-F238E27FC236}">
                <a16:creationId xmlns:a16="http://schemas.microsoft.com/office/drawing/2014/main" xmlns="" id="{08430496-8FFA-4EE4-A71A-1AA18ACE6C04}"/>
              </a:ext>
            </a:extLst>
          </p:cNvPr>
          <p:cNvSpPr>
            <a:spLocks noChangeArrowheads="1"/>
          </p:cNvSpPr>
          <p:nvPr/>
        </p:nvSpPr>
        <p:spPr bwMode="auto">
          <a:xfrm>
            <a:off x="4286248" y="2214554"/>
            <a:ext cx="2228853" cy="1654176"/>
          </a:xfrm>
          <a:prstGeom prst="wedgeRectCallout">
            <a:avLst>
              <a:gd name="adj1" fmla="val 2847"/>
              <a:gd name="adj2" fmla="val 81896"/>
            </a:avLst>
          </a:prstGeom>
        </p:spPr>
        <p:style>
          <a:lnRef idx="3">
            <a:schemeClr val="lt1"/>
          </a:lnRef>
          <a:fillRef idx="1">
            <a:schemeClr val="accent4"/>
          </a:fillRef>
          <a:effectRef idx="1">
            <a:schemeClr val="accent4"/>
          </a:effectRef>
          <a:fontRef idx="minor">
            <a:schemeClr val="lt1"/>
          </a:fontRef>
        </p:style>
        <p:txBody>
          <a:bodyPr anchor="ctr"/>
          <a:lstStyle/>
          <a:p>
            <a:pPr>
              <a:defRPr/>
            </a:pPr>
            <a:r>
              <a:rPr lang="zh-TW" altLang="en-US" sz="1600" dirty="0">
                <a:solidFill>
                  <a:schemeClr val="bg1"/>
                </a:solidFill>
                <a:latin typeface="Calibri" panose="020F0502020204030204" pitchFamily="34" charset="0"/>
              </a:rPr>
              <a:t> </a:t>
            </a:r>
            <a:r>
              <a:rPr lang="zh-TW" altLang="en-US" sz="1200" dirty="0">
                <a:solidFill>
                  <a:schemeClr val="bg1"/>
                </a:solidFill>
                <a:latin typeface="微軟正黑體" panose="020B0604030504040204" pitchFamily="34" charset="-120"/>
              </a:rPr>
              <a:t>社區清潔人員</a:t>
            </a:r>
            <a:r>
              <a:rPr lang="en-US" altLang="zh-TW" sz="1200" dirty="0">
                <a:solidFill>
                  <a:schemeClr val="bg1"/>
                </a:solidFill>
                <a:latin typeface="微軟正黑體" panose="020B0604030504040204" pitchFamily="34" charset="-120"/>
              </a:rPr>
              <a:t>(8H)</a:t>
            </a:r>
          </a:p>
          <a:p>
            <a:pPr>
              <a:defRPr/>
            </a:pPr>
            <a:r>
              <a:rPr lang="zh-TW" altLang="en-US" sz="1200" dirty="0">
                <a:solidFill>
                  <a:schemeClr val="bg1"/>
                </a:solidFill>
                <a:latin typeface="微軟正黑體" panose="020B0604030504040204" pitchFamily="34" charset="-120"/>
              </a:rPr>
              <a:t>  </a:t>
            </a:r>
            <a:r>
              <a:rPr lang="en-US" altLang="zh-TW" sz="1200" dirty="0" smtClean="0">
                <a:solidFill>
                  <a:schemeClr val="bg1"/>
                </a:solidFill>
                <a:latin typeface="微軟正黑體" panose="020B0604030504040204" pitchFamily="34" charset="-120"/>
              </a:rPr>
              <a:t>08:00-17:00/13:00~22:00</a:t>
            </a:r>
            <a:r>
              <a:rPr lang="zh-TW" altLang="en-US" sz="1200" dirty="0" smtClean="0">
                <a:solidFill>
                  <a:schemeClr val="bg1"/>
                </a:solidFill>
                <a:latin typeface="微軟正黑體" panose="020B0604030504040204" pitchFamily="34" charset="-120"/>
              </a:rPr>
              <a:t>時</a:t>
            </a:r>
            <a:r>
              <a:rPr lang="en-US" altLang="zh-TW" sz="1200" dirty="0" smtClean="0">
                <a:solidFill>
                  <a:schemeClr val="bg1"/>
                </a:solidFill>
                <a:latin typeface="微軟正黑體" panose="020B0604030504040204" pitchFamily="34" charset="-120"/>
              </a:rPr>
              <a:t>(14</a:t>
            </a:r>
            <a:r>
              <a:rPr lang="zh-TW" altLang="en-US" sz="1200" dirty="0" smtClean="0">
                <a:solidFill>
                  <a:schemeClr val="bg1"/>
                </a:solidFill>
                <a:latin typeface="微軟正黑體" panose="020B0604030504040204" pitchFamily="34" charset="-120"/>
              </a:rPr>
              <a:t>人</a:t>
            </a:r>
            <a:r>
              <a:rPr lang="en-US" altLang="zh-TW" sz="1200" dirty="0">
                <a:solidFill>
                  <a:schemeClr val="bg1"/>
                </a:solidFill>
                <a:latin typeface="微軟正黑體" panose="020B0604030504040204" pitchFamily="34" charset="-120"/>
              </a:rPr>
              <a:t>)</a:t>
            </a:r>
          </a:p>
          <a:p>
            <a:pPr>
              <a:defRPr/>
            </a:pPr>
            <a:r>
              <a:rPr lang="en-US" altLang="zh-TW" sz="1200" dirty="0">
                <a:solidFill>
                  <a:schemeClr val="bg1"/>
                </a:solidFill>
                <a:latin typeface="微軟正黑體" panose="020B0604030504040204" pitchFamily="34" charset="-120"/>
              </a:rPr>
              <a:t>1.</a:t>
            </a:r>
            <a:r>
              <a:rPr lang="zh-TW" altLang="en-US" sz="1200" dirty="0">
                <a:solidFill>
                  <a:schemeClr val="bg1"/>
                </a:solidFill>
                <a:latin typeface="微軟正黑體" panose="020B0604030504040204" pitchFamily="34" charset="-120"/>
              </a:rPr>
              <a:t>各樓層梯間清潔維護</a:t>
            </a:r>
            <a:endParaRPr lang="en-US" altLang="zh-TW" sz="1200" dirty="0">
              <a:solidFill>
                <a:schemeClr val="bg1"/>
              </a:solidFill>
              <a:latin typeface="微軟正黑體" panose="020B0604030504040204" pitchFamily="34" charset="-120"/>
            </a:endParaRPr>
          </a:p>
          <a:p>
            <a:pPr>
              <a:defRPr/>
            </a:pPr>
            <a:r>
              <a:rPr lang="en-US" altLang="zh-TW" sz="1200" dirty="0">
                <a:solidFill>
                  <a:schemeClr val="bg1"/>
                </a:solidFill>
                <a:latin typeface="微軟正黑體" panose="020B0604030504040204" pitchFamily="34" charset="-120"/>
              </a:rPr>
              <a:t>2.</a:t>
            </a:r>
            <a:r>
              <a:rPr lang="zh-TW" altLang="en-US" sz="1200" dirty="0">
                <a:solidFill>
                  <a:schemeClr val="bg1"/>
                </a:solidFill>
                <a:latin typeface="微軟正黑體" panose="020B0604030504040204" pitchFamily="34" charset="-120"/>
              </a:rPr>
              <a:t>外圍級車道清潔</a:t>
            </a:r>
            <a:endParaRPr lang="en-US" altLang="zh-TW" sz="1200" dirty="0">
              <a:solidFill>
                <a:schemeClr val="bg1"/>
              </a:solidFill>
              <a:latin typeface="微軟正黑體" panose="020B0604030504040204" pitchFamily="34" charset="-120"/>
            </a:endParaRPr>
          </a:p>
          <a:p>
            <a:pPr>
              <a:defRPr/>
            </a:pPr>
            <a:r>
              <a:rPr lang="en-US" altLang="zh-TW" sz="1200" dirty="0">
                <a:solidFill>
                  <a:schemeClr val="bg1"/>
                </a:solidFill>
                <a:latin typeface="微軟正黑體" panose="020B0604030504040204" pitchFamily="34" charset="-120"/>
              </a:rPr>
              <a:t>3.</a:t>
            </a:r>
            <a:r>
              <a:rPr lang="zh-TW" altLang="en-US" sz="1200" dirty="0">
                <a:solidFill>
                  <a:schemeClr val="bg1"/>
                </a:solidFill>
                <a:latin typeface="微軟正黑體" panose="020B0604030504040204" pitchFamily="34" charset="-120"/>
              </a:rPr>
              <a:t>停車場清潔</a:t>
            </a:r>
            <a:endParaRPr lang="en-US" altLang="zh-TW" sz="1200" dirty="0">
              <a:solidFill>
                <a:schemeClr val="bg1"/>
              </a:solidFill>
              <a:latin typeface="微軟正黑體" panose="020B0604030504040204" pitchFamily="34" charset="-120"/>
            </a:endParaRPr>
          </a:p>
          <a:p>
            <a:pPr>
              <a:defRPr/>
            </a:pPr>
            <a:r>
              <a:rPr lang="en-US" altLang="zh-TW" sz="1200" dirty="0">
                <a:solidFill>
                  <a:schemeClr val="bg1"/>
                </a:solidFill>
                <a:latin typeface="微軟正黑體" panose="020B0604030504040204" pitchFamily="34" charset="-120"/>
              </a:rPr>
              <a:t>4.</a:t>
            </a:r>
            <a:r>
              <a:rPr lang="zh-TW" altLang="en-US" sz="1200" dirty="0">
                <a:solidFill>
                  <a:schemeClr val="bg1"/>
                </a:solidFill>
                <a:latin typeface="微軟正黑體" panose="020B0604030504040204" pitchFamily="34" charset="-120"/>
              </a:rPr>
              <a:t>資源回收處理</a:t>
            </a:r>
          </a:p>
        </p:txBody>
      </p:sp>
      <p:pic>
        <p:nvPicPr>
          <p:cNvPr id="5" name="Picture 2">
            <a:extLst>
              <a:ext uri="{FF2B5EF4-FFF2-40B4-BE49-F238E27FC236}">
                <a16:creationId xmlns:a16="http://schemas.microsoft.com/office/drawing/2014/main" xmlns="" id="{50907829-19B0-4533-A51A-77D61416DB7C}"/>
              </a:ext>
            </a:extLst>
          </p:cNvPr>
          <p:cNvPicPr>
            <a:picLocks noChangeAspect="1" noChangeArrowheads="1"/>
          </p:cNvPicPr>
          <p:nvPr/>
        </p:nvPicPr>
        <p:blipFill>
          <a:blip r:embed="rId4"/>
          <a:srcRect/>
          <a:stretch>
            <a:fillRect/>
          </a:stretch>
        </p:blipFill>
        <p:spPr bwMode="auto">
          <a:xfrm>
            <a:off x="2857488" y="2214554"/>
            <a:ext cx="390525" cy="1285875"/>
          </a:xfrm>
          <a:prstGeom prst="rect">
            <a:avLst/>
          </a:prstGeom>
          <a:noFill/>
          <a:ln w="9525">
            <a:noFill/>
            <a:miter lim="800000"/>
            <a:headEnd/>
            <a:tailEnd/>
          </a:ln>
        </p:spPr>
      </p:pic>
      <p:sp>
        <p:nvSpPr>
          <p:cNvPr id="6" name="矩形圖說文字 60">
            <a:extLst>
              <a:ext uri="{FF2B5EF4-FFF2-40B4-BE49-F238E27FC236}">
                <a16:creationId xmlns:a16="http://schemas.microsoft.com/office/drawing/2014/main" xmlns="" id="{D18D4001-B846-4C07-84D8-D0D440E2F91D}"/>
              </a:ext>
            </a:extLst>
          </p:cNvPr>
          <p:cNvSpPr>
            <a:spLocks noChangeArrowheads="1"/>
          </p:cNvSpPr>
          <p:nvPr/>
        </p:nvSpPr>
        <p:spPr bwMode="auto">
          <a:xfrm>
            <a:off x="785786" y="428604"/>
            <a:ext cx="1500188" cy="2016125"/>
          </a:xfrm>
          <a:prstGeom prst="wedgeRectCallout">
            <a:avLst>
              <a:gd name="adj1" fmla="val 92380"/>
              <a:gd name="adj2" fmla="val 50464"/>
            </a:avLst>
          </a:prstGeom>
          <a:solidFill>
            <a:schemeClr val="accent2">
              <a:lumMod val="50000"/>
            </a:schemeClr>
          </a:solidFill>
        </p:spPr>
        <p:style>
          <a:lnRef idx="3">
            <a:schemeClr val="lt1"/>
          </a:lnRef>
          <a:fillRef idx="1">
            <a:schemeClr val="accent2"/>
          </a:fillRef>
          <a:effectRef idx="1">
            <a:schemeClr val="accent2"/>
          </a:effectRef>
          <a:fontRef idx="minor">
            <a:schemeClr val="lt1"/>
          </a:fontRef>
        </p:style>
        <p:txBody>
          <a:bodyPr anchor="ctr"/>
          <a:lstStyle/>
          <a:p>
            <a:pPr>
              <a:defRPr/>
            </a:pPr>
            <a:r>
              <a:rPr lang="zh-TW" altLang="en-US" dirty="0">
                <a:solidFill>
                  <a:schemeClr val="bg1"/>
                </a:solidFill>
                <a:latin typeface="+mn-ea"/>
              </a:rPr>
              <a:t>  </a:t>
            </a:r>
            <a:r>
              <a:rPr lang="zh-TW" altLang="en-US" sz="1400" dirty="0">
                <a:solidFill>
                  <a:schemeClr val="bg1"/>
                </a:solidFill>
                <a:latin typeface="+mn-ea"/>
              </a:rPr>
              <a:t>社區</a:t>
            </a:r>
            <a:r>
              <a:rPr lang="en-US" altLang="zh-TW" sz="1400" dirty="0">
                <a:solidFill>
                  <a:schemeClr val="bg1"/>
                </a:solidFill>
                <a:latin typeface="+mn-ea"/>
              </a:rPr>
              <a:t>VIP</a:t>
            </a:r>
            <a:r>
              <a:rPr lang="zh-TW" altLang="en-US" sz="1400" dirty="0">
                <a:solidFill>
                  <a:schemeClr val="bg1"/>
                </a:solidFill>
                <a:latin typeface="+mn-ea"/>
              </a:rPr>
              <a:t>秘書</a:t>
            </a:r>
            <a:r>
              <a:rPr lang="en-US" altLang="zh-TW" sz="1400" dirty="0">
                <a:solidFill>
                  <a:schemeClr val="bg1"/>
                </a:solidFill>
                <a:latin typeface="+mn-ea"/>
              </a:rPr>
              <a:t> </a:t>
            </a:r>
          </a:p>
          <a:p>
            <a:pPr>
              <a:defRPr/>
            </a:pPr>
            <a:r>
              <a:rPr lang="en-US" altLang="zh-TW" sz="1400" dirty="0">
                <a:solidFill>
                  <a:schemeClr val="bg1"/>
                </a:solidFill>
                <a:latin typeface="+mn-ea"/>
              </a:rPr>
              <a:t>1.</a:t>
            </a:r>
            <a:r>
              <a:rPr lang="zh-TW" altLang="en-US" sz="1400" dirty="0">
                <a:solidFill>
                  <a:schemeClr val="bg1"/>
                </a:solidFill>
                <a:latin typeface="+mn-ea"/>
              </a:rPr>
              <a:t>禮賓接待服務</a:t>
            </a:r>
            <a:endParaRPr lang="en-US" altLang="zh-TW" sz="1400" dirty="0">
              <a:solidFill>
                <a:schemeClr val="bg1"/>
              </a:solidFill>
              <a:latin typeface="+mn-ea"/>
            </a:endParaRPr>
          </a:p>
          <a:p>
            <a:pPr>
              <a:defRPr/>
            </a:pPr>
            <a:r>
              <a:rPr lang="en-US" altLang="zh-TW" sz="1400" dirty="0">
                <a:solidFill>
                  <a:schemeClr val="bg1"/>
                </a:solidFill>
                <a:latin typeface="+mn-ea"/>
              </a:rPr>
              <a:t>2.</a:t>
            </a:r>
            <a:r>
              <a:rPr lang="zh-TW" altLang="en-US" sz="1400" dirty="0">
                <a:solidFill>
                  <a:schemeClr val="bg1"/>
                </a:solidFill>
                <a:latin typeface="+mn-ea"/>
              </a:rPr>
              <a:t>文書作業整備</a:t>
            </a:r>
            <a:endParaRPr lang="en-US" altLang="zh-TW" sz="1400" dirty="0">
              <a:solidFill>
                <a:schemeClr val="bg1"/>
              </a:solidFill>
              <a:latin typeface="+mn-ea"/>
            </a:endParaRPr>
          </a:p>
          <a:p>
            <a:pPr>
              <a:defRPr/>
            </a:pPr>
            <a:r>
              <a:rPr lang="en-US" altLang="zh-TW" sz="1400" dirty="0">
                <a:solidFill>
                  <a:schemeClr val="bg1"/>
                </a:solidFill>
                <a:latin typeface="+mn-ea"/>
              </a:rPr>
              <a:t>3.</a:t>
            </a:r>
            <a:r>
              <a:rPr lang="zh-TW" altLang="en-US" sz="1400" dirty="0">
                <a:solidFill>
                  <a:schemeClr val="bg1"/>
                </a:solidFill>
                <a:latin typeface="+mn-ea"/>
              </a:rPr>
              <a:t>行政業務代辦</a:t>
            </a:r>
            <a:endParaRPr lang="en-US" altLang="zh-TW" sz="1400" dirty="0">
              <a:solidFill>
                <a:schemeClr val="bg1"/>
              </a:solidFill>
              <a:latin typeface="+mn-ea"/>
            </a:endParaRPr>
          </a:p>
          <a:p>
            <a:pPr>
              <a:defRPr/>
            </a:pPr>
            <a:r>
              <a:rPr lang="en-US" altLang="zh-TW" sz="1400" dirty="0">
                <a:solidFill>
                  <a:schemeClr val="bg1"/>
                </a:solidFill>
                <a:latin typeface="+mn-ea"/>
              </a:rPr>
              <a:t>4.</a:t>
            </a:r>
            <a:r>
              <a:rPr lang="zh-TW" altLang="en-US" sz="1400" dirty="0">
                <a:solidFill>
                  <a:schemeClr val="bg1"/>
                </a:solidFill>
                <a:latin typeface="+mn-ea"/>
              </a:rPr>
              <a:t>公設使用管理</a:t>
            </a:r>
            <a:endParaRPr lang="en-US" altLang="zh-TW" sz="1400" dirty="0">
              <a:solidFill>
                <a:schemeClr val="bg1"/>
              </a:solidFill>
              <a:latin typeface="+mn-ea"/>
            </a:endParaRPr>
          </a:p>
          <a:p>
            <a:pPr>
              <a:defRPr/>
            </a:pPr>
            <a:r>
              <a:rPr lang="en-US" altLang="zh-TW" sz="1400" dirty="0">
                <a:solidFill>
                  <a:schemeClr val="bg1"/>
                </a:solidFill>
                <a:latin typeface="+mn-ea"/>
              </a:rPr>
              <a:t>5.</a:t>
            </a:r>
            <a:r>
              <a:rPr lang="zh-TW" altLang="en-US" sz="1400" dirty="0">
                <a:solidFill>
                  <a:schemeClr val="bg1"/>
                </a:solidFill>
                <a:latin typeface="+mn-ea"/>
              </a:rPr>
              <a:t>招待訪客來賓</a:t>
            </a:r>
            <a:endParaRPr lang="en-US" altLang="zh-TW" sz="1400" dirty="0">
              <a:solidFill>
                <a:schemeClr val="bg1"/>
              </a:solidFill>
              <a:latin typeface="+mn-ea"/>
            </a:endParaRPr>
          </a:p>
          <a:p>
            <a:pPr>
              <a:defRPr/>
            </a:pPr>
            <a:r>
              <a:rPr lang="en-US" altLang="zh-TW" sz="1400" dirty="0">
                <a:solidFill>
                  <a:schemeClr val="bg1"/>
                </a:solidFill>
                <a:latin typeface="+mn-ea"/>
              </a:rPr>
              <a:t>6.</a:t>
            </a:r>
            <a:r>
              <a:rPr lang="zh-TW" altLang="en-US" sz="1400" dirty="0">
                <a:solidFill>
                  <a:schemeClr val="bg1"/>
                </a:solidFill>
                <a:latin typeface="+mn-ea"/>
              </a:rPr>
              <a:t>櫃台服務</a:t>
            </a:r>
            <a:endParaRPr lang="en-US" altLang="zh-TW" sz="1400" dirty="0">
              <a:solidFill>
                <a:schemeClr val="bg1"/>
              </a:solidFill>
              <a:latin typeface="+mn-ea"/>
            </a:endParaRPr>
          </a:p>
          <a:p>
            <a:pPr>
              <a:defRPr/>
            </a:pPr>
            <a:r>
              <a:rPr lang="en-US" altLang="zh-TW" sz="1400" dirty="0">
                <a:solidFill>
                  <a:schemeClr val="bg1"/>
                </a:solidFill>
                <a:latin typeface="+mn-ea"/>
              </a:rPr>
              <a:t>7.</a:t>
            </a:r>
            <a:r>
              <a:rPr lang="zh-TW" altLang="en-US" sz="1400" dirty="0">
                <a:solidFill>
                  <a:schemeClr val="bg1"/>
                </a:solidFill>
                <a:latin typeface="+mn-ea"/>
              </a:rPr>
              <a:t>其他</a:t>
            </a:r>
          </a:p>
        </p:txBody>
      </p:sp>
    </p:spTree>
    <p:extLst>
      <p:ext uri="{BB962C8B-B14F-4D97-AF65-F5344CB8AC3E}">
        <p14:creationId xmlns="" xmlns:p14="http://schemas.microsoft.com/office/powerpoint/2010/main" val="3197290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410" name="Picture 2" descr="C:\Users\User\Desktop\近期洽談新案(儲備人力)\麗寶建設三新案(淡水新莊桃園)\淡海\協理提供\麗寶淡水\平面圖jpg\6.二層平面圖 _工作區域 1.jpg"/>
          <p:cNvPicPr>
            <a:picLocks noChangeAspect="1" noChangeArrowheads="1"/>
          </p:cNvPicPr>
          <p:nvPr/>
        </p:nvPicPr>
        <p:blipFill>
          <a:blip r:embed="rId2" cstate="print"/>
          <a:srcRect/>
          <a:stretch>
            <a:fillRect/>
          </a:stretch>
        </p:blipFill>
        <p:spPr bwMode="auto">
          <a:xfrm>
            <a:off x="285720" y="357166"/>
            <a:ext cx="8875642" cy="6276104"/>
          </a:xfrm>
          <a:prstGeom prst="rect">
            <a:avLst/>
          </a:prstGeom>
          <a:noFill/>
        </p:spPr>
      </p:pic>
      <p:pic>
        <p:nvPicPr>
          <p:cNvPr id="3" name="Picture 6" descr="http://pic.nipic.com/2007-06-20/2007620163833855_2.jpg">
            <a:extLst>
              <a:ext uri="{FF2B5EF4-FFF2-40B4-BE49-F238E27FC236}">
                <a16:creationId xmlns:a16="http://schemas.microsoft.com/office/drawing/2014/main" xmlns="" id="{E88C7CAF-A809-4F99-9850-CA9723D171D8}"/>
              </a:ext>
            </a:extLst>
          </p:cNvPr>
          <p:cNvPicPr>
            <a:picLocks noChangeAspect="1" noChangeArrowheads="1"/>
          </p:cNvPicPr>
          <p:nvPr/>
        </p:nvPicPr>
        <p:blipFill>
          <a:blip r:embed="rId3"/>
          <a:srcRect t="3751" r="66927" b="12999"/>
          <a:stretch>
            <a:fillRect/>
          </a:stretch>
        </p:blipFill>
        <p:spPr bwMode="auto">
          <a:xfrm>
            <a:off x="5357818" y="4071942"/>
            <a:ext cx="430212" cy="935038"/>
          </a:xfrm>
          <a:prstGeom prst="rect">
            <a:avLst/>
          </a:prstGeom>
          <a:noFill/>
          <a:ln w="9525">
            <a:noFill/>
            <a:miter lim="800000"/>
            <a:headEnd/>
            <a:tailEnd/>
          </a:ln>
        </p:spPr>
      </p:pic>
      <p:pic>
        <p:nvPicPr>
          <p:cNvPr id="5" name="Picture 2">
            <a:extLst>
              <a:ext uri="{FF2B5EF4-FFF2-40B4-BE49-F238E27FC236}">
                <a16:creationId xmlns:a16="http://schemas.microsoft.com/office/drawing/2014/main" xmlns="" id="{50907829-19B0-4533-A51A-77D61416DB7C}"/>
              </a:ext>
            </a:extLst>
          </p:cNvPr>
          <p:cNvPicPr>
            <a:picLocks noChangeAspect="1" noChangeArrowheads="1"/>
          </p:cNvPicPr>
          <p:nvPr/>
        </p:nvPicPr>
        <p:blipFill>
          <a:blip r:embed="rId4"/>
          <a:srcRect/>
          <a:stretch>
            <a:fillRect/>
          </a:stretch>
        </p:blipFill>
        <p:spPr bwMode="auto">
          <a:xfrm>
            <a:off x="2857488" y="2214554"/>
            <a:ext cx="390525" cy="1285875"/>
          </a:xfrm>
          <a:prstGeom prst="rect">
            <a:avLst/>
          </a:prstGeom>
          <a:noFill/>
          <a:ln w="9525">
            <a:noFill/>
            <a:miter lim="800000"/>
            <a:headEnd/>
            <a:tailEnd/>
          </a:ln>
        </p:spPr>
      </p:pic>
      <p:sp>
        <p:nvSpPr>
          <p:cNvPr id="9" name="文字方塊 8"/>
          <p:cNvSpPr txBox="1"/>
          <p:nvPr/>
        </p:nvSpPr>
        <p:spPr>
          <a:xfrm>
            <a:off x="666839" y="3929066"/>
            <a:ext cx="1762021" cy="2554545"/>
          </a:xfrm>
          <a:prstGeom prst="rect">
            <a:avLst/>
          </a:prstGeom>
          <a:solidFill>
            <a:schemeClr val="accent2"/>
          </a:solidFill>
          <a:effectLst>
            <a:glow rad="63500">
              <a:schemeClr val="accent3">
                <a:satMod val="175000"/>
                <a:alpha val="40000"/>
              </a:schemeClr>
            </a:glow>
          </a:effectLst>
        </p:spPr>
        <p:txBody>
          <a:bodyPr wrap="none" rtlCol="0">
            <a:spAutoFit/>
          </a:bodyPr>
          <a:lstStyle/>
          <a:p>
            <a:r>
              <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1.</a:t>
            </a: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公共設施</a:t>
            </a:r>
            <a:r>
              <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a:t>
            </a:r>
          </a:p>
          <a:p>
            <a:pPr marL="342900" indent="-342900">
              <a:buFont typeface="Wingdings" pitchFamily="2" charset="2"/>
              <a:buAutoNum type="circleNumWdWhitePlain"/>
            </a:pP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親子活動中心</a:t>
            </a:r>
            <a:endPar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烹飪教室</a:t>
            </a:r>
            <a:endPar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音樂教室</a:t>
            </a:r>
            <a:endPar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閱讀室</a:t>
            </a:r>
            <a:endPar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K</a:t>
            </a: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書中心</a:t>
            </a:r>
            <a:endPar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橋牌室</a:t>
            </a:r>
            <a:endPar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健身交誼中心</a:t>
            </a:r>
            <a:endPar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交誼區</a:t>
            </a:r>
            <a:endPar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電子遊戲室</a:t>
            </a:r>
            <a:endParaRPr lang="en-US" altLang="zh-TW" sz="16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p:txBody>
      </p:sp>
      <p:sp>
        <p:nvSpPr>
          <p:cNvPr id="8" name="矩形圖說文字 60">
            <a:extLst>
              <a:ext uri="{FF2B5EF4-FFF2-40B4-BE49-F238E27FC236}">
                <a16:creationId xmlns:a16="http://schemas.microsoft.com/office/drawing/2014/main" xmlns="" id="{D18D4001-B846-4C07-84D8-D0D440E2F91D}"/>
              </a:ext>
            </a:extLst>
          </p:cNvPr>
          <p:cNvSpPr>
            <a:spLocks noChangeArrowheads="1"/>
          </p:cNvSpPr>
          <p:nvPr/>
        </p:nvSpPr>
        <p:spPr bwMode="auto">
          <a:xfrm>
            <a:off x="785786" y="428604"/>
            <a:ext cx="1500188" cy="2016125"/>
          </a:xfrm>
          <a:prstGeom prst="wedgeRectCallout">
            <a:avLst>
              <a:gd name="adj1" fmla="val 92380"/>
              <a:gd name="adj2" fmla="val 50464"/>
            </a:avLst>
          </a:prstGeom>
          <a:solidFill>
            <a:schemeClr val="accent2">
              <a:lumMod val="50000"/>
            </a:schemeClr>
          </a:solidFill>
        </p:spPr>
        <p:style>
          <a:lnRef idx="3">
            <a:schemeClr val="lt1"/>
          </a:lnRef>
          <a:fillRef idx="1">
            <a:schemeClr val="accent2"/>
          </a:fillRef>
          <a:effectRef idx="1">
            <a:schemeClr val="accent2"/>
          </a:effectRef>
          <a:fontRef idx="minor">
            <a:schemeClr val="lt1"/>
          </a:fontRef>
        </p:style>
        <p:txBody>
          <a:bodyPr anchor="ctr"/>
          <a:lstStyle/>
          <a:p>
            <a:pPr>
              <a:defRPr/>
            </a:pPr>
            <a:r>
              <a:rPr lang="zh-TW" altLang="en-US" dirty="0">
                <a:solidFill>
                  <a:schemeClr val="bg1"/>
                </a:solidFill>
                <a:latin typeface="+mn-ea"/>
              </a:rPr>
              <a:t>  </a:t>
            </a:r>
            <a:r>
              <a:rPr lang="zh-TW" altLang="en-US" sz="1400" dirty="0">
                <a:solidFill>
                  <a:schemeClr val="bg1"/>
                </a:solidFill>
                <a:latin typeface="+mn-ea"/>
              </a:rPr>
              <a:t>社區</a:t>
            </a:r>
            <a:r>
              <a:rPr lang="en-US" altLang="zh-TW" sz="1400" dirty="0">
                <a:solidFill>
                  <a:schemeClr val="bg1"/>
                </a:solidFill>
                <a:latin typeface="+mn-ea"/>
              </a:rPr>
              <a:t>VIP</a:t>
            </a:r>
            <a:r>
              <a:rPr lang="zh-TW" altLang="en-US" sz="1400" dirty="0">
                <a:solidFill>
                  <a:schemeClr val="bg1"/>
                </a:solidFill>
                <a:latin typeface="+mn-ea"/>
              </a:rPr>
              <a:t>秘書</a:t>
            </a:r>
            <a:r>
              <a:rPr lang="en-US" altLang="zh-TW" sz="1400" dirty="0">
                <a:solidFill>
                  <a:schemeClr val="bg1"/>
                </a:solidFill>
                <a:latin typeface="+mn-ea"/>
              </a:rPr>
              <a:t> </a:t>
            </a:r>
          </a:p>
          <a:p>
            <a:pPr>
              <a:defRPr/>
            </a:pPr>
            <a:r>
              <a:rPr lang="en-US" altLang="zh-TW" sz="1400" dirty="0">
                <a:solidFill>
                  <a:schemeClr val="bg1"/>
                </a:solidFill>
                <a:latin typeface="+mn-ea"/>
              </a:rPr>
              <a:t>1.</a:t>
            </a:r>
            <a:r>
              <a:rPr lang="zh-TW" altLang="en-US" sz="1400" dirty="0">
                <a:solidFill>
                  <a:schemeClr val="bg1"/>
                </a:solidFill>
                <a:latin typeface="+mn-ea"/>
              </a:rPr>
              <a:t>禮賓接待服務</a:t>
            </a:r>
            <a:endParaRPr lang="en-US" altLang="zh-TW" sz="1400" dirty="0">
              <a:solidFill>
                <a:schemeClr val="bg1"/>
              </a:solidFill>
              <a:latin typeface="+mn-ea"/>
            </a:endParaRPr>
          </a:p>
          <a:p>
            <a:pPr>
              <a:defRPr/>
            </a:pPr>
            <a:r>
              <a:rPr lang="en-US" altLang="zh-TW" sz="1400" dirty="0">
                <a:solidFill>
                  <a:schemeClr val="bg1"/>
                </a:solidFill>
                <a:latin typeface="+mn-ea"/>
              </a:rPr>
              <a:t>2.</a:t>
            </a:r>
            <a:r>
              <a:rPr lang="zh-TW" altLang="en-US" sz="1400" dirty="0">
                <a:solidFill>
                  <a:schemeClr val="bg1"/>
                </a:solidFill>
                <a:latin typeface="+mn-ea"/>
              </a:rPr>
              <a:t>文書作業整備</a:t>
            </a:r>
            <a:endParaRPr lang="en-US" altLang="zh-TW" sz="1400" dirty="0">
              <a:solidFill>
                <a:schemeClr val="bg1"/>
              </a:solidFill>
              <a:latin typeface="+mn-ea"/>
            </a:endParaRPr>
          </a:p>
          <a:p>
            <a:pPr>
              <a:defRPr/>
            </a:pPr>
            <a:r>
              <a:rPr lang="en-US" altLang="zh-TW" sz="1400" dirty="0">
                <a:solidFill>
                  <a:schemeClr val="bg1"/>
                </a:solidFill>
                <a:latin typeface="+mn-ea"/>
              </a:rPr>
              <a:t>3.</a:t>
            </a:r>
            <a:r>
              <a:rPr lang="zh-TW" altLang="en-US" sz="1400" dirty="0">
                <a:solidFill>
                  <a:schemeClr val="bg1"/>
                </a:solidFill>
                <a:latin typeface="+mn-ea"/>
              </a:rPr>
              <a:t>行政業務代辦</a:t>
            </a:r>
            <a:endParaRPr lang="en-US" altLang="zh-TW" sz="1400" dirty="0">
              <a:solidFill>
                <a:schemeClr val="bg1"/>
              </a:solidFill>
              <a:latin typeface="+mn-ea"/>
            </a:endParaRPr>
          </a:p>
          <a:p>
            <a:pPr>
              <a:defRPr/>
            </a:pPr>
            <a:r>
              <a:rPr lang="en-US" altLang="zh-TW" sz="1400" dirty="0">
                <a:solidFill>
                  <a:schemeClr val="bg1"/>
                </a:solidFill>
                <a:latin typeface="+mn-ea"/>
              </a:rPr>
              <a:t>4.</a:t>
            </a:r>
            <a:r>
              <a:rPr lang="zh-TW" altLang="en-US" sz="1400" dirty="0">
                <a:solidFill>
                  <a:schemeClr val="bg1"/>
                </a:solidFill>
                <a:latin typeface="+mn-ea"/>
              </a:rPr>
              <a:t>公設使用管理</a:t>
            </a:r>
            <a:endParaRPr lang="en-US" altLang="zh-TW" sz="1400" dirty="0">
              <a:solidFill>
                <a:schemeClr val="bg1"/>
              </a:solidFill>
              <a:latin typeface="+mn-ea"/>
            </a:endParaRPr>
          </a:p>
          <a:p>
            <a:pPr>
              <a:defRPr/>
            </a:pPr>
            <a:r>
              <a:rPr lang="en-US" altLang="zh-TW" sz="1400" dirty="0">
                <a:solidFill>
                  <a:schemeClr val="bg1"/>
                </a:solidFill>
                <a:latin typeface="+mn-ea"/>
              </a:rPr>
              <a:t>5.</a:t>
            </a:r>
            <a:r>
              <a:rPr lang="zh-TW" altLang="en-US" sz="1400" dirty="0">
                <a:solidFill>
                  <a:schemeClr val="bg1"/>
                </a:solidFill>
                <a:latin typeface="+mn-ea"/>
              </a:rPr>
              <a:t>招待訪客來賓</a:t>
            </a:r>
            <a:endParaRPr lang="en-US" altLang="zh-TW" sz="1400" dirty="0">
              <a:solidFill>
                <a:schemeClr val="bg1"/>
              </a:solidFill>
              <a:latin typeface="+mn-ea"/>
            </a:endParaRPr>
          </a:p>
          <a:p>
            <a:pPr>
              <a:defRPr/>
            </a:pPr>
            <a:r>
              <a:rPr lang="en-US" altLang="zh-TW" sz="1400" dirty="0">
                <a:solidFill>
                  <a:schemeClr val="bg1"/>
                </a:solidFill>
                <a:latin typeface="+mn-ea"/>
              </a:rPr>
              <a:t>6.</a:t>
            </a:r>
            <a:r>
              <a:rPr lang="zh-TW" altLang="en-US" sz="1400" dirty="0">
                <a:solidFill>
                  <a:schemeClr val="bg1"/>
                </a:solidFill>
                <a:latin typeface="+mn-ea"/>
              </a:rPr>
              <a:t>櫃台服務</a:t>
            </a:r>
            <a:endParaRPr lang="en-US" altLang="zh-TW" sz="1400" dirty="0">
              <a:solidFill>
                <a:schemeClr val="bg1"/>
              </a:solidFill>
              <a:latin typeface="+mn-ea"/>
            </a:endParaRPr>
          </a:p>
          <a:p>
            <a:pPr>
              <a:defRPr/>
            </a:pPr>
            <a:r>
              <a:rPr lang="en-US" altLang="zh-TW" sz="1400" dirty="0">
                <a:solidFill>
                  <a:schemeClr val="bg1"/>
                </a:solidFill>
                <a:latin typeface="+mn-ea"/>
              </a:rPr>
              <a:t>7.</a:t>
            </a:r>
            <a:r>
              <a:rPr lang="zh-TW" altLang="en-US" sz="1400" dirty="0">
                <a:solidFill>
                  <a:schemeClr val="bg1"/>
                </a:solidFill>
                <a:latin typeface="+mn-ea"/>
              </a:rPr>
              <a:t>其他</a:t>
            </a:r>
          </a:p>
        </p:txBody>
      </p:sp>
      <p:sp>
        <p:nvSpPr>
          <p:cNvPr id="10" name="矩形圖說文字 60">
            <a:extLst>
              <a:ext uri="{FF2B5EF4-FFF2-40B4-BE49-F238E27FC236}">
                <a16:creationId xmlns:a16="http://schemas.microsoft.com/office/drawing/2014/main" xmlns="" id="{08430496-8FFA-4EE4-A71A-1AA18ACE6C04}"/>
              </a:ext>
            </a:extLst>
          </p:cNvPr>
          <p:cNvSpPr>
            <a:spLocks noChangeArrowheads="1"/>
          </p:cNvSpPr>
          <p:nvPr/>
        </p:nvSpPr>
        <p:spPr bwMode="auto">
          <a:xfrm>
            <a:off x="4629163" y="2214554"/>
            <a:ext cx="2228853" cy="1654176"/>
          </a:xfrm>
          <a:prstGeom prst="wedgeRectCallout">
            <a:avLst>
              <a:gd name="adj1" fmla="val 2847"/>
              <a:gd name="adj2" fmla="val 81896"/>
            </a:avLst>
          </a:prstGeom>
        </p:spPr>
        <p:style>
          <a:lnRef idx="3">
            <a:schemeClr val="lt1"/>
          </a:lnRef>
          <a:fillRef idx="1">
            <a:schemeClr val="accent4"/>
          </a:fillRef>
          <a:effectRef idx="1">
            <a:schemeClr val="accent4"/>
          </a:effectRef>
          <a:fontRef idx="minor">
            <a:schemeClr val="lt1"/>
          </a:fontRef>
        </p:style>
        <p:txBody>
          <a:bodyPr anchor="ctr"/>
          <a:lstStyle/>
          <a:p>
            <a:pPr>
              <a:defRPr/>
            </a:pPr>
            <a:r>
              <a:rPr lang="zh-TW" altLang="en-US" sz="1600" dirty="0">
                <a:solidFill>
                  <a:schemeClr val="bg1"/>
                </a:solidFill>
                <a:latin typeface="Calibri" panose="020F0502020204030204" pitchFamily="34" charset="0"/>
              </a:rPr>
              <a:t> </a:t>
            </a:r>
            <a:r>
              <a:rPr lang="zh-TW" altLang="en-US" sz="1200" dirty="0">
                <a:solidFill>
                  <a:schemeClr val="bg1"/>
                </a:solidFill>
                <a:latin typeface="微軟正黑體" panose="020B0604030504040204" pitchFamily="34" charset="-120"/>
              </a:rPr>
              <a:t>社區清潔人員</a:t>
            </a:r>
            <a:r>
              <a:rPr lang="en-US" altLang="zh-TW" sz="1200" dirty="0">
                <a:solidFill>
                  <a:schemeClr val="bg1"/>
                </a:solidFill>
                <a:latin typeface="微軟正黑體" panose="020B0604030504040204" pitchFamily="34" charset="-120"/>
              </a:rPr>
              <a:t>(8H)</a:t>
            </a:r>
          </a:p>
          <a:p>
            <a:pPr>
              <a:defRPr/>
            </a:pPr>
            <a:r>
              <a:rPr lang="zh-TW" altLang="en-US" sz="1200" dirty="0">
                <a:solidFill>
                  <a:schemeClr val="bg1"/>
                </a:solidFill>
                <a:latin typeface="微軟正黑體" panose="020B0604030504040204" pitchFamily="34" charset="-120"/>
              </a:rPr>
              <a:t>  </a:t>
            </a:r>
            <a:r>
              <a:rPr lang="en-US" altLang="zh-TW" sz="1200" dirty="0" smtClean="0">
                <a:solidFill>
                  <a:schemeClr val="bg1"/>
                </a:solidFill>
                <a:latin typeface="微軟正黑體" panose="020B0604030504040204" pitchFamily="34" charset="-120"/>
              </a:rPr>
              <a:t>08:00-17:00/13:00~22:00</a:t>
            </a:r>
            <a:r>
              <a:rPr lang="zh-TW" altLang="en-US" sz="1200" dirty="0" smtClean="0">
                <a:solidFill>
                  <a:schemeClr val="bg1"/>
                </a:solidFill>
                <a:latin typeface="微軟正黑體" panose="020B0604030504040204" pitchFamily="34" charset="-120"/>
              </a:rPr>
              <a:t>時</a:t>
            </a:r>
            <a:r>
              <a:rPr lang="en-US" altLang="zh-TW" sz="1200" dirty="0" smtClean="0">
                <a:solidFill>
                  <a:schemeClr val="bg1"/>
                </a:solidFill>
                <a:latin typeface="微軟正黑體" panose="020B0604030504040204" pitchFamily="34" charset="-120"/>
              </a:rPr>
              <a:t>(14</a:t>
            </a:r>
            <a:r>
              <a:rPr lang="zh-TW" altLang="en-US" sz="1200" dirty="0" smtClean="0">
                <a:solidFill>
                  <a:schemeClr val="bg1"/>
                </a:solidFill>
                <a:latin typeface="微軟正黑體" panose="020B0604030504040204" pitchFamily="34" charset="-120"/>
              </a:rPr>
              <a:t>人</a:t>
            </a:r>
            <a:r>
              <a:rPr lang="en-US" altLang="zh-TW" sz="1200" dirty="0">
                <a:solidFill>
                  <a:schemeClr val="bg1"/>
                </a:solidFill>
                <a:latin typeface="微軟正黑體" panose="020B0604030504040204" pitchFamily="34" charset="-120"/>
              </a:rPr>
              <a:t>)</a:t>
            </a:r>
          </a:p>
          <a:p>
            <a:pPr>
              <a:defRPr/>
            </a:pPr>
            <a:r>
              <a:rPr lang="en-US" altLang="zh-TW" sz="1200" dirty="0">
                <a:solidFill>
                  <a:schemeClr val="bg1"/>
                </a:solidFill>
                <a:latin typeface="微軟正黑體" panose="020B0604030504040204" pitchFamily="34" charset="-120"/>
              </a:rPr>
              <a:t>1.</a:t>
            </a:r>
            <a:r>
              <a:rPr lang="zh-TW" altLang="en-US" sz="1200" dirty="0">
                <a:solidFill>
                  <a:schemeClr val="bg1"/>
                </a:solidFill>
                <a:latin typeface="微軟正黑體" panose="020B0604030504040204" pitchFamily="34" charset="-120"/>
              </a:rPr>
              <a:t>各樓層梯間清潔維護</a:t>
            </a:r>
            <a:endParaRPr lang="en-US" altLang="zh-TW" sz="1200" dirty="0">
              <a:solidFill>
                <a:schemeClr val="bg1"/>
              </a:solidFill>
              <a:latin typeface="微軟正黑體" panose="020B0604030504040204" pitchFamily="34" charset="-120"/>
            </a:endParaRPr>
          </a:p>
          <a:p>
            <a:pPr>
              <a:defRPr/>
            </a:pPr>
            <a:r>
              <a:rPr lang="en-US" altLang="zh-TW" sz="1200" dirty="0">
                <a:solidFill>
                  <a:schemeClr val="bg1"/>
                </a:solidFill>
                <a:latin typeface="微軟正黑體" panose="020B0604030504040204" pitchFamily="34" charset="-120"/>
              </a:rPr>
              <a:t>2.</a:t>
            </a:r>
            <a:r>
              <a:rPr lang="zh-TW" altLang="en-US" sz="1200" dirty="0">
                <a:solidFill>
                  <a:schemeClr val="bg1"/>
                </a:solidFill>
                <a:latin typeface="微軟正黑體" panose="020B0604030504040204" pitchFamily="34" charset="-120"/>
              </a:rPr>
              <a:t>外圍級車道清潔</a:t>
            </a:r>
            <a:endParaRPr lang="en-US" altLang="zh-TW" sz="1200" dirty="0">
              <a:solidFill>
                <a:schemeClr val="bg1"/>
              </a:solidFill>
              <a:latin typeface="微軟正黑體" panose="020B0604030504040204" pitchFamily="34" charset="-120"/>
            </a:endParaRPr>
          </a:p>
          <a:p>
            <a:pPr>
              <a:defRPr/>
            </a:pPr>
            <a:r>
              <a:rPr lang="en-US" altLang="zh-TW" sz="1200" dirty="0">
                <a:solidFill>
                  <a:schemeClr val="bg1"/>
                </a:solidFill>
                <a:latin typeface="微軟正黑體" panose="020B0604030504040204" pitchFamily="34" charset="-120"/>
              </a:rPr>
              <a:t>3.</a:t>
            </a:r>
            <a:r>
              <a:rPr lang="zh-TW" altLang="en-US" sz="1200" dirty="0">
                <a:solidFill>
                  <a:schemeClr val="bg1"/>
                </a:solidFill>
                <a:latin typeface="微軟正黑體" panose="020B0604030504040204" pitchFamily="34" charset="-120"/>
              </a:rPr>
              <a:t>停車場清潔</a:t>
            </a:r>
            <a:endParaRPr lang="en-US" altLang="zh-TW" sz="1200" dirty="0">
              <a:solidFill>
                <a:schemeClr val="bg1"/>
              </a:solidFill>
              <a:latin typeface="微軟正黑體" panose="020B0604030504040204" pitchFamily="34" charset="-120"/>
            </a:endParaRPr>
          </a:p>
          <a:p>
            <a:pPr>
              <a:defRPr/>
            </a:pPr>
            <a:r>
              <a:rPr lang="en-US" altLang="zh-TW" sz="1200" dirty="0">
                <a:solidFill>
                  <a:schemeClr val="bg1"/>
                </a:solidFill>
                <a:latin typeface="微軟正黑體" panose="020B0604030504040204" pitchFamily="34" charset="-120"/>
              </a:rPr>
              <a:t>4.</a:t>
            </a:r>
            <a:r>
              <a:rPr lang="zh-TW" altLang="en-US" sz="1200" dirty="0">
                <a:solidFill>
                  <a:schemeClr val="bg1"/>
                </a:solidFill>
                <a:latin typeface="微軟正黑體" panose="020B0604030504040204" pitchFamily="34" charset="-120"/>
              </a:rPr>
              <a:t>資源回收處理</a:t>
            </a:r>
          </a:p>
        </p:txBody>
      </p:sp>
    </p:spTree>
    <p:extLst>
      <p:ext uri="{BB962C8B-B14F-4D97-AF65-F5344CB8AC3E}">
        <p14:creationId xmlns="" xmlns:p14="http://schemas.microsoft.com/office/powerpoint/2010/main" val="3197290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434" name="Picture 2" descr="C:\Users\User\Desktop\近期洽談新案(儲備人力)\麗寶建設三新案(淡水新莊桃園)\淡海\協理提供\麗寶淡水\平面圖jpg\7.三層平面圖 _工作區域 1.jpg"/>
          <p:cNvPicPr>
            <a:picLocks noChangeAspect="1" noChangeArrowheads="1"/>
          </p:cNvPicPr>
          <p:nvPr/>
        </p:nvPicPr>
        <p:blipFill>
          <a:blip r:embed="rId2" cstate="print"/>
          <a:srcRect/>
          <a:stretch>
            <a:fillRect/>
          </a:stretch>
        </p:blipFill>
        <p:spPr bwMode="auto">
          <a:xfrm>
            <a:off x="214282" y="571480"/>
            <a:ext cx="8572560" cy="6061790"/>
          </a:xfrm>
          <a:prstGeom prst="rect">
            <a:avLst/>
          </a:prstGeom>
          <a:noFill/>
        </p:spPr>
      </p:pic>
      <p:pic>
        <p:nvPicPr>
          <p:cNvPr id="3" name="Picture 6" descr="http://pic.nipic.com/2007-06-20/2007620163833855_2.jpg">
            <a:extLst>
              <a:ext uri="{FF2B5EF4-FFF2-40B4-BE49-F238E27FC236}">
                <a16:creationId xmlns:a16="http://schemas.microsoft.com/office/drawing/2014/main" xmlns="" id="{E88C7CAF-A809-4F99-9850-CA9723D171D8}"/>
              </a:ext>
            </a:extLst>
          </p:cNvPr>
          <p:cNvPicPr>
            <a:picLocks noChangeAspect="1" noChangeArrowheads="1"/>
          </p:cNvPicPr>
          <p:nvPr/>
        </p:nvPicPr>
        <p:blipFill>
          <a:blip r:embed="rId3"/>
          <a:srcRect t="3751" r="66927" b="12999"/>
          <a:stretch>
            <a:fillRect/>
          </a:stretch>
        </p:blipFill>
        <p:spPr bwMode="auto">
          <a:xfrm>
            <a:off x="5143504" y="4429132"/>
            <a:ext cx="430212" cy="935038"/>
          </a:xfrm>
          <a:prstGeom prst="rect">
            <a:avLst/>
          </a:prstGeom>
          <a:noFill/>
          <a:ln w="9525">
            <a:noFill/>
            <a:miter lim="800000"/>
            <a:headEnd/>
            <a:tailEnd/>
          </a:ln>
        </p:spPr>
      </p:pic>
      <p:sp>
        <p:nvSpPr>
          <p:cNvPr id="4" name="矩形圖說文字 60">
            <a:extLst>
              <a:ext uri="{FF2B5EF4-FFF2-40B4-BE49-F238E27FC236}">
                <a16:creationId xmlns:a16="http://schemas.microsoft.com/office/drawing/2014/main" xmlns="" id="{08430496-8FFA-4EE4-A71A-1AA18ACE6C04}"/>
              </a:ext>
            </a:extLst>
          </p:cNvPr>
          <p:cNvSpPr>
            <a:spLocks noChangeArrowheads="1"/>
          </p:cNvSpPr>
          <p:nvPr/>
        </p:nvSpPr>
        <p:spPr bwMode="auto">
          <a:xfrm>
            <a:off x="4714876" y="2357430"/>
            <a:ext cx="1800225" cy="1511300"/>
          </a:xfrm>
          <a:prstGeom prst="wedgeRectCallout">
            <a:avLst>
              <a:gd name="adj1" fmla="val 2847"/>
              <a:gd name="adj2" fmla="val 81896"/>
            </a:avLst>
          </a:prstGeom>
        </p:spPr>
        <p:style>
          <a:lnRef idx="3">
            <a:schemeClr val="lt1"/>
          </a:lnRef>
          <a:fillRef idx="1">
            <a:schemeClr val="accent4"/>
          </a:fillRef>
          <a:effectRef idx="1">
            <a:schemeClr val="accent4"/>
          </a:effectRef>
          <a:fontRef idx="minor">
            <a:schemeClr val="lt1"/>
          </a:fontRef>
        </p:style>
        <p:txBody>
          <a:bodyPr anchor="ctr"/>
          <a:lstStyle/>
          <a:p>
            <a:pPr>
              <a:defRPr/>
            </a:pPr>
            <a:r>
              <a:rPr lang="zh-TW" altLang="en-US" sz="1600" dirty="0">
                <a:solidFill>
                  <a:schemeClr val="bg1"/>
                </a:solidFill>
                <a:latin typeface="Calibri" panose="020F0502020204030204" pitchFamily="34" charset="0"/>
              </a:rPr>
              <a:t> </a:t>
            </a:r>
            <a:r>
              <a:rPr lang="zh-TW" altLang="en-US" sz="1200" dirty="0">
                <a:solidFill>
                  <a:schemeClr val="bg1"/>
                </a:solidFill>
                <a:latin typeface="微軟正黑體" panose="020B0604030504040204" pitchFamily="34" charset="-120"/>
              </a:rPr>
              <a:t>社區清潔人員</a:t>
            </a:r>
            <a:r>
              <a:rPr lang="en-US" altLang="zh-TW" sz="1200" dirty="0">
                <a:solidFill>
                  <a:schemeClr val="bg1"/>
                </a:solidFill>
                <a:latin typeface="微軟正黑體" panose="020B0604030504040204" pitchFamily="34" charset="-120"/>
              </a:rPr>
              <a:t>(8H)</a:t>
            </a:r>
          </a:p>
          <a:p>
            <a:pPr>
              <a:defRPr/>
            </a:pPr>
            <a:r>
              <a:rPr lang="zh-TW" altLang="en-US" sz="1200" dirty="0">
                <a:solidFill>
                  <a:schemeClr val="bg1"/>
                </a:solidFill>
                <a:latin typeface="微軟正黑體" panose="020B0604030504040204" pitchFamily="34" charset="-120"/>
              </a:rPr>
              <a:t>  </a:t>
            </a:r>
            <a:r>
              <a:rPr lang="en-US" altLang="zh-TW" sz="1200" dirty="0">
                <a:solidFill>
                  <a:schemeClr val="bg1"/>
                </a:solidFill>
                <a:latin typeface="微軟正黑體" panose="020B0604030504040204" pitchFamily="34" charset="-120"/>
              </a:rPr>
              <a:t>08:00-17:00</a:t>
            </a:r>
            <a:r>
              <a:rPr lang="zh-TW" altLang="en-US" sz="1200" dirty="0">
                <a:solidFill>
                  <a:schemeClr val="bg1"/>
                </a:solidFill>
                <a:latin typeface="微軟正黑體" panose="020B0604030504040204" pitchFamily="34" charset="-120"/>
              </a:rPr>
              <a:t>時</a:t>
            </a:r>
            <a:r>
              <a:rPr lang="en-US" altLang="zh-TW" sz="1200" dirty="0" smtClean="0">
                <a:solidFill>
                  <a:schemeClr val="bg1"/>
                </a:solidFill>
                <a:latin typeface="微軟正黑體" panose="020B0604030504040204" pitchFamily="34" charset="-120"/>
              </a:rPr>
              <a:t>(14</a:t>
            </a:r>
            <a:r>
              <a:rPr lang="zh-TW" altLang="en-US" sz="1200" dirty="0" smtClean="0">
                <a:solidFill>
                  <a:schemeClr val="bg1"/>
                </a:solidFill>
                <a:latin typeface="微軟正黑體" panose="020B0604030504040204" pitchFamily="34" charset="-120"/>
              </a:rPr>
              <a:t>人</a:t>
            </a:r>
            <a:r>
              <a:rPr lang="en-US" altLang="zh-TW" sz="1200" dirty="0">
                <a:solidFill>
                  <a:schemeClr val="bg1"/>
                </a:solidFill>
                <a:latin typeface="微軟正黑體" panose="020B0604030504040204" pitchFamily="34" charset="-120"/>
              </a:rPr>
              <a:t>)</a:t>
            </a:r>
          </a:p>
          <a:p>
            <a:pPr>
              <a:defRPr/>
            </a:pPr>
            <a:r>
              <a:rPr lang="en-US" altLang="zh-TW" sz="1200" dirty="0">
                <a:solidFill>
                  <a:schemeClr val="bg1"/>
                </a:solidFill>
                <a:latin typeface="微軟正黑體" panose="020B0604030504040204" pitchFamily="34" charset="-120"/>
              </a:rPr>
              <a:t>1.</a:t>
            </a:r>
            <a:r>
              <a:rPr lang="zh-TW" altLang="en-US" sz="1200" dirty="0">
                <a:solidFill>
                  <a:schemeClr val="bg1"/>
                </a:solidFill>
                <a:latin typeface="微軟正黑體" panose="020B0604030504040204" pitchFamily="34" charset="-120"/>
              </a:rPr>
              <a:t>各樓層梯間清潔維護</a:t>
            </a:r>
            <a:endParaRPr lang="en-US" altLang="zh-TW" sz="1200" dirty="0">
              <a:solidFill>
                <a:schemeClr val="bg1"/>
              </a:solidFill>
              <a:latin typeface="微軟正黑體" panose="020B0604030504040204" pitchFamily="34" charset="-120"/>
            </a:endParaRPr>
          </a:p>
          <a:p>
            <a:pPr>
              <a:defRPr/>
            </a:pPr>
            <a:r>
              <a:rPr lang="en-US" altLang="zh-TW" sz="1200" dirty="0">
                <a:solidFill>
                  <a:schemeClr val="bg1"/>
                </a:solidFill>
                <a:latin typeface="微軟正黑體" panose="020B0604030504040204" pitchFamily="34" charset="-120"/>
              </a:rPr>
              <a:t>2.</a:t>
            </a:r>
            <a:r>
              <a:rPr lang="zh-TW" altLang="en-US" sz="1200" dirty="0">
                <a:solidFill>
                  <a:schemeClr val="bg1"/>
                </a:solidFill>
                <a:latin typeface="微軟正黑體" panose="020B0604030504040204" pitchFamily="34" charset="-120"/>
              </a:rPr>
              <a:t>外圍級車道清潔</a:t>
            </a:r>
            <a:endParaRPr lang="en-US" altLang="zh-TW" sz="1200" dirty="0">
              <a:solidFill>
                <a:schemeClr val="bg1"/>
              </a:solidFill>
              <a:latin typeface="微軟正黑體" panose="020B0604030504040204" pitchFamily="34" charset="-120"/>
            </a:endParaRPr>
          </a:p>
          <a:p>
            <a:pPr>
              <a:defRPr/>
            </a:pPr>
            <a:r>
              <a:rPr lang="en-US" altLang="zh-TW" sz="1200" dirty="0">
                <a:solidFill>
                  <a:schemeClr val="bg1"/>
                </a:solidFill>
                <a:latin typeface="微軟正黑體" panose="020B0604030504040204" pitchFamily="34" charset="-120"/>
              </a:rPr>
              <a:t>3.</a:t>
            </a:r>
            <a:r>
              <a:rPr lang="zh-TW" altLang="en-US" sz="1200" dirty="0">
                <a:solidFill>
                  <a:schemeClr val="bg1"/>
                </a:solidFill>
                <a:latin typeface="微軟正黑體" panose="020B0604030504040204" pitchFamily="34" charset="-120"/>
              </a:rPr>
              <a:t>停車場清潔</a:t>
            </a:r>
            <a:endParaRPr lang="en-US" altLang="zh-TW" sz="1200" dirty="0">
              <a:solidFill>
                <a:schemeClr val="bg1"/>
              </a:solidFill>
              <a:latin typeface="微軟正黑體" panose="020B0604030504040204" pitchFamily="34" charset="-120"/>
            </a:endParaRPr>
          </a:p>
          <a:p>
            <a:pPr>
              <a:defRPr/>
            </a:pPr>
            <a:r>
              <a:rPr lang="en-US" altLang="zh-TW" sz="1200" dirty="0">
                <a:solidFill>
                  <a:schemeClr val="bg1"/>
                </a:solidFill>
                <a:latin typeface="微軟正黑體" panose="020B0604030504040204" pitchFamily="34" charset="-120"/>
              </a:rPr>
              <a:t>4.</a:t>
            </a:r>
            <a:r>
              <a:rPr lang="zh-TW" altLang="en-US" sz="1200" dirty="0">
                <a:solidFill>
                  <a:schemeClr val="bg1"/>
                </a:solidFill>
                <a:latin typeface="微軟正黑體" panose="020B0604030504040204" pitchFamily="34" charset="-120"/>
              </a:rPr>
              <a:t>資源回收處理</a:t>
            </a:r>
          </a:p>
        </p:txBody>
      </p:sp>
    </p:spTree>
    <p:extLst>
      <p:ext uri="{BB962C8B-B14F-4D97-AF65-F5344CB8AC3E}">
        <p14:creationId xmlns="" xmlns:p14="http://schemas.microsoft.com/office/powerpoint/2010/main" val="3197290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9506" name="Picture 2" descr="C:\Users\User\Desktop\近期洽談新案(儲備人力)\麗寶建設三新案(淡水新莊桃園)\淡海\協理提供\麗寶淡水\平面圖jpg\10.六.八.十.十二層平面圖 _工作區域 1.jpg"/>
          <p:cNvPicPr>
            <a:picLocks noChangeAspect="1" noChangeArrowheads="1"/>
          </p:cNvPicPr>
          <p:nvPr/>
        </p:nvPicPr>
        <p:blipFill>
          <a:blip r:embed="rId2" cstate="print"/>
          <a:srcRect/>
          <a:stretch>
            <a:fillRect/>
          </a:stretch>
        </p:blipFill>
        <p:spPr bwMode="auto">
          <a:xfrm>
            <a:off x="214282" y="571480"/>
            <a:ext cx="8572560" cy="6061790"/>
          </a:xfrm>
          <a:prstGeom prst="rect">
            <a:avLst/>
          </a:prstGeom>
          <a:noFill/>
        </p:spPr>
      </p:pic>
      <p:pic>
        <p:nvPicPr>
          <p:cNvPr id="3" name="Picture 3">
            <a:extLst>
              <a:ext uri="{FF2B5EF4-FFF2-40B4-BE49-F238E27FC236}">
                <a16:creationId xmlns:a16="http://schemas.microsoft.com/office/drawing/2014/main" xmlns="" id="{8FECBCB9-0A5D-4DD7-BF39-3D240965BD98}"/>
              </a:ext>
            </a:extLst>
          </p:cNvPr>
          <p:cNvPicPr>
            <a:picLocks noChangeAspect="1" noChangeArrowheads="1"/>
          </p:cNvPicPr>
          <p:nvPr/>
        </p:nvPicPr>
        <p:blipFill>
          <a:blip r:embed="rId3"/>
          <a:srcRect/>
          <a:stretch>
            <a:fillRect/>
          </a:stretch>
        </p:blipFill>
        <p:spPr bwMode="auto">
          <a:xfrm>
            <a:off x="5857884" y="2357430"/>
            <a:ext cx="431800" cy="1244600"/>
          </a:xfrm>
          <a:prstGeom prst="rect">
            <a:avLst/>
          </a:prstGeom>
          <a:noFill/>
          <a:ln w="9525">
            <a:noFill/>
            <a:miter lim="800000"/>
            <a:headEnd/>
            <a:tailEnd/>
          </a:ln>
        </p:spPr>
      </p:pic>
      <p:sp>
        <p:nvSpPr>
          <p:cNvPr id="4" name="矩形圖說文字 60">
            <a:extLst>
              <a:ext uri="{FF2B5EF4-FFF2-40B4-BE49-F238E27FC236}">
                <a16:creationId xmlns:a16="http://schemas.microsoft.com/office/drawing/2014/main" xmlns="" id="{326AA49F-9FA7-4444-9C7E-AD27540EE1B9}"/>
              </a:ext>
            </a:extLst>
          </p:cNvPr>
          <p:cNvSpPr>
            <a:spLocks noChangeArrowheads="1"/>
          </p:cNvSpPr>
          <p:nvPr/>
        </p:nvSpPr>
        <p:spPr bwMode="auto">
          <a:xfrm>
            <a:off x="6410350" y="357166"/>
            <a:ext cx="1733550" cy="1785938"/>
          </a:xfrm>
          <a:prstGeom prst="wedgeRectCallout">
            <a:avLst>
              <a:gd name="adj1" fmla="val -57205"/>
              <a:gd name="adj2" fmla="val 103571"/>
            </a:avLst>
          </a:prstGeom>
          <a:solidFill>
            <a:schemeClr val="accent4">
              <a:lumMod val="75000"/>
            </a:schemeClr>
          </a:solidFill>
        </p:spPr>
        <p:style>
          <a:lnRef idx="3">
            <a:schemeClr val="lt1"/>
          </a:lnRef>
          <a:fillRef idx="1">
            <a:schemeClr val="accent2"/>
          </a:fillRef>
          <a:effectRef idx="1">
            <a:schemeClr val="accent2"/>
          </a:effectRef>
          <a:fontRef idx="minor">
            <a:schemeClr val="lt1"/>
          </a:fontRef>
        </p:style>
        <p:txBody>
          <a:bodyPr anchor="ctr"/>
          <a:lstStyle/>
          <a:p>
            <a:pPr>
              <a:defRPr/>
            </a:pPr>
            <a:r>
              <a:rPr lang="zh-TW" altLang="en-US" sz="1400" dirty="0" smtClean="0">
                <a:latin typeface="Calibri" panose="020F0502020204030204" pitchFamily="34" charset="0"/>
                <a:ea typeface="超研澤細圓" pitchFamily="49" charset="-120"/>
              </a:rPr>
              <a:t>社區副理</a:t>
            </a:r>
            <a:r>
              <a:rPr lang="en-US" altLang="zh-TW" sz="1400" dirty="0" smtClean="0">
                <a:latin typeface="Calibri" panose="020F0502020204030204" pitchFamily="34" charset="0"/>
                <a:ea typeface="超研澤細圓" pitchFamily="49" charset="-120"/>
              </a:rPr>
              <a:t>(2)</a:t>
            </a:r>
          </a:p>
          <a:p>
            <a:pPr>
              <a:defRPr/>
            </a:pPr>
            <a:r>
              <a:rPr lang="en-US" altLang="zh-TW" sz="1400" dirty="0" smtClean="0">
                <a:latin typeface="Calibri" panose="020F0502020204030204" pitchFamily="34" charset="0"/>
                <a:ea typeface="超研澤細圓" pitchFamily="49" charset="-120"/>
              </a:rPr>
              <a:t>1</a:t>
            </a:r>
            <a:r>
              <a:rPr lang="en-US" altLang="zh-TW" sz="1400" dirty="0">
                <a:latin typeface="Calibri" panose="020F0502020204030204" pitchFamily="34" charset="0"/>
                <a:ea typeface="超研澤細圓" pitchFamily="49" charset="-120"/>
              </a:rPr>
              <a:t>.</a:t>
            </a:r>
            <a:r>
              <a:rPr lang="zh-TW" altLang="en-US" sz="1400" dirty="0">
                <a:latin typeface="Calibri" panose="020F0502020204030204" pitchFamily="34" charset="0"/>
                <a:ea typeface="超研澤細圓" pitchFamily="49" charset="-120"/>
              </a:rPr>
              <a:t>文書作業整備</a:t>
            </a:r>
            <a:endParaRPr lang="en-US" altLang="zh-TW" sz="1400" dirty="0">
              <a:latin typeface="Calibri" panose="020F0502020204030204" pitchFamily="34" charset="0"/>
              <a:ea typeface="超研澤細圓" pitchFamily="49" charset="-120"/>
            </a:endParaRPr>
          </a:p>
          <a:p>
            <a:pPr>
              <a:defRPr/>
            </a:pPr>
            <a:r>
              <a:rPr lang="en-US" altLang="zh-TW" sz="1400" dirty="0">
                <a:latin typeface="Calibri" panose="020F0502020204030204" pitchFamily="34" charset="0"/>
                <a:ea typeface="超研澤細圓" pitchFamily="49" charset="-120"/>
              </a:rPr>
              <a:t>2.</a:t>
            </a:r>
            <a:r>
              <a:rPr lang="zh-TW" altLang="en-US" sz="1400" dirty="0">
                <a:latin typeface="Calibri" panose="020F0502020204030204" pitchFamily="34" charset="0"/>
                <a:ea typeface="超研澤細圓" pitchFamily="49" charset="-120"/>
              </a:rPr>
              <a:t>行政業務代辦</a:t>
            </a:r>
            <a:endParaRPr lang="en-US" altLang="zh-TW" sz="1400" dirty="0">
              <a:latin typeface="Calibri" panose="020F0502020204030204" pitchFamily="34" charset="0"/>
              <a:ea typeface="超研澤細圓" pitchFamily="49" charset="-120"/>
            </a:endParaRPr>
          </a:p>
          <a:p>
            <a:pPr>
              <a:defRPr/>
            </a:pPr>
            <a:r>
              <a:rPr lang="en-US" altLang="zh-TW" sz="1400" dirty="0">
                <a:latin typeface="Calibri" panose="020F0502020204030204" pitchFamily="34" charset="0"/>
                <a:ea typeface="超研澤細圓" pitchFamily="49" charset="-120"/>
              </a:rPr>
              <a:t>3.</a:t>
            </a:r>
            <a:r>
              <a:rPr lang="zh-TW" altLang="en-US" sz="1400" dirty="0">
                <a:latin typeface="Calibri" panose="020F0502020204030204" pitchFamily="34" charset="0"/>
                <a:ea typeface="超研澤細圓" pitchFamily="49" charset="-120"/>
              </a:rPr>
              <a:t>公設使用管理</a:t>
            </a:r>
            <a:endParaRPr lang="en-US" altLang="zh-TW" sz="1400" dirty="0">
              <a:latin typeface="Calibri" panose="020F0502020204030204" pitchFamily="34" charset="0"/>
              <a:ea typeface="超研澤細圓" pitchFamily="49" charset="-120"/>
            </a:endParaRPr>
          </a:p>
          <a:p>
            <a:pPr>
              <a:defRPr/>
            </a:pPr>
            <a:r>
              <a:rPr lang="en-US" altLang="zh-TW" sz="1400" dirty="0">
                <a:latin typeface="Calibri" panose="020F0502020204030204" pitchFamily="34" charset="0"/>
                <a:ea typeface="超研澤細圓" pitchFamily="49" charset="-120"/>
              </a:rPr>
              <a:t>4.</a:t>
            </a:r>
            <a:r>
              <a:rPr lang="zh-TW" altLang="en-US" sz="1400" dirty="0">
                <a:latin typeface="Calibri" panose="020F0502020204030204" pitchFamily="34" charset="0"/>
                <a:ea typeface="超研澤細圓" pitchFamily="49" charset="-120"/>
              </a:rPr>
              <a:t>招待訪客來賓</a:t>
            </a:r>
            <a:endParaRPr lang="en-US" altLang="zh-TW" sz="1400" dirty="0">
              <a:latin typeface="Calibri" panose="020F0502020204030204" pitchFamily="34" charset="0"/>
              <a:ea typeface="超研澤細圓" pitchFamily="49" charset="-120"/>
            </a:endParaRPr>
          </a:p>
          <a:p>
            <a:pPr>
              <a:defRPr/>
            </a:pPr>
            <a:r>
              <a:rPr lang="en-US" altLang="zh-TW" sz="1400" dirty="0">
                <a:latin typeface="Calibri" panose="020F0502020204030204" pitchFamily="34" charset="0"/>
                <a:ea typeface="超研澤細圓" pitchFamily="49" charset="-120"/>
              </a:rPr>
              <a:t>5.</a:t>
            </a:r>
            <a:r>
              <a:rPr lang="zh-TW" altLang="en-US" sz="1400" dirty="0">
                <a:solidFill>
                  <a:srgbClr val="FF0000"/>
                </a:solidFill>
                <a:latin typeface="Calibri" panose="020F0502020204030204" pitchFamily="34" charset="0"/>
                <a:ea typeface="超研澤細圓" pitchFamily="49" charset="-120"/>
              </a:rPr>
              <a:t>裝潢</a:t>
            </a:r>
            <a:r>
              <a:rPr lang="zh-TW" altLang="en-US" sz="1400" dirty="0" smtClean="0">
                <a:solidFill>
                  <a:srgbClr val="FF0000"/>
                </a:solidFill>
                <a:latin typeface="Calibri" panose="020F0502020204030204" pitchFamily="34" charset="0"/>
                <a:ea typeface="超研澤細圓" pitchFamily="49" charset="-120"/>
              </a:rPr>
              <a:t>施工</a:t>
            </a:r>
            <a:r>
              <a:rPr lang="zh-TW" altLang="en-US" sz="1400" dirty="0" smtClean="0">
                <a:solidFill>
                  <a:srgbClr val="FF0000"/>
                </a:solidFill>
                <a:latin typeface="Calibri" panose="020F0502020204030204" pitchFamily="34" charset="0"/>
                <a:ea typeface="超研澤細圓" pitchFamily="49" charset="-120"/>
              </a:rPr>
              <a:t>巡查</a:t>
            </a:r>
            <a:r>
              <a:rPr lang="zh-TW" altLang="en-US" sz="1400" dirty="0" smtClean="0">
                <a:solidFill>
                  <a:srgbClr val="FF0000"/>
                </a:solidFill>
                <a:latin typeface="Calibri" panose="020F0502020204030204" pitchFamily="34" charset="0"/>
                <a:ea typeface="超研澤細圓" pitchFamily="49" charset="-120"/>
              </a:rPr>
              <a:t>           </a:t>
            </a:r>
            <a:r>
              <a:rPr lang="en-US" altLang="zh-TW" sz="1400" dirty="0" smtClean="0">
                <a:latin typeface="Calibri" panose="020F0502020204030204" pitchFamily="34" charset="0"/>
                <a:ea typeface="超研澤細圓" pitchFamily="49" charset="-120"/>
              </a:rPr>
              <a:t>6</a:t>
            </a:r>
            <a:r>
              <a:rPr lang="en-US" altLang="zh-TW" sz="1400" dirty="0">
                <a:latin typeface="Calibri" panose="020F0502020204030204" pitchFamily="34" charset="0"/>
                <a:ea typeface="超研澤細圓" pitchFamily="49" charset="-120"/>
              </a:rPr>
              <a:t>.</a:t>
            </a:r>
            <a:r>
              <a:rPr lang="zh-TW" altLang="en-US" sz="1400" dirty="0">
                <a:latin typeface="Calibri" panose="020F0502020204030204" pitchFamily="34" charset="0"/>
                <a:ea typeface="超研澤細圓" pitchFamily="49" charset="-120"/>
              </a:rPr>
              <a:t>櫃台服務</a:t>
            </a:r>
            <a:endParaRPr lang="en-US" altLang="zh-TW" sz="1400" dirty="0">
              <a:latin typeface="Calibri" panose="020F0502020204030204" pitchFamily="34" charset="0"/>
              <a:ea typeface="超研澤細圓" pitchFamily="49" charset="-120"/>
            </a:endParaRPr>
          </a:p>
          <a:p>
            <a:pPr>
              <a:defRPr/>
            </a:pPr>
            <a:r>
              <a:rPr lang="en-US" altLang="zh-TW" sz="1400" dirty="0">
                <a:latin typeface="Calibri" panose="020F0502020204030204" pitchFamily="34" charset="0"/>
                <a:ea typeface="超研澤細圓" pitchFamily="49" charset="-120"/>
              </a:rPr>
              <a:t>7.</a:t>
            </a:r>
            <a:r>
              <a:rPr lang="zh-TW" altLang="en-US" sz="1400" dirty="0">
                <a:latin typeface="Calibri" panose="020F0502020204030204" pitchFamily="34" charset="0"/>
                <a:ea typeface="超研澤細圓" pitchFamily="49" charset="-120"/>
              </a:rPr>
              <a:t>其他</a:t>
            </a:r>
          </a:p>
        </p:txBody>
      </p:sp>
    </p:spTree>
    <p:extLst>
      <p:ext uri="{BB962C8B-B14F-4D97-AF65-F5344CB8AC3E}">
        <p14:creationId xmlns="" xmlns:p14="http://schemas.microsoft.com/office/powerpoint/2010/main" val="3197290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30" name="Picture 2" descr="C:\Users\User\Desktop\近期洽談新案(儲備人力)\麗寶建設三新案(淡水新莊桃園)\淡海\協理提供\麗寶淡水\平面圖jpg\4.地下1層平面圖_工作區域 1.jpg"/>
          <p:cNvPicPr>
            <a:picLocks noChangeAspect="1" noChangeArrowheads="1"/>
          </p:cNvPicPr>
          <p:nvPr/>
        </p:nvPicPr>
        <p:blipFill>
          <a:blip r:embed="rId2" cstate="print"/>
          <a:srcRect/>
          <a:stretch>
            <a:fillRect/>
          </a:stretch>
        </p:blipFill>
        <p:spPr bwMode="auto">
          <a:xfrm>
            <a:off x="285719" y="571480"/>
            <a:ext cx="8486296" cy="6000792"/>
          </a:xfrm>
          <a:prstGeom prst="rect">
            <a:avLst/>
          </a:prstGeom>
          <a:noFill/>
        </p:spPr>
      </p:pic>
      <p:pic>
        <p:nvPicPr>
          <p:cNvPr id="3" name="Picture 6" descr="http://pic.nipic.com/2007-06-20/2007620163833855_2.jpg">
            <a:extLst>
              <a:ext uri="{FF2B5EF4-FFF2-40B4-BE49-F238E27FC236}">
                <a16:creationId xmlns:a16="http://schemas.microsoft.com/office/drawing/2014/main" xmlns="" id="{E88C7CAF-A809-4F99-9850-CA9723D171D8}"/>
              </a:ext>
            </a:extLst>
          </p:cNvPr>
          <p:cNvPicPr>
            <a:picLocks noChangeAspect="1" noChangeArrowheads="1"/>
          </p:cNvPicPr>
          <p:nvPr/>
        </p:nvPicPr>
        <p:blipFill>
          <a:blip r:embed="rId3"/>
          <a:srcRect t="3751" r="66927" b="12999"/>
          <a:stretch>
            <a:fillRect/>
          </a:stretch>
        </p:blipFill>
        <p:spPr bwMode="auto">
          <a:xfrm>
            <a:off x="7572396" y="4572008"/>
            <a:ext cx="430212" cy="935038"/>
          </a:xfrm>
          <a:prstGeom prst="rect">
            <a:avLst/>
          </a:prstGeom>
          <a:noFill/>
          <a:ln w="9525">
            <a:noFill/>
            <a:miter lim="800000"/>
            <a:headEnd/>
            <a:tailEnd/>
          </a:ln>
        </p:spPr>
      </p:pic>
      <p:sp>
        <p:nvSpPr>
          <p:cNvPr id="4" name="矩形圖說文字 60">
            <a:extLst>
              <a:ext uri="{FF2B5EF4-FFF2-40B4-BE49-F238E27FC236}">
                <a16:creationId xmlns:a16="http://schemas.microsoft.com/office/drawing/2014/main" xmlns="" id="{08430496-8FFA-4EE4-A71A-1AA18ACE6C04}"/>
              </a:ext>
            </a:extLst>
          </p:cNvPr>
          <p:cNvSpPr>
            <a:spLocks noChangeArrowheads="1"/>
          </p:cNvSpPr>
          <p:nvPr/>
        </p:nvSpPr>
        <p:spPr bwMode="auto">
          <a:xfrm>
            <a:off x="6572264" y="2500306"/>
            <a:ext cx="2371729" cy="1511300"/>
          </a:xfrm>
          <a:prstGeom prst="wedgeRectCallout">
            <a:avLst>
              <a:gd name="adj1" fmla="val 9494"/>
              <a:gd name="adj2" fmla="val 83982"/>
            </a:avLst>
          </a:prstGeom>
        </p:spPr>
        <p:style>
          <a:lnRef idx="3">
            <a:schemeClr val="lt1"/>
          </a:lnRef>
          <a:fillRef idx="1">
            <a:schemeClr val="accent4"/>
          </a:fillRef>
          <a:effectRef idx="1">
            <a:schemeClr val="accent4"/>
          </a:effectRef>
          <a:fontRef idx="minor">
            <a:schemeClr val="lt1"/>
          </a:fontRef>
        </p:style>
        <p:txBody>
          <a:bodyPr anchor="ctr"/>
          <a:lstStyle/>
          <a:p>
            <a:pPr>
              <a:defRPr/>
            </a:pPr>
            <a:r>
              <a:rPr lang="zh-TW" altLang="en-US" sz="1600" dirty="0">
                <a:solidFill>
                  <a:schemeClr val="bg1"/>
                </a:solidFill>
                <a:latin typeface="Calibri" panose="020F0502020204030204" pitchFamily="34" charset="0"/>
              </a:rPr>
              <a:t> </a:t>
            </a:r>
            <a:r>
              <a:rPr lang="zh-TW" altLang="en-US" sz="1600" dirty="0">
                <a:solidFill>
                  <a:schemeClr val="bg1"/>
                </a:solidFill>
                <a:latin typeface="微軟正黑體" panose="020B0604030504040204" pitchFamily="34" charset="-120"/>
              </a:rPr>
              <a:t>社區清潔人員</a:t>
            </a:r>
            <a:r>
              <a:rPr lang="en-US" altLang="zh-TW" sz="1600" dirty="0">
                <a:solidFill>
                  <a:schemeClr val="bg1"/>
                </a:solidFill>
                <a:latin typeface="微軟正黑體" panose="020B0604030504040204" pitchFamily="34" charset="-120"/>
              </a:rPr>
              <a:t>(8H)</a:t>
            </a:r>
          </a:p>
          <a:p>
            <a:pPr>
              <a:defRPr/>
            </a:pPr>
            <a:r>
              <a:rPr lang="zh-TW" altLang="en-US" sz="1600" dirty="0">
                <a:solidFill>
                  <a:schemeClr val="bg1"/>
                </a:solidFill>
                <a:latin typeface="微軟正黑體" panose="020B0604030504040204" pitchFamily="34" charset="-120"/>
              </a:rPr>
              <a:t>  </a:t>
            </a:r>
            <a:r>
              <a:rPr lang="en-US" altLang="zh-TW" sz="1600" dirty="0">
                <a:solidFill>
                  <a:schemeClr val="bg1"/>
                </a:solidFill>
                <a:latin typeface="微軟正黑體" panose="020B0604030504040204" pitchFamily="34" charset="-120"/>
              </a:rPr>
              <a:t>08:00-17:00</a:t>
            </a:r>
            <a:r>
              <a:rPr lang="zh-TW" altLang="en-US" sz="1600" dirty="0">
                <a:solidFill>
                  <a:schemeClr val="bg1"/>
                </a:solidFill>
                <a:latin typeface="微軟正黑體" panose="020B0604030504040204" pitchFamily="34" charset="-120"/>
              </a:rPr>
              <a:t>時</a:t>
            </a:r>
            <a:r>
              <a:rPr lang="en-US" altLang="zh-TW" sz="1600" dirty="0" smtClean="0">
                <a:solidFill>
                  <a:schemeClr val="bg1"/>
                </a:solidFill>
                <a:latin typeface="微軟正黑體" panose="020B0604030504040204" pitchFamily="34" charset="-120"/>
              </a:rPr>
              <a:t>(14</a:t>
            </a:r>
            <a:r>
              <a:rPr lang="zh-TW" altLang="en-US" sz="1600" dirty="0" smtClean="0">
                <a:solidFill>
                  <a:schemeClr val="bg1"/>
                </a:solidFill>
                <a:latin typeface="微軟正黑體" panose="020B0604030504040204" pitchFamily="34" charset="-120"/>
              </a:rPr>
              <a:t>人</a:t>
            </a:r>
            <a:r>
              <a:rPr lang="en-US" altLang="zh-TW" sz="1600" dirty="0">
                <a:solidFill>
                  <a:schemeClr val="bg1"/>
                </a:solidFill>
                <a:latin typeface="微軟正黑體" panose="020B0604030504040204" pitchFamily="34" charset="-120"/>
              </a:rPr>
              <a:t>)</a:t>
            </a:r>
          </a:p>
          <a:p>
            <a:pPr>
              <a:defRPr/>
            </a:pPr>
            <a:r>
              <a:rPr lang="en-US" altLang="zh-TW" sz="1600" dirty="0">
                <a:solidFill>
                  <a:schemeClr val="bg1"/>
                </a:solidFill>
                <a:latin typeface="微軟正黑體" panose="020B0604030504040204" pitchFamily="34" charset="-120"/>
              </a:rPr>
              <a:t>1.</a:t>
            </a:r>
            <a:r>
              <a:rPr lang="zh-TW" altLang="en-US" sz="1600" dirty="0">
                <a:solidFill>
                  <a:schemeClr val="bg1"/>
                </a:solidFill>
                <a:latin typeface="微軟正黑體" panose="020B0604030504040204" pitchFamily="34" charset="-120"/>
              </a:rPr>
              <a:t>各樓層梯間清潔維護</a:t>
            </a:r>
            <a:endParaRPr lang="en-US" altLang="zh-TW" sz="1600" dirty="0">
              <a:solidFill>
                <a:schemeClr val="bg1"/>
              </a:solidFill>
              <a:latin typeface="微軟正黑體" panose="020B0604030504040204" pitchFamily="34" charset="-120"/>
            </a:endParaRPr>
          </a:p>
          <a:p>
            <a:pPr>
              <a:defRPr/>
            </a:pPr>
            <a:r>
              <a:rPr lang="en-US" altLang="zh-TW" sz="1600" dirty="0">
                <a:solidFill>
                  <a:schemeClr val="bg1"/>
                </a:solidFill>
                <a:latin typeface="微軟正黑體" panose="020B0604030504040204" pitchFamily="34" charset="-120"/>
              </a:rPr>
              <a:t>2.</a:t>
            </a:r>
            <a:r>
              <a:rPr lang="zh-TW" altLang="en-US" sz="1600" dirty="0">
                <a:solidFill>
                  <a:schemeClr val="bg1"/>
                </a:solidFill>
                <a:latin typeface="微軟正黑體" panose="020B0604030504040204" pitchFamily="34" charset="-120"/>
              </a:rPr>
              <a:t>外圍級車道清潔</a:t>
            </a:r>
            <a:endParaRPr lang="en-US" altLang="zh-TW" sz="1600" dirty="0">
              <a:solidFill>
                <a:schemeClr val="bg1"/>
              </a:solidFill>
              <a:latin typeface="微軟正黑體" panose="020B0604030504040204" pitchFamily="34" charset="-120"/>
            </a:endParaRPr>
          </a:p>
          <a:p>
            <a:pPr>
              <a:defRPr/>
            </a:pPr>
            <a:r>
              <a:rPr lang="en-US" altLang="zh-TW" sz="1600" dirty="0">
                <a:solidFill>
                  <a:schemeClr val="bg1"/>
                </a:solidFill>
                <a:latin typeface="微軟正黑體" panose="020B0604030504040204" pitchFamily="34" charset="-120"/>
              </a:rPr>
              <a:t>3.</a:t>
            </a:r>
            <a:r>
              <a:rPr lang="zh-TW" altLang="en-US" sz="1600" dirty="0">
                <a:solidFill>
                  <a:schemeClr val="bg1"/>
                </a:solidFill>
                <a:latin typeface="微軟正黑體" panose="020B0604030504040204" pitchFamily="34" charset="-120"/>
              </a:rPr>
              <a:t>停車場清潔</a:t>
            </a:r>
            <a:endParaRPr lang="en-US" altLang="zh-TW" sz="1600" dirty="0">
              <a:solidFill>
                <a:schemeClr val="bg1"/>
              </a:solidFill>
              <a:latin typeface="微軟正黑體" panose="020B0604030504040204" pitchFamily="34" charset="-120"/>
            </a:endParaRPr>
          </a:p>
          <a:p>
            <a:pPr>
              <a:defRPr/>
            </a:pPr>
            <a:r>
              <a:rPr lang="en-US" altLang="zh-TW" sz="1600" dirty="0">
                <a:solidFill>
                  <a:schemeClr val="bg1"/>
                </a:solidFill>
                <a:latin typeface="微軟正黑體" panose="020B0604030504040204" pitchFamily="34" charset="-120"/>
              </a:rPr>
              <a:t>4.</a:t>
            </a:r>
            <a:r>
              <a:rPr lang="zh-TW" altLang="en-US" sz="1600" dirty="0">
                <a:solidFill>
                  <a:schemeClr val="bg1"/>
                </a:solidFill>
                <a:latin typeface="微軟正黑體" panose="020B0604030504040204" pitchFamily="34" charset="-120"/>
              </a:rPr>
              <a:t>資源回收處理</a:t>
            </a:r>
          </a:p>
        </p:txBody>
      </p:sp>
      <p:pic>
        <p:nvPicPr>
          <p:cNvPr id="6" name="Picture 2"/>
          <p:cNvPicPr>
            <a:picLocks noChangeAspect="1" noChangeArrowheads="1"/>
          </p:cNvPicPr>
          <p:nvPr/>
        </p:nvPicPr>
        <p:blipFill>
          <a:blip r:embed="rId4" cstate="print"/>
          <a:srcRect/>
          <a:stretch>
            <a:fillRect/>
          </a:stretch>
        </p:blipFill>
        <p:spPr bwMode="auto">
          <a:xfrm>
            <a:off x="2428860" y="1643050"/>
            <a:ext cx="642942" cy="682529"/>
          </a:xfrm>
          <a:prstGeom prst="rect">
            <a:avLst/>
          </a:prstGeom>
          <a:noFill/>
          <a:ln w="9525">
            <a:solidFill>
              <a:srgbClr val="FF0000"/>
            </a:solidFill>
            <a:miter lim="800000"/>
            <a:headEnd/>
            <a:tailEnd/>
          </a:ln>
          <a:effectLst/>
        </p:spPr>
      </p:pic>
      <p:pic>
        <p:nvPicPr>
          <p:cNvPr id="150531" name="Picture 3"/>
          <p:cNvPicPr>
            <a:picLocks noChangeAspect="1" noChangeArrowheads="1"/>
          </p:cNvPicPr>
          <p:nvPr/>
        </p:nvPicPr>
        <p:blipFill>
          <a:blip r:embed="rId5" cstate="print"/>
          <a:srcRect/>
          <a:stretch>
            <a:fillRect/>
          </a:stretch>
        </p:blipFill>
        <p:spPr bwMode="auto">
          <a:xfrm>
            <a:off x="2500298" y="642918"/>
            <a:ext cx="469895" cy="1338260"/>
          </a:xfrm>
          <a:prstGeom prst="rect">
            <a:avLst/>
          </a:prstGeom>
          <a:noFill/>
          <a:ln w="9525">
            <a:noFill/>
            <a:miter lim="800000"/>
            <a:headEnd/>
            <a:tailEnd/>
          </a:ln>
          <a:effectLst/>
        </p:spPr>
      </p:pic>
      <p:sp>
        <p:nvSpPr>
          <p:cNvPr id="8" name="矩形圖說文字 60">
            <a:extLst>
              <a:ext uri="{FF2B5EF4-FFF2-40B4-BE49-F238E27FC236}">
                <a16:creationId xmlns:a16="http://schemas.microsoft.com/office/drawing/2014/main" xmlns="" id="{BEE40A0F-71C4-47DB-9922-60DC99237143}"/>
              </a:ext>
            </a:extLst>
          </p:cNvPr>
          <p:cNvSpPr>
            <a:spLocks noChangeArrowheads="1"/>
          </p:cNvSpPr>
          <p:nvPr/>
        </p:nvSpPr>
        <p:spPr bwMode="auto">
          <a:xfrm>
            <a:off x="214282" y="428604"/>
            <a:ext cx="2214578" cy="1500198"/>
          </a:xfrm>
          <a:prstGeom prst="wedgeRectCallout">
            <a:avLst>
              <a:gd name="adj1" fmla="val 53587"/>
              <a:gd name="adj2" fmla="val 42179"/>
            </a:avLst>
          </a:prstGeom>
          <a:solidFill>
            <a:schemeClr val="accent6">
              <a:lumMod val="60000"/>
              <a:lumOff val="40000"/>
            </a:schemeClr>
          </a:solidFill>
        </p:spPr>
        <p:style>
          <a:lnRef idx="3">
            <a:schemeClr val="lt1"/>
          </a:lnRef>
          <a:fillRef idx="1">
            <a:schemeClr val="accent2"/>
          </a:fillRef>
          <a:effectRef idx="1">
            <a:schemeClr val="accent2"/>
          </a:effectRef>
          <a:fontRef idx="minor">
            <a:schemeClr val="lt1"/>
          </a:fontRef>
        </p:style>
        <p:txBody>
          <a:bodyPr anchor="ctr"/>
          <a:lstStyle/>
          <a:p>
            <a:pPr>
              <a:defRPr/>
            </a:pPr>
            <a:r>
              <a:rPr lang="zh-TW" altLang="en-US" sz="1600" dirty="0">
                <a:solidFill>
                  <a:srgbClr val="262626"/>
                </a:solidFill>
                <a:latin typeface="微軟正黑體" panose="020B0604030504040204" pitchFamily="34" charset="-120"/>
              </a:rPr>
              <a:t> </a:t>
            </a:r>
            <a:r>
              <a:rPr lang="zh-TW" altLang="en-US" sz="1600" dirty="0" smtClean="0">
                <a:solidFill>
                  <a:srgbClr val="262626"/>
                </a:solidFill>
                <a:latin typeface="微軟正黑體" panose="020B0604030504040204" pitchFamily="34" charset="-120"/>
              </a:rPr>
              <a:t>社區</a:t>
            </a:r>
            <a:r>
              <a:rPr lang="zh-TW" altLang="en-US" sz="1600" dirty="0" smtClean="0">
                <a:solidFill>
                  <a:srgbClr val="FF0000"/>
                </a:solidFill>
                <a:latin typeface="微軟正黑體" panose="020B0604030504040204" pitchFamily="34" charset="-120"/>
              </a:rPr>
              <a:t>巡邏哨</a:t>
            </a:r>
            <a:r>
              <a:rPr lang="zh-TW" altLang="en-US" sz="1600" dirty="0" smtClean="0">
                <a:solidFill>
                  <a:srgbClr val="262626"/>
                </a:solidFill>
                <a:latin typeface="微軟正黑體" panose="020B0604030504040204" pitchFamily="34" charset="-120"/>
              </a:rPr>
              <a:t>人員</a:t>
            </a:r>
            <a:r>
              <a:rPr lang="en-US" altLang="zh-TW" sz="1600" dirty="0">
                <a:solidFill>
                  <a:srgbClr val="262626"/>
                </a:solidFill>
                <a:latin typeface="微軟正黑體" panose="020B0604030504040204" pitchFamily="34" charset="-120"/>
              </a:rPr>
              <a:t>(24H)</a:t>
            </a:r>
          </a:p>
          <a:p>
            <a:pPr>
              <a:defRPr/>
            </a:pPr>
            <a:r>
              <a:rPr lang="en-US" altLang="zh-TW" sz="1600" dirty="0">
                <a:solidFill>
                  <a:srgbClr val="262626"/>
                </a:solidFill>
                <a:latin typeface="微軟正黑體" panose="020B0604030504040204" pitchFamily="34" charset="-120"/>
              </a:rPr>
              <a:t>1.</a:t>
            </a:r>
            <a:r>
              <a:rPr lang="zh-TW" altLang="en-US" sz="1600" dirty="0">
                <a:solidFill>
                  <a:srgbClr val="262626"/>
                </a:solidFill>
                <a:latin typeface="微軟正黑體" panose="020B0604030504040204" pitchFamily="34" charset="-120"/>
              </a:rPr>
              <a:t>巡邏服務</a:t>
            </a:r>
            <a:endParaRPr lang="en-US" altLang="zh-TW" sz="1600" dirty="0">
              <a:solidFill>
                <a:srgbClr val="262626"/>
              </a:solidFill>
              <a:latin typeface="微軟正黑體" panose="020B0604030504040204" pitchFamily="34" charset="-120"/>
            </a:endParaRPr>
          </a:p>
          <a:p>
            <a:pPr>
              <a:defRPr/>
            </a:pPr>
            <a:r>
              <a:rPr lang="en-US" altLang="zh-TW" sz="1600" dirty="0">
                <a:solidFill>
                  <a:srgbClr val="262626"/>
                </a:solidFill>
                <a:latin typeface="微軟正黑體" panose="020B0604030504040204" pitchFamily="34" charset="-120"/>
              </a:rPr>
              <a:t>2.</a:t>
            </a:r>
            <a:r>
              <a:rPr lang="zh-TW" altLang="en-US" sz="1600" dirty="0">
                <a:solidFill>
                  <a:srgbClr val="262626"/>
                </a:solidFill>
                <a:latin typeface="微軟正黑體" panose="020B0604030504040204" pitchFamily="34" charset="-120"/>
              </a:rPr>
              <a:t>遠端監控</a:t>
            </a:r>
            <a:endParaRPr lang="en-US" altLang="zh-TW" sz="1600" dirty="0">
              <a:solidFill>
                <a:srgbClr val="262626"/>
              </a:solidFill>
              <a:latin typeface="微軟正黑體" panose="020B0604030504040204" pitchFamily="34" charset="-120"/>
            </a:endParaRPr>
          </a:p>
          <a:p>
            <a:pPr>
              <a:defRPr/>
            </a:pPr>
            <a:r>
              <a:rPr lang="en-US" altLang="zh-TW" sz="1600" dirty="0">
                <a:solidFill>
                  <a:srgbClr val="262626"/>
                </a:solidFill>
                <a:latin typeface="微軟正黑體" panose="020B0604030504040204" pitchFamily="34" charset="-120"/>
              </a:rPr>
              <a:t>3.</a:t>
            </a:r>
            <a:r>
              <a:rPr lang="zh-TW" altLang="en-US" sz="1600" dirty="0">
                <a:solidFill>
                  <a:srgbClr val="262626"/>
                </a:solidFill>
                <a:latin typeface="微軟正黑體" panose="020B0604030504040204" pitchFamily="34" charset="-120"/>
              </a:rPr>
              <a:t>門禁管制</a:t>
            </a:r>
            <a:endParaRPr lang="en-US" altLang="zh-TW" sz="1600" dirty="0">
              <a:solidFill>
                <a:srgbClr val="262626"/>
              </a:solidFill>
              <a:latin typeface="微軟正黑體" panose="020B0604030504040204" pitchFamily="34" charset="-120"/>
            </a:endParaRPr>
          </a:p>
          <a:p>
            <a:pPr>
              <a:defRPr/>
            </a:pPr>
            <a:r>
              <a:rPr lang="en-US" altLang="zh-TW" sz="1600" dirty="0">
                <a:solidFill>
                  <a:srgbClr val="262626"/>
                </a:solidFill>
                <a:latin typeface="微軟正黑體" panose="020B0604030504040204" pitchFamily="34" charset="-120"/>
              </a:rPr>
              <a:t>4.</a:t>
            </a:r>
            <a:r>
              <a:rPr lang="zh-TW" altLang="en-US" sz="1600" dirty="0">
                <a:solidFill>
                  <a:srgbClr val="262626"/>
                </a:solidFill>
                <a:latin typeface="微軟正黑體" panose="020B0604030504040204" pitchFamily="34" charset="-120"/>
              </a:rPr>
              <a:t>社區安全</a:t>
            </a:r>
            <a:r>
              <a:rPr lang="zh-TW" altLang="en-US" sz="1600" dirty="0" smtClean="0">
                <a:solidFill>
                  <a:srgbClr val="262626"/>
                </a:solidFill>
                <a:latin typeface="微軟正黑體" panose="020B0604030504040204" pitchFamily="34" charset="-120"/>
              </a:rPr>
              <a:t>防護</a:t>
            </a:r>
            <a:endParaRPr lang="en-US" altLang="zh-TW" sz="1600" dirty="0">
              <a:solidFill>
                <a:srgbClr val="262626"/>
              </a:solidFill>
              <a:latin typeface="微軟正黑體" panose="020B0604030504040204" pitchFamily="34" charset="-120"/>
            </a:endParaRPr>
          </a:p>
        </p:txBody>
      </p:sp>
      <p:sp>
        <p:nvSpPr>
          <p:cNvPr id="9" name="文字方塊 8"/>
          <p:cNvSpPr txBox="1"/>
          <p:nvPr/>
        </p:nvSpPr>
        <p:spPr>
          <a:xfrm>
            <a:off x="357158" y="4214818"/>
            <a:ext cx="2090357" cy="2062103"/>
          </a:xfrm>
          <a:prstGeom prst="rect">
            <a:avLst/>
          </a:prstGeom>
          <a:solidFill>
            <a:schemeClr val="accent2"/>
          </a:solidFill>
          <a:effectLst>
            <a:glow rad="63500">
              <a:schemeClr val="accent3">
                <a:satMod val="175000"/>
                <a:alpha val="40000"/>
              </a:schemeClr>
            </a:glow>
          </a:effectLst>
        </p:spPr>
        <p:txBody>
          <a:bodyPr wrap="square" rtlCol="0">
            <a:spAutoFit/>
          </a:bodyPr>
          <a:lstStyle/>
          <a:p>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1.</a:t>
            </a: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汽車位</a:t>
            </a:r>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a:t>
            </a:r>
            <a:r>
              <a:rPr lang="en-US" altLang="zh-TW" sz="1600" dirty="0" smtClean="0">
                <a:solidFill>
                  <a:srgbClr val="FF0000"/>
                </a:solidFill>
                <a:effectLst>
                  <a:glow rad="63500">
                    <a:schemeClr val="accent3">
                      <a:satMod val="175000"/>
                      <a:alpha val="40000"/>
                    </a:schemeClr>
                  </a:glow>
                </a:effectLst>
                <a:latin typeface="微軟正黑體" pitchFamily="34" charset="-120"/>
                <a:ea typeface="微軟正黑體" pitchFamily="34" charset="-120"/>
              </a:rPr>
              <a:t>151</a:t>
            </a:r>
            <a:r>
              <a:rPr lang="zh-TW" altLang="en-US" sz="1600" dirty="0" smtClean="0">
                <a:solidFill>
                  <a:srgbClr val="FF0000"/>
                </a:solidFill>
                <a:effectLst>
                  <a:glow rad="63500">
                    <a:schemeClr val="accent3">
                      <a:satMod val="175000"/>
                      <a:alpha val="40000"/>
                    </a:schemeClr>
                  </a:glow>
                </a:effectLst>
                <a:latin typeface="微軟正黑體" pitchFamily="34" charset="-120"/>
                <a:ea typeface="微軟正黑體" pitchFamily="34" charset="-120"/>
              </a:rPr>
              <a:t>位</a:t>
            </a:r>
            <a:endParaRPr lang="en-US" altLang="zh-TW" sz="1600" dirty="0" smtClean="0">
              <a:solidFill>
                <a:srgbClr val="FF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殘障車位</a:t>
            </a:r>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20</a:t>
            </a: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位</a:t>
            </a:r>
            <a:endParaRPr lang="en-US" altLang="zh-TW" sz="1600" dirty="0" smtClean="0">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大汽車位</a:t>
            </a:r>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131</a:t>
            </a: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位</a:t>
            </a:r>
            <a:endParaRPr lang="en-US" altLang="zh-TW" sz="1600" dirty="0" smtClean="0">
              <a:effectLst>
                <a:glow rad="63500">
                  <a:schemeClr val="accent3">
                    <a:satMod val="175000"/>
                    <a:alpha val="40000"/>
                  </a:schemeClr>
                </a:glow>
              </a:effectLst>
              <a:latin typeface="微軟正黑體" pitchFamily="34" charset="-120"/>
              <a:ea typeface="微軟正黑體" pitchFamily="34" charset="-120"/>
            </a:endParaRPr>
          </a:p>
          <a:p>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2.</a:t>
            </a: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機車位</a:t>
            </a:r>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a:t>
            </a:r>
            <a:r>
              <a:rPr lang="en-US" altLang="zh-TW" sz="1600" dirty="0" smtClean="0">
                <a:solidFill>
                  <a:srgbClr val="FF0000"/>
                </a:solidFill>
                <a:effectLst>
                  <a:glow rad="63500">
                    <a:schemeClr val="accent3">
                      <a:satMod val="175000"/>
                      <a:alpha val="40000"/>
                    </a:schemeClr>
                  </a:glow>
                </a:effectLst>
                <a:latin typeface="微軟正黑體" pitchFamily="34" charset="-120"/>
                <a:ea typeface="微軟正黑體" pitchFamily="34" charset="-120"/>
              </a:rPr>
              <a:t>2235</a:t>
            </a:r>
            <a:r>
              <a:rPr lang="zh-TW" altLang="en-US" sz="1600" dirty="0" smtClean="0">
                <a:solidFill>
                  <a:srgbClr val="FF0000"/>
                </a:solidFill>
                <a:effectLst>
                  <a:glow rad="63500">
                    <a:schemeClr val="accent3">
                      <a:satMod val="175000"/>
                      <a:alpha val="40000"/>
                    </a:schemeClr>
                  </a:glow>
                </a:effectLst>
                <a:latin typeface="微軟正黑體" pitchFamily="34" charset="-120"/>
                <a:ea typeface="微軟正黑體" pitchFamily="34" charset="-120"/>
              </a:rPr>
              <a:t>位</a:t>
            </a:r>
            <a:endParaRPr lang="en-US" altLang="zh-TW" sz="1600" dirty="0" smtClean="0">
              <a:solidFill>
                <a:srgbClr val="FF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殘障車位</a:t>
            </a:r>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20</a:t>
            </a: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位</a:t>
            </a:r>
            <a:endParaRPr lang="en-US" altLang="zh-TW" sz="1600" dirty="0" smtClean="0">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大機車位</a:t>
            </a:r>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1697</a:t>
            </a: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位</a:t>
            </a:r>
            <a:endParaRPr lang="en-US" altLang="zh-TW" sz="1600" dirty="0" smtClean="0">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小機車位</a:t>
            </a:r>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518</a:t>
            </a: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位</a:t>
            </a:r>
            <a:endParaRPr lang="en-US" altLang="zh-TW" sz="1600" dirty="0" smtClean="0">
              <a:effectLst>
                <a:glow rad="63500">
                  <a:schemeClr val="accent3">
                    <a:satMod val="175000"/>
                    <a:alpha val="40000"/>
                  </a:schemeClr>
                </a:glow>
              </a:effectLst>
              <a:latin typeface="微軟正黑體" pitchFamily="34" charset="-120"/>
              <a:ea typeface="微軟正黑體" pitchFamily="34" charset="-120"/>
            </a:endParaRPr>
          </a:p>
          <a:p>
            <a:endParaRPr lang="zh-TW" altLang="en-US" sz="1600" dirty="0">
              <a:effectLst>
                <a:glow rad="63500">
                  <a:schemeClr val="accent3">
                    <a:satMod val="175000"/>
                    <a:alpha val="40000"/>
                  </a:schemeClr>
                </a:glow>
              </a:effectLst>
              <a:latin typeface="微軟正黑體" pitchFamily="34" charset="-120"/>
              <a:ea typeface="微軟正黑體" pitchFamily="34" charset="-120"/>
            </a:endParaRPr>
          </a:p>
        </p:txBody>
      </p:sp>
      <p:sp>
        <p:nvSpPr>
          <p:cNvPr id="10" name="矩形 9"/>
          <p:cNvSpPr/>
          <p:nvPr/>
        </p:nvSpPr>
        <p:spPr>
          <a:xfrm>
            <a:off x="6143636" y="1071546"/>
            <a:ext cx="1785950" cy="64294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p:cNvSpPr/>
          <p:nvPr/>
        </p:nvSpPr>
        <p:spPr>
          <a:xfrm>
            <a:off x="6072198" y="5572140"/>
            <a:ext cx="1785950" cy="64294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p:cNvSpPr txBox="1"/>
          <p:nvPr/>
        </p:nvSpPr>
        <p:spPr>
          <a:xfrm>
            <a:off x="6072198" y="714356"/>
            <a:ext cx="1800493" cy="307777"/>
          </a:xfrm>
          <a:prstGeom prst="rect">
            <a:avLst/>
          </a:prstGeom>
          <a:solidFill>
            <a:srgbClr val="FFFF00"/>
          </a:solidFill>
          <a:effectLst>
            <a:glow rad="63500">
              <a:schemeClr val="accent3">
                <a:satMod val="175000"/>
                <a:alpha val="40000"/>
              </a:schemeClr>
            </a:glow>
          </a:effectLst>
        </p:spPr>
        <p:txBody>
          <a:bodyPr wrap="none" rtlCol="0">
            <a:spAutoFit/>
          </a:bodyPr>
          <a:lstStyle/>
          <a:p>
            <a:r>
              <a:rPr lang="zh-TW" altLang="en-US" sz="14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以顏色區隔停放用途</a:t>
            </a:r>
            <a:endParaRPr lang="zh-TW" altLang="en-US" sz="1400" dirty="0">
              <a:solidFill>
                <a:srgbClr val="800000"/>
              </a:solidFill>
              <a:effectLst>
                <a:glow rad="63500">
                  <a:schemeClr val="accent3">
                    <a:satMod val="175000"/>
                    <a:alpha val="40000"/>
                  </a:schemeClr>
                </a:glow>
              </a:effectLst>
              <a:latin typeface="微軟正黑體" pitchFamily="34" charset="-120"/>
              <a:ea typeface="微軟正黑體" pitchFamily="34" charset="-120"/>
            </a:endParaRPr>
          </a:p>
        </p:txBody>
      </p:sp>
      <p:sp>
        <p:nvSpPr>
          <p:cNvPr id="13" name="文字方塊 12"/>
          <p:cNvSpPr txBox="1"/>
          <p:nvPr/>
        </p:nvSpPr>
        <p:spPr>
          <a:xfrm>
            <a:off x="6072198" y="6215082"/>
            <a:ext cx="1800493" cy="307777"/>
          </a:xfrm>
          <a:prstGeom prst="rect">
            <a:avLst/>
          </a:prstGeom>
          <a:solidFill>
            <a:srgbClr val="FFFF00"/>
          </a:solidFill>
          <a:effectLst>
            <a:glow rad="63500">
              <a:schemeClr val="accent3">
                <a:satMod val="175000"/>
                <a:alpha val="40000"/>
              </a:schemeClr>
            </a:glow>
          </a:effectLst>
        </p:spPr>
        <p:txBody>
          <a:bodyPr wrap="none" rtlCol="0">
            <a:spAutoFit/>
          </a:bodyPr>
          <a:lstStyle/>
          <a:p>
            <a:r>
              <a:rPr lang="zh-TW" altLang="en-US" sz="14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以顏色區隔停放用途</a:t>
            </a:r>
            <a:endParaRPr lang="zh-TW" altLang="en-US" sz="1400" dirty="0">
              <a:solidFill>
                <a:srgbClr val="800000"/>
              </a:solidFill>
              <a:effectLst>
                <a:glow rad="63500">
                  <a:schemeClr val="accent3">
                    <a:satMod val="175000"/>
                    <a:alpha val="40000"/>
                  </a:schemeClr>
                </a:glow>
              </a:effectLst>
              <a:latin typeface="微軟正黑體" pitchFamily="34" charset="-120"/>
              <a:ea typeface="微軟正黑體" pitchFamily="34" charset="-120"/>
            </a:endParaRPr>
          </a:p>
        </p:txBody>
      </p:sp>
      <p:sp>
        <p:nvSpPr>
          <p:cNvPr id="14" name="矩形 13"/>
          <p:cNvSpPr/>
          <p:nvPr/>
        </p:nvSpPr>
        <p:spPr>
          <a:xfrm>
            <a:off x="3286116" y="5715016"/>
            <a:ext cx="1357322" cy="428628"/>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p:cNvSpPr/>
          <p:nvPr/>
        </p:nvSpPr>
        <p:spPr>
          <a:xfrm>
            <a:off x="3428992" y="1071546"/>
            <a:ext cx="928694" cy="500066"/>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 xmlns:p14="http://schemas.microsoft.com/office/powerpoint/2010/main" val="3197290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8" name="Picture 2" descr="C:\Users\User\Desktop\近期洽談新案(儲備人力)\麗寶建設三新案(淡水新莊桃園)\淡海\協理提供\麗寶淡水\平面圖jpg\2.地下3層平面圖_工作區域 1.jpg"/>
          <p:cNvPicPr>
            <a:picLocks noChangeAspect="1" noChangeArrowheads="1"/>
          </p:cNvPicPr>
          <p:nvPr/>
        </p:nvPicPr>
        <p:blipFill>
          <a:blip r:embed="rId2" cstate="print"/>
          <a:srcRect/>
          <a:stretch>
            <a:fillRect/>
          </a:stretch>
        </p:blipFill>
        <p:spPr bwMode="auto">
          <a:xfrm>
            <a:off x="142844" y="571480"/>
            <a:ext cx="8587324" cy="6072230"/>
          </a:xfrm>
          <a:prstGeom prst="rect">
            <a:avLst/>
          </a:prstGeom>
          <a:noFill/>
        </p:spPr>
      </p:pic>
      <p:sp>
        <p:nvSpPr>
          <p:cNvPr id="5" name="文字方塊 4"/>
          <p:cNvSpPr txBox="1"/>
          <p:nvPr/>
        </p:nvSpPr>
        <p:spPr>
          <a:xfrm>
            <a:off x="617426" y="928670"/>
            <a:ext cx="1454244" cy="923330"/>
          </a:xfrm>
          <a:prstGeom prst="rect">
            <a:avLst/>
          </a:prstGeom>
          <a:solidFill>
            <a:srgbClr val="FFFF00"/>
          </a:solidFill>
          <a:effectLst>
            <a:glow rad="63500">
              <a:schemeClr val="accent3">
                <a:satMod val="175000"/>
                <a:alpha val="40000"/>
              </a:schemeClr>
            </a:glow>
          </a:effectLst>
        </p:spPr>
        <p:txBody>
          <a:bodyPr wrap="square" rtlCol="0">
            <a:spAutoFit/>
          </a:bodyPr>
          <a:lstStyle/>
          <a:p>
            <a:r>
              <a:rPr lang="en-US" altLang="zh-TW" sz="5400" dirty="0" smtClean="0">
                <a:solidFill>
                  <a:srgbClr val="800000"/>
                </a:solidFill>
                <a:effectLst>
                  <a:glow rad="63500">
                    <a:schemeClr val="accent3">
                      <a:satMod val="175000"/>
                      <a:alpha val="40000"/>
                    </a:schemeClr>
                  </a:glow>
                </a:effectLst>
                <a:latin typeface="Arial Unicode MS" pitchFamily="34" charset="-120"/>
                <a:ea typeface="Arial Unicode MS" pitchFamily="34" charset="-120"/>
                <a:cs typeface="Arial Unicode MS" pitchFamily="34" charset="-120"/>
              </a:rPr>
              <a:t>B2F</a:t>
            </a:r>
            <a:endParaRPr lang="zh-TW" altLang="en-US" sz="5400" dirty="0">
              <a:solidFill>
                <a:srgbClr val="800000"/>
              </a:solidFill>
              <a:effectLst>
                <a:glow rad="63500">
                  <a:schemeClr val="accent3">
                    <a:satMod val="175000"/>
                    <a:alpha val="40000"/>
                  </a:schemeClr>
                </a:glow>
              </a:effectLst>
              <a:latin typeface="Arial Unicode MS" pitchFamily="34" charset="-120"/>
              <a:ea typeface="Arial Unicode MS" pitchFamily="34" charset="-120"/>
              <a:cs typeface="Arial Unicode MS" pitchFamily="34" charset="-120"/>
            </a:endParaRPr>
          </a:p>
        </p:txBody>
      </p:sp>
      <p:sp>
        <p:nvSpPr>
          <p:cNvPr id="6" name="文字方塊 5"/>
          <p:cNvSpPr txBox="1"/>
          <p:nvPr/>
        </p:nvSpPr>
        <p:spPr>
          <a:xfrm>
            <a:off x="624255" y="4823593"/>
            <a:ext cx="1454244" cy="923330"/>
          </a:xfrm>
          <a:prstGeom prst="rect">
            <a:avLst/>
          </a:prstGeom>
          <a:solidFill>
            <a:srgbClr val="7CBCF0"/>
          </a:solidFill>
          <a:ln>
            <a:solidFill>
              <a:srgbClr val="0070C0"/>
            </a:solidFill>
          </a:ln>
          <a:effectLst>
            <a:glow rad="63500">
              <a:schemeClr val="accent3">
                <a:satMod val="175000"/>
                <a:alpha val="40000"/>
              </a:schemeClr>
            </a:glow>
          </a:effectLst>
        </p:spPr>
        <p:txBody>
          <a:bodyPr wrap="square" rtlCol="0">
            <a:spAutoFit/>
          </a:bodyPr>
          <a:lstStyle/>
          <a:p>
            <a:r>
              <a:rPr lang="en-US" altLang="zh-TW" sz="5400" dirty="0" smtClean="0">
                <a:solidFill>
                  <a:srgbClr val="800000"/>
                </a:solidFill>
                <a:effectLst>
                  <a:glow rad="63500">
                    <a:schemeClr val="accent3">
                      <a:satMod val="175000"/>
                      <a:alpha val="40000"/>
                    </a:schemeClr>
                  </a:glow>
                </a:effectLst>
                <a:latin typeface="Arial Unicode MS" pitchFamily="34" charset="-120"/>
                <a:ea typeface="Arial Unicode MS" pitchFamily="34" charset="-120"/>
                <a:cs typeface="Arial Unicode MS" pitchFamily="34" charset="-120"/>
              </a:rPr>
              <a:t>B4F</a:t>
            </a:r>
            <a:endParaRPr lang="zh-TW" altLang="en-US" sz="5400" dirty="0">
              <a:solidFill>
                <a:srgbClr val="800000"/>
              </a:solidFill>
              <a:effectLst>
                <a:glow rad="63500">
                  <a:schemeClr val="accent3">
                    <a:satMod val="175000"/>
                    <a:alpha val="40000"/>
                  </a:schemeClr>
                </a:glow>
              </a:effectLst>
              <a:latin typeface="Arial Unicode MS" pitchFamily="34" charset="-120"/>
              <a:ea typeface="Arial Unicode MS" pitchFamily="34" charset="-120"/>
              <a:cs typeface="Arial Unicode MS" pitchFamily="34" charset="-120"/>
            </a:endParaRPr>
          </a:p>
        </p:txBody>
      </p:sp>
      <p:sp>
        <p:nvSpPr>
          <p:cNvPr id="7" name="文字方塊 6"/>
          <p:cNvSpPr txBox="1"/>
          <p:nvPr/>
        </p:nvSpPr>
        <p:spPr>
          <a:xfrm>
            <a:off x="357158" y="5598399"/>
            <a:ext cx="2090357" cy="830997"/>
          </a:xfrm>
          <a:prstGeom prst="rect">
            <a:avLst/>
          </a:prstGeom>
          <a:solidFill>
            <a:srgbClr val="7CBCF0"/>
          </a:solidFill>
          <a:ln>
            <a:solidFill>
              <a:srgbClr val="0070C0"/>
            </a:solidFill>
          </a:ln>
          <a:effectLst>
            <a:glow rad="63500">
              <a:schemeClr val="accent3">
                <a:satMod val="175000"/>
                <a:alpha val="40000"/>
              </a:schemeClr>
            </a:glow>
          </a:effectLst>
        </p:spPr>
        <p:txBody>
          <a:bodyPr wrap="square" rtlCol="0">
            <a:spAutoFit/>
          </a:bodyPr>
          <a:lstStyle/>
          <a:p>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1.</a:t>
            </a: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汽車位</a:t>
            </a:r>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a:t>
            </a:r>
            <a:r>
              <a:rPr lang="en-US" altLang="zh-TW" sz="1600" dirty="0" smtClean="0">
                <a:solidFill>
                  <a:srgbClr val="FF0000"/>
                </a:solidFill>
                <a:effectLst>
                  <a:glow rad="63500">
                    <a:schemeClr val="accent3">
                      <a:satMod val="175000"/>
                      <a:alpha val="40000"/>
                    </a:schemeClr>
                  </a:glow>
                </a:effectLst>
                <a:latin typeface="微軟正黑體" pitchFamily="34" charset="-120"/>
                <a:ea typeface="微軟正黑體" pitchFamily="34" charset="-120"/>
              </a:rPr>
              <a:t>553</a:t>
            </a:r>
            <a:r>
              <a:rPr lang="zh-TW" altLang="en-US" sz="1600" dirty="0" smtClean="0">
                <a:solidFill>
                  <a:srgbClr val="FF0000"/>
                </a:solidFill>
                <a:effectLst>
                  <a:glow rad="63500">
                    <a:schemeClr val="accent3">
                      <a:satMod val="175000"/>
                      <a:alpha val="40000"/>
                    </a:schemeClr>
                  </a:glow>
                </a:effectLst>
                <a:latin typeface="微軟正黑體" pitchFamily="34" charset="-120"/>
                <a:ea typeface="微軟正黑體" pitchFamily="34" charset="-120"/>
              </a:rPr>
              <a:t>位</a:t>
            </a:r>
            <a:endParaRPr lang="en-US" altLang="zh-TW" sz="1600" dirty="0" smtClean="0">
              <a:solidFill>
                <a:srgbClr val="FF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大汽車位</a:t>
            </a:r>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525</a:t>
            </a: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位</a:t>
            </a:r>
            <a:endParaRPr lang="en-US" altLang="zh-TW" sz="1600" dirty="0" smtClean="0">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小汽車位</a:t>
            </a:r>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28</a:t>
            </a: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位</a:t>
            </a:r>
            <a:endParaRPr lang="zh-TW" altLang="en-US" sz="1600" dirty="0">
              <a:effectLst>
                <a:glow rad="63500">
                  <a:schemeClr val="accent3">
                    <a:satMod val="175000"/>
                    <a:alpha val="40000"/>
                  </a:schemeClr>
                </a:glow>
              </a:effectLst>
              <a:latin typeface="微軟正黑體" pitchFamily="34" charset="-120"/>
              <a:ea typeface="微軟正黑體" pitchFamily="34" charset="-120"/>
            </a:endParaRPr>
          </a:p>
        </p:txBody>
      </p:sp>
      <p:sp>
        <p:nvSpPr>
          <p:cNvPr id="8" name="矩形 7"/>
          <p:cNvSpPr/>
          <p:nvPr/>
        </p:nvSpPr>
        <p:spPr>
          <a:xfrm>
            <a:off x="642910" y="3214686"/>
            <a:ext cx="1357322" cy="571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文字方塊 2"/>
          <p:cNvSpPr txBox="1"/>
          <p:nvPr/>
        </p:nvSpPr>
        <p:spPr>
          <a:xfrm>
            <a:off x="285720" y="3637950"/>
            <a:ext cx="2090357" cy="830997"/>
          </a:xfrm>
          <a:prstGeom prst="rect">
            <a:avLst/>
          </a:prstGeom>
          <a:noFill/>
          <a:ln>
            <a:solidFill>
              <a:srgbClr val="0070C0"/>
            </a:solidFill>
          </a:ln>
          <a:effectLst>
            <a:glow rad="63500">
              <a:schemeClr val="accent3">
                <a:satMod val="175000"/>
                <a:alpha val="40000"/>
              </a:schemeClr>
            </a:glow>
          </a:effectLst>
        </p:spPr>
        <p:txBody>
          <a:bodyPr wrap="square" rtlCol="0">
            <a:spAutoFit/>
          </a:bodyPr>
          <a:lstStyle/>
          <a:p>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1.</a:t>
            </a: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汽車位</a:t>
            </a:r>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a:t>
            </a:r>
            <a:r>
              <a:rPr lang="en-US" altLang="zh-TW" sz="1600" dirty="0" smtClean="0">
                <a:solidFill>
                  <a:srgbClr val="FF0000"/>
                </a:solidFill>
                <a:effectLst>
                  <a:glow rad="63500">
                    <a:schemeClr val="accent3">
                      <a:satMod val="175000"/>
                      <a:alpha val="40000"/>
                    </a:schemeClr>
                  </a:glow>
                </a:effectLst>
                <a:latin typeface="微軟正黑體" pitchFamily="34" charset="-120"/>
                <a:ea typeface="微軟正黑體" pitchFamily="34" charset="-120"/>
              </a:rPr>
              <a:t>548</a:t>
            </a:r>
            <a:r>
              <a:rPr lang="zh-TW" altLang="en-US" sz="1600" dirty="0" smtClean="0">
                <a:solidFill>
                  <a:srgbClr val="FF0000"/>
                </a:solidFill>
                <a:effectLst>
                  <a:glow rad="63500">
                    <a:schemeClr val="accent3">
                      <a:satMod val="175000"/>
                      <a:alpha val="40000"/>
                    </a:schemeClr>
                  </a:glow>
                </a:effectLst>
                <a:latin typeface="微軟正黑體" pitchFamily="34" charset="-120"/>
                <a:ea typeface="微軟正黑體" pitchFamily="34" charset="-120"/>
              </a:rPr>
              <a:t>位</a:t>
            </a:r>
            <a:endParaRPr lang="en-US" altLang="zh-TW" sz="1600" dirty="0" smtClean="0">
              <a:solidFill>
                <a:srgbClr val="FF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大汽車位</a:t>
            </a:r>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520</a:t>
            </a: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位</a:t>
            </a:r>
            <a:endParaRPr lang="en-US" altLang="zh-TW" sz="1600" dirty="0" smtClean="0">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小汽車位</a:t>
            </a:r>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28</a:t>
            </a: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位</a:t>
            </a:r>
            <a:endParaRPr lang="zh-TW" altLang="en-US" sz="1600" dirty="0">
              <a:effectLst>
                <a:glow rad="63500">
                  <a:schemeClr val="accent3">
                    <a:satMod val="175000"/>
                    <a:alpha val="40000"/>
                  </a:schemeClr>
                </a:glow>
              </a:effectLst>
              <a:latin typeface="微軟正黑體" pitchFamily="34" charset="-120"/>
              <a:ea typeface="微軟正黑體" pitchFamily="34" charset="-120"/>
            </a:endParaRPr>
          </a:p>
        </p:txBody>
      </p:sp>
      <p:sp>
        <p:nvSpPr>
          <p:cNvPr id="9" name="文字方塊 8"/>
          <p:cNvSpPr txBox="1"/>
          <p:nvPr/>
        </p:nvSpPr>
        <p:spPr>
          <a:xfrm>
            <a:off x="617426" y="2786058"/>
            <a:ext cx="1454244" cy="923330"/>
          </a:xfrm>
          <a:prstGeom prst="rect">
            <a:avLst/>
          </a:prstGeom>
          <a:noFill/>
          <a:effectLst>
            <a:glow rad="63500">
              <a:schemeClr val="accent3">
                <a:satMod val="175000"/>
                <a:alpha val="40000"/>
              </a:schemeClr>
            </a:glow>
          </a:effectLst>
        </p:spPr>
        <p:txBody>
          <a:bodyPr wrap="square" rtlCol="0">
            <a:spAutoFit/>
          </a:bodyPr>
          <a:lstStyle/>
          <a:p>
            <a:r>
              <a:rPr lang="en-US" altLang="zh-TW" sz="5400" dirty="0" smtClean="0">
                <a:solidFill>
                  <a:srgbClr val="800000"/>
                </a:solidFill>
                <a:effectLst>
                  <a:glow rad="63500">
                    <a:schemeClr val="accent3">
                      <a:satMod val="175000"/>
                      <a:alpha val="40000"/>
                    </a:schemeClr>
                  </a:glow>
                </a:effectLst>
                <a:latin typeface="Arial Unicode MS" pitchFamily="34" charset="-120"/>
                <a:ea typeface="Arial Unicode MS" pitchFamily="34" charset="-120"/>
                <a:cs typeface="Arial Unicode MS" pitchFamily="34" charset="-120"/>
              </a:rPr>
              <a:t>B3F</a:t>
            </a:r>
            <a:endParaRPr lang="zh-TW" altLang="en-US" sz="5400" dirty="0">
              <a:solidFill>
                <a:srgbClr val="800000"/>
              </a:solidFill>
              <a:effectLst>
                <a:glow rad="63500">
                  <a:schemeClr val="accent3">
                    <a:satMod val="175000"/>
                    <a:alpha val="40000"/>
                  </a:schemeClr>
                </a:glow>
              </a:effectLst>
              <a:latin typeface="Arial Unicode MS" pitchFamily="34" charset="-120"/>
              <a:ea typeface="Arial Unicode MS" pitchFamily="34" charset="-120"/>
              <a:cs typeface="Arial Unicode MS" pitchFamily="34" charset="-120"/>
            </a:endParaRPr>
          </a:p>
        </p:txBody>
      </p:sp>
      <p:sp>
        <p:nvSpPr>
          <p:cNvPr id="4" name="文字方塊 3"/>
          <p:cNvSpPr txBox="1"/>
          <p:nvPr/>
        </p:nvSpPr>
        <p:spPr>
          <a:xfrm>
            <a:off x="338503" y="1785926"/>
            <a:ext cx="2090357" cy="830997"/>
          </a:xfrm>
          <a:prstGeom prst="rect">
            <a:avLst/>
          </a:prstGeom>
          <a:solidFill>
            <a:srgbClr val="FFFF00"/>
          </a:solidFill>
          <a:effectLst>
            <a:glow rad="63500">
              <a:schemeClr val="accent3">
                <a:satMod val="175000"/>
                <a:alpha val="40000"/>
              </a:schemeClr>
            </a:glow>
          </a:effectLst>
        </p:spPr>
        <p:txBody>
          <a:bodyPr wrap="square" rtlCol="0">
            <a:spAutoFit/>
          </a:bodyPr>
          <a:lstStyle/>
          <a:p>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1.</a:t>
            </a: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汽車位</a:t>
            </a:r>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a:t>
            </a:r>
            <a:r>
              <a:rPr lang="en-US" altLang="zh-TW" sz="1600" dirty="0" smtClean="0">
                <a:solidFill>
                  <a:srgbClr val="FF0000"/>
                </a:solidFill>
                <a:effectLst>
                  <a:glow rad="63500">
                    <a:schemeClr val="accent3">
                      <a:satMod val="175000"/>
                      <a:alpha val="40000"/>
                    </a:schemeClr>
                  </a:glow>
                </a:effectLst>
                <a:latin typeface="微軟正黑體" pitchFamily="34" charset="-120"/>
                <a:ea typeface="微軟正黑體" pitchFamily="34" charset="-120"/>
              </a:rPr>
              <a:t>548</a:t>
            </a:r>
            <a:r>
              <a:rPr lang="zh-TW" altLang="en-US" sz="1600" dirty="0" smtClean="0">
                <a:solidFill>
                  <a:srgbClr val="FF0000"/>
                </a:solidFill>
                <a:effectLst>
                  <a:glow rad="63500">
                    <a:schemeClr val="accent3">
                      <a:satMod val="175000"/>
                      <a:alpha val="40000"/>
                    </a:schemeClr>
                  </a:glow>
                </a:effectLst>
                <a:latin typeface="微軟正黑體" pitchFamily="34" charset="-120"/>
                <a:ea typeface="微軟正黑體" pitchFamily="34" charset="-120"/>
              </a:rPr>
              <a:t>位</a:t>
            </a:r>
            <a:endParaRPr lang="en-US" altLang="zh-TW" sz="1600" dirty="0" smtClean="0">
              <a:solidFill>
                <a:srgbClr val="FF0000"/>
              </a:solidFill>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大汽車位</a:t>
            </a:r>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520</a:t>
            </a: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位</a:t>
            </a:r>
            <a:endParaRPr lang="en-US" altLang="zh-TW" sz="1600" dirty="0" smtClean="0">
              <a:effectLst>
                <a:glow rad="63500">
                  <a:schemeClr val="accent3">
                    <a:satMod val="175000"/>
                    <a:alpha val="40000"/>
                  </a:schemeClr>
                </a:glow>
              </a:effectLst>
              <a:latin typeface="微軟正黑體" pitchFamily="34" charset="-120"/>
              <a:ea typeface="微軟正黑體" pitchFamily="34" charset="-120"/>
            </a:endParaRPr>
          </a:p>
          <a:p>
            <a:pPr marL="342900" indent="-342900">
              <a:buFont typeface="Wingdings" pitchFamily="2" charset="2"/>
              <a:buAutoNum type="circleNumWdWhitePlain"/>
            </a:pP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小汽車位</a:t>
            </a:r>
            <a:r>
              <a:rPr lang="en-US" altLang="zh-TW" sz="1600" dirty="0" smtClean="0">
                <a:effectLst>
                  <a:glow rad="63500">
                    <a:schemeClr val="accent3">
                      <a:satMod val="175000"/>
                      <a:alpha val="40000"/>
                    </a:schemeClr>
                  </a:glow>
                </a:effectLst>
                <a:latin typeface="微軟正黑體" pitchFamily="34" charset="-120"/>
                <a:ea typeface="微軟正黑體" pitchFamily="34" charset="-120"/>
              </a:rPr>
              <a:t>28</a:t>
            </a:r>
            <a:r>
              <a:rPr lang="zh-TW" altLang="en-US" sz="1600" dirty="0" smtClean="0">
                <a:effectLst>
                  <a:glow rad="63500">
                    <a:schemeClr val="accent3">
                      <a:satMod val="175000"/>
                      <a:alpha val="40000"/>
                    </a:schemeClr>
                  </a:glow>
                </a:effectLst>
                <a:latin typeface="微軟正黑體" pitchFamily="34" charset="-120"/>
                <a:ea typeface="微軟正黑體" pitchFamily="34" charset="-120"/>
              </a:rPr>
              <a:t>位</a:t>
            </a:r>
            <a:endParaRPr lang="zh-TW" altLang="en-US" sz="1600" dirty="0">
              <a:effectLst>
                <a:glow rad="63500">
                  <a:schemeClr val="accent3">
                    <a:satMod val="175000"/>
                    <a:alpha val="40000"/>
                  </a:schemeClr>
                </a:glow>
              </a:effectLst>
              <a:latin typeface="微軟正黑體" pitchFamily="34" charset="-120"/>
              <a:ea typeface="微軟正黑體" pitchFamily="34" charset="-120"/>
            </a:endParaRPr>
          </a:p>
        </p:txBody>
      </p:sp>
      <p:pic>
        <p:nvPicPr>
          <p:cNvPr id="10" name="Picture 2"/>
          <p:cNvPicPr>
            <a:picLocks noChangeAspect="1" noChangeArrowheads="1"/>
          </p:cNvPicPr>
          <p:nvPr/>
        </p:nvPicPr>
        <p:blipFill>
          <a:blip r:embed="rId3" cstate="print"/>
          <a:srcRect/>
          <a:stretch>
            <a:fillRect/>
          </a:stretch>
        </p:blipFill>
        <p:spPr bwMode="auto">
          <a:xfrm>
            <a:off x="5857884" y="3246537"/>
            <a:ext cx="642942" cy="682529"/>
          </a:xfrm>
          <a:prstGeom prst="rect">
            <a:avLst/>
          </a:prstGeom>
          <a:noFill/>
          <a:ln w="9525">
            <a:solidFill>
              <a:srgbClr val="FF0000"/>
            </a:solidFill>
            <a:miter lim="800000"/>
            <a:headEnd/>
            <a:tailEnd/>
          </a:ln>
          <a:effectLst/>
        </p:spPr>
      </p:pic>
      <p:pic>
        <p:nvPicPr>
          <p:cNvPr id="11" name="Picture 3"/>
          <p:cNvPicPr>
            <a:picLocks noChangeAspect="1" noChangeArrowheads="1"/>
          </p:cNvPicPr>
          <p:nvPr/>
        </p:nvPicPr>
        <p:blipFill>
          <a:blip r:embed="rId4" cstate="print"/>
          <a:srcRect/>
          <a:stretch>
            <a:fillRect/>
          </a:stretch>
        </p:blipFill>
        <p:spPr bwMode="auto">
          <a:xfrm>
            <a:off x="5929322" y="2246405"/>
            <a:ext cx="469895" cy="1338260"/>
          </a:xfrm>
          <a:prstGeom prst="rect">
            <a:avLst/>
          </a:prstGeom>
          <a:noFill/>
          <a:ln w="9525">
            <a:noFill/>
            <a:miter lim="800000"/>
            <a:headEnd/>
            <a:tailEnd/>
          </a:ln>
          <a:effectLst/>
        </p:spPr>
      </p:pic>
      <p:sp>
        <p:nvSpPr>
          <p:cNvPr id="12" name="矩形圖說文字 60">
            <a:extLst>
              <a:ext uri="{FF2B5EF4-FFF2-40B4-BE49-F238E27FC236}">
                <a16:creationId xmlns:a16="http://schemas.microsoft.com/office/drawing/2014/main" xmlns="" id="{BEE40A0F-71C4-47DB-9922-60DC99237143}"/>
              </a:ext>
            </a:extLst>
          </p:cNvPr>
          <p:cNvSpPr>
            <a:spLocks noChangeArrowheads="1"/>
          </p:cNvSpPr>
          <p:nvPr/>
        </p:nvSpPr>
        <p:spPr bwMode="auto">
          <a:xfrm>
            <a:off x="6643702" y="2500306"/>
            <a:ext cx="2214578" cy="1500198"/>
          </a:xfrm>
          <a:prstGeom prst="wedgeRectCallout">
            <a:avLst>
              <a:gd name="adj1" fmla="val -60317"/>
              <a:gd name="adj2" fmla="val -1959"/>
            </a:avLst>
          </a:prstGeom>
          <a:solidFill>
            <a:schemeClr val="accent6">
              <a:lumMod val="60000"/>
              <a:lumOff val="40000"/>
            </a:schemeClr>
          </a:solidFill>
        </p:spPr>
        <p:style>
          <a:lnRef idx="3">
            <a:schemeClr val="lt1"/>
          </a:lnRef>
          <a:fillRef idx="1">
            <a:schemeClr val="accent2"/>
          </a:fillRef>
          <a:effectRef idx="1">
            <a:schemeClr val="accent2"/>
          </a:effectRef>
          <a:fontRef idx="minor">
            <a:schemeClr val="lt1"/>
          </a:fontRef>
        </p:style>
        <p:txBody>
          <a:bodyPr anchor="ctr"/>
          <a:lstStyle/>
          <a:p>
            <a:pPr>
              <a:defRPr/>
            </a:pPr>
            <a:r>
              <a:rPr lang="zh-TW" altLang="en-US" sz="1600" dirty="0">
                <a:solidFill>
                  <a:srgbClr val="262626"/>
                </a:solidFill>
                <a:latin typeface="微軟正黑體" panose="020B0604030504040204" pitchFamily="34" charset="-120"/>
              </a:rPr>
              <a:t> </a:t>
            </a:r>
            <a:r>
              <a:rPr lang="zh-TW" altLang="en-US" sz="1600" dirty="0" smtClean="0">
                <a:solidFill>
                  <a:srgbClr val="262626"/>
                </a:solidFill>
                <a:latin typeface="微軟正黑體" panose="020B0604030504040204" pitchFamily="34" charset="-120"/>
              </a:rPr>
              <a:t>社區</a:t>
            </a:r>
            <a:r>
              <a:rPr lang="zh-TW" altLang="en-US" sz="1600" dirty="0" smtClean="0">
                <a:solidFill>
                  <a:srgbClr val="FF0000"/>
                </a:solidFill>
                <a:latin typeface="微軟正黑體" panose="020B0604030504040204" pitchFamily="34" charset="-120"/>
              </a:rPr>
              <a:t>巡邏哨</a:t>
            </a:r>
            <a:r>
              <a:rPr lang="zh-TW" altLang="en-US" sz="1600" dirty="0" smtClean="0">
                <a:solidFill>
                  <a:srgbClr val="262626"/>
                </a:solidFill>
                <a:latin typeface="微軟正黑體" panose="020B0604030504040204" pitchFamily="34" charset="-120"/>
              </a:rPr>
              <a:t>人員</a:t>
            </a:r>
            <a:r>
              <a:rPr lang="en-US" altLang="zh-TW" sz="1600" dirty="0">
                <a:solidFill>
                  <a:srgbClr val="262626"/>
                </a:solidFill>
                <a:latin typeface="微軟正黑體" panose="020B0604030504040204" pitchFamily="34" charset="-120"/>
              </a:rPr>
              <a:t>(24H)</a:t>
            </a:r>
          </a:p>
          <a:p>
            <a:pPr>
              <a:defRPr/>
            </a:pPr>
            <a:r>
              <a:rPr lang="en-US" altLang="zh-TW" sz="1600" dirty="0">
                <a:solidFill>
                  <a:srgbClr val="262626"/>
                </a:solidFill>
                <a:latin typeface="微軟正黑體" panose="020B0604030504040204" pitchFamily="34" charset="-120"/>
              </a:rPr>
              <a:t>1.</a:t>
            </a:r>
            <a:r>
              <a:rPr lang="zh-TW" altLang="en-US" sz="1600" dirty="0">
                <a:solidFill>
                  <a:srgbClr val="262626"/>
                </a:solidFill>
                <a:latin typeface="微軟正黑體" panose="020B0604030504040204" pitchFamily="34" charset="-120"/>
              </a:rPr>
              <a:t>巡邏服務</a:t>
            </a:r>
            <a:endParaRPr lang="en-US" altLang="zh-TW" sz="1600" dirty="0">
              <a:solidFill>
                <a:srgbClr val="262626"/>
              </a:solidFill>
              <a:latin typeface="微軟正黑體" panose="020B0604030504040204" pitchFamily="34" charset="-120"/>
            </a:endParaRPr>
          </a:p>
          <a:p>
            <a:pPr>
              <a:defRPr/>
            </a:pPr>
            <a:r>
              <a:rPr lang="en-US" altLang="zh-TW" sz="1600" dirty="0">
                <a:solidFill>
                  <a:srgbClr val="262626"/>
                </a:solidFill>
                <a:latin typeface="微軟正黑體" panose="020B0604030504040204" pitchFamily="34" charset="-120"/>
              </a:rPr>
              <a:t>2.</a:t>
            </a:r>
            <a:r>
              <a:rPr lang="zh-TW" altLang="en-US" sz="1600" dirty="0">
                <a:solidFill>
                  <a:srgbClr val="262626"/>
                </a:solidFill>
                <a:latin typeface="微軟正黑體" panose="020B0604030504040204" pitchFamily="34" charset="-120"/>
              </a:rPr>
              <a:t>遠端監控</a:t>
            </a:r>
            <a:endParaRPr lang="en-US" altLang="zh-TW" sz="1600" dirty="0">
              <a:solidFill>
                <a:srgbClr val="262626"/>
              </a:solidFill>
              <a:latin typeface="微軟正黑體" panose="020B0604030504040204" pitchFamily="34" charset="-120"/>
            </a:endParaRPr>
          </a:p>
          <a:p>
            <a:pPr>
              <a:defRPr/>
            </a:pPr>
            <a:r>
              <a:rPr lang="en-US" altLang="zh-TW" sz="1600" dirty="0">
                <a:solidFill>
                  <a:srgbClr val="262626"/>
                </a:solidFill>
                <a:latin typeface="微軟正黑體" panose="020B0604030504040204" pitchFamily="34" charset="-120"/>
              </a:rPr>
              <a:t>3.</a:t>
            </a:r>
            <a:r>
              <a:rPr lang="zh-TW" altLang="en-US" sz="1600" dirty="0">
                <a:solidFill>
                  <a:srgbClr val="262626"/>
                </a:solidFill>
                <a:latin typeface="微軟正黑體" panose="020B0604030504040204" pitchFamily="34" charset="-120"/>
              </a:rPr>
              <a:t>門禁管制</a:t>
            </a:r>
            <a:endParaRPr lang="en-US" altLang="zh-TW" sz="1600" dirty="0">
              <a:solidFill>
                <a:srgbClr val="262626"/>
              </a:solidFill>
              <a:latin typeface="微軟正黑體" panose="020B0604030504040204" pitchFamily="34" charset="-120"/>
            </a:endParaRPr>
          </a:p>
          <a:p>
            <a:pPr>
              <a:defRPr/>
            </a:pPr>
            <a:r>
              <a:rPr lang="en-US" altLang="zh-TW" sz="1600" dirty="0">
                <a:solidFill>
                  <a:srgbClr val="262626"/>
                </a:solidFill>
                <a:latin typeface="微軟正黑體" panose="020B0604030504040204" pitchFamily="34" charset="-120"/>
              </a:rPr>
              <a:t>4.</a:t>
            </a:r>
            <a:r>
              <a:rPr lang="zh-TW" altLang="en-US" sz="1600" dirty="0">
                <a:solidFill>
                  <a:srgbClr val="262626"/>
                </a:solidFill>
                <a:latin typeface="微軟正黑體" panose="020B0604030504040204" pitchFamily="34" charset="-120"/>
              </a:rPr>
              <a:t>社區安全</a:t>
            </a:r>
            <a:r>
              <a:rPr lang="zh-TW" altLang="en-US" sz="1600" dirty="0" smtClean="0">
                <a:solidFill>
                  <a:srgbClr val="262626"/>
                </a:solidFill>
                <a:latin typeface="微軟正黑體" panose="020B0604030504040204" pitchFamily="34" charset="-120"/>
              </a:rPr>
              <a:t>防護</a:t>
            </a:r>
            <a:endParaRPr lang="en-US" altLang="zh-TW" sz="1600" dirty="0">
              <a:solidFill>
                <a:srgbClr val="262626"/>
              </a:solidFill>
              <a:latin typeface="微軟正黑體" panose="020B0604030504040204" pitchFamily="34" charset="-120"/>
            </a:endParaRPr>
          </a:p>
        </p:txBody>
      </p:sp>
    </p:spTree>
    <p:extLst>
      <p:ext uri="{BB962C8B-B14F-4D97-AF65-F5344CB8AC3E}">
        <p14:creationId xmlns="" xmlns:p14="http://schemas.microsoft.com/office/powerpoint/2010/main" val="3197290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9130" name="Group 58"/>
          <p:cNvGraphicFramePr>
            <a:graphicFrameLocks noGrp="1"/>
          </p:cNvGraphicFramePr>
          <p:nvPr>
            <p:extLst>
              <p:ext uri="{D42A27DB-BD31-4B8C-83A1-F6EECF244321}">
                <p14:modId xmlns="" xmlns:p14="http://schemas.microsoft.com/office/powerpoint/2010/main" val="2306523302"/>
              </p:ext>
            </p:extLst>
          </p:nvPr>
        </p:nvGraphicFramePr>
        <p:xfrm>
          <a:off x="2339752" y="404664"/>
          <a:ext cx="6048672" cy="5544615"/>
        </p:xfrm>
        <a:graphic>
          <a:graphicData uri="http://schemas.openxmlformats.org/drawingml/2006/table">
            <a:tbl>
              <a:tblPr>
                <a:tableStyleId>{284E427A-3D55-4303-BF80-6455036E1DE7}</a:tableStyleId>
              </a:tblPr>
              <a:tblGrid>
                <a:gridCol w="1088845">
                  <a:extLst>
                    <a:ext uri="{9D8B030D-6E8A-4147-A177-3AD203B41FA5}">
                      <a16:colId xmlns:a16="http://schemas.microsoft.com/office/drawing/2014/main" xmlns="" val="20000"/>
                    </a:ext>
                  </a:extLst>
                </a:gridCol>
                <a:gridCol w="1088845">
                  <a:extLst>
                    <a:ext uri="{9D8B030D-6E8A-4147-A177-3AD203B41FA5}">
                      <a16:colId xmlns:a16="http://schemas.microsoft.com/office/drawing/2014/main" xmlns="" val="20001"/>
                    </a:ext>
                  </a:extLst>
                </a:gridCol>
                <a:gridCol w="1403118">
                  <a:extLst>
                    <a:ext uri="{9D8B030D-6E8A-4147-A177-3AD203B41FA5}">
                      <a16:colId xmlns:a16="http://schemas.microsoft.com/office/drawing/2014/main" xmlns="" val="20002"/>
                    </a:ext>
                  </a:extLst>
                </a:gridCol>
                <a:gridCol w="2467864">
                  <a:extLst>
                    <a:ext uri="{9D8B030D-6E8A-4147-A177-3AD203B41FA5}">
                      <a16:colId xmlns:a16="http://schemas.microsoft.com/office/drawing/2014/main" xmlns="" val="20003"/>
                    </a:ext>
                  </a:extLst>
                </a:gridCol>
              </a:tblGrid>
              <a:tr h="50965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職  稱</a:t>
                      </a:r>
                      <a:endParaRPr kumimoji="0" lang="zh-TW" altLang="en-US" sz="1900" b="1" i="0" u="none" strike="noStrike" cap="none" normalizeH="0" baseline="0" dirty="0">
                        <a:ln>
                          <a:noFill/>
                        </a:ln>
                        <a:solidFill>
                          <a:srgbClr val="002060"/>
                        </a:solidFill>
                        <a:effectLst/>
                        <a:latin typeface="+mn-ea"/>
                        <a:ea typeface="+mn-ea"/>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latin typeface="+mn-ea"/>
                          <a:ea typeface="+mn-ea"/>
                        </a:rPr>
                        <a:t>社區經理</a:t>
                      </a:r>
                      <a:endParaRPr kumimoji="0" lang="en-US" altLang="zh-TW" sz="1900" b="0" i="0" u="none" strike="noStrike" cap="none" normalizeH="0" baseline="0" dirty="0">
                        <a:ln>
                          <a:noFill/>
                        </a:ln>
                        <a:solidFill>
                          <a:schemeClr val="tx1"/>
                        </a:solidFill>
                        <a:effectLst/>
                        <a:latin typeface="+mn-ea"/>
                        <a:ea typeface="+mn-ea"/>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體位要求</a:t>
                      </a:r>
                      <a:endParaRPr kumimoji="0" lang="zh-TW" altLang="en-US" sz="1900" b="1" i="0" u="none" strike="noStrike" cap="none" normalizeH="0" baseline="0" dirty="0">
                        <a:ln>
                          <a:noFill/>
                        </a:ln>
                        <a:solidFill>
                          <a:srgbClr val="002060"/>
                        </a:solidFill>
                        <a:effectLst/>
                        <a:latin typeface="+mn-ea"/>
                        <a:ea typeface="+mn-ea"/>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latin typeface="+mn-ea"/>
                          <a:ea typeface="+mn-ea"/>
                        </a:rPr>
                        <a:t>健康正常</a:t>
                      </a:r>
                      <a:endParaRPr kumimoji="0" lang="zh-TW" altLang="en-US" sz="1900" b="0" i="0" u="none" strike="noStrike" cap="none" normalizeH="0" baseline="0" dirty="0">
                        <a:ln>
                          <a:noFill/>
                        </a:ln>
                        <a:solidFill>
                          <a:schemeClr val="tx1"/>
                        </a:solidFill>
                        <a:effectLst/>
                        <a:latin typeface="+mn-ea"/>
                        <a:ea typeface="+mn-ea"/>
                        <a:cs typeface="Arial" panose="020B0604020202020204" pitchFamily="34" charset="0"/>
                      </a:endParaRPr>
                    </a:p>
                  </a:txBody>
                  <a:tcPr marL="35073" marR="35073" marT="17536" marB="17536" anchor="ctr" horzOverflow="overflow"/>
                </a:tc>
                <a:extLst>
                  <a:ext uri="{0D108BD9-81ED-4DB2-BD59-A6C34878D82A}">
                    <a16:rowId xmlns:a16="http://schemas.microsoft.com/office/drawing/2014/main" xmlns="" val="10000"/>
                  </a:ext>
                </a:extLst>
              </a:tr>
              <a:tr h="50965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人  力</a:t>
                      </a:r>
                      <a:endParaRPr kumimoji="0" lang="zh-TW" altLang="en-US" sz="1900" b="1" i="0" u="none" strike="noStrike" cap="none" normalizeH="0" baseline="0" dirty="0">
                        <a:ln>
                          <a:noFill/>
                        </a:ln>
                        <a:solidFill>
                          <a:srgbClr val="002060"/>
                        </a:solidFill>
                        <a:effectLst/>
                        <a:latin typeface="+mn-ea"/>
                        <a:ea typeface="+mn-ea"/>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latin typeface="+mn-ea"/>
                          <a:ea typeface="+mn-ea"/>
                        </a:rPr>
                        <a:t>1</a:t>
                      </a:r>
                      <a:r>
                        <a:rPr kumimoji="0" lang="zh-TW" altLang="en-US" sz="1900" u="none" strike="noStrike" cap="none" normalizeH="0" baseline="0" dirty="0">
                          <a:ln>
                            <a:noFill/>
                          </a:ln>
                          <a:effectLst/>
                          <a:latin typeface="+mn-ea"/>
                          <a:ea typeface="+mn-ea"/>
                        </a:rPr>
                        <a:t> </a:t>
                      </a:r>
                      <a:endParaRPr kumimoji="0" lang="zh-TW" altLang="en-US" sz="1900" b="0" i="0" u="none" strike="noStrike" cap="none" normalizeH="0" baseline="0" dirty="0">
                        <a:ln>
                          <a:noFill/>
                        </a:ln>
                        <a:solidFill>
                          <a:schemeClr val="tx1"/>
                        </a:solidFill>
                        <a:effectLst/>
                        <a:latin typeface="+mn-ea"/>
                        <a:ea typeface="+mn-ea"/>
                        <a:cs typeface="Arial" panose="020B0604020202020204" pitchFamily="34"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工作時間</a:t>
                      </a:r>
                      <a:endParaRPr kumimoji="0" lang="zh-TW" altLang="en-US" sz="1900" b="1" i="0" u="none" strike="noStrike" cap="none" normalizeH="0" baseline="0" dirty="0">
                        <a:ln>
                          <a:noFill/>
                        </a:ln>
                        <a:solidFill>
                          <a:srgbClr val="002060"/>
                        </a:solidFill>
                        <a:effectLst/>
                        <a:latin typeface="+mn-ea"/>
                        <a:ea typeface="+mn-ea"/>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latin typeface="+mn-ea"/>
                          <a:ea typeface="+mn-ea"/>
                        </a:rPr>
                        <a:t>8H</a:t>
                      </a:r>
                      <a:endParaRPr kumimoji="0" lang="en-US" altLang="zh-TW" sz="1900" b="0" i="0" u="none" strike="noStrike" cap="none" normalizeH="0" baseline="0" dirty="0">
                        <a:ln>
                          <a:noFill/>
                        </a:ln>
                        <a:solidFill>
                          <a:schemeClr val="tx1"/>
                        </a:solidFill>
                        <a:effectLst/>
                        <a:latin typeface="+mn-ea"/>
                        <a:ea typeface="+mn-ea"/>
                        <a:cs typeface="Arial" panose="020B0604020202020204" pitchFamily="34" charset="0"/>
                      </a:endParaRPr>
                    </a:p>
                  </a:txBody>
                  <a:tcPr marL="35073" marR="35073" marT="17536" marB="17536" anchor="ctr" horzOverflow="overflow"/>
                </a:tc>
                <a:extLst>
                  <a:ext uri="{0D108BD9-81ED-4DB2-BD59-A6C34878D82A}">
                    <a16:rowId xmlns:a16="http://schemas.microsoft.com/office/drawing/2014/main" xmlns="" val="10001"/>
                  </a:ext>
                </a:extLst>
              </a:tr>
              <a:tr h="50965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年   齡</a:t>
                      </a:r>
                      <a:endParaRPr kumimoji="0" lang="zh-TW" altLang="en-US" sz="1900" b="1" i="0" u="none" strike="noStrike" cap="none" normalizeH="0" baseline="0" dirty="0">
                        <a:ln>
                          <a:noFill/>
                        </a:ln>
                        <a:solidFill>
                          <a:srgbClr val="002060"/>
                        </a:solidFill>
                        <a:effectLst/>
                        <a:latin typeface="+mn-ea"/>
                        <a:ea typeface="+mn-ea"/>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solidFill>
                            <a:srgbClr val="FF0000"/>
                          </a:solidFill>
                          <a:effectLst/>
                          <a:latin typeface="+mn-ea"/>
                          <a:ea typeface="+mn-ea"/>
                        </a:rPr>
                        <a:t>55</a:t>
                      </a:r>
                      <a:r>
                        <a:rPr kumimoji="0" lang="zh-TW" altLang="en-US" sz="1900" u="none" strike="noStrike" cap="none" normalizeH="0" baseline="0" dirty="0">
                          <a:ln>
                            <a:noFill/>
                          </a:ln>
                          <a:solidFill>
                            <a:srgbClr val="FF0000"/>
                          </a:solidFill>
                          <a:effectLst/>
                          <a:latin typeface="+mn-ea"/>
                          <a:ea typeface="+mn-ea"/>
                        </a:rPr>
                        <a:t>歲以下</a:t>
                      </a:r>
                      <a:endParaRPr kumimoji="0" lang="zh-TW" altLang="en-US" sz="1900" b="0" i="0" u="none" strike="noStrike" cap="none" normalizeH="0" baseline="0" dirty="0">
                        <a:ln>
                          <a:noFill/>
                        </a:ln>
                        <a:solidFill>
                          <a:srgbClr val="FF0000"/>
                        </a:solidFill>
                        <a:effectLst/>
                        <a:latin typeface="+mn-ea"/>
                        <a:ea typeface="+mn-ea"/>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休        假</a:t>
                      </a:r>
                      <a:endParaRPr kumimoji="0" lang="zh-TW" altLang="en-US" sz="1900" b="1" i="0" u="none" strike="noStrike" cap="none" normalizeH="0" baseline="0" dirty="0">
                        <a:ln>
                          <a:noFill/>
                        </a:ln>
                        <a:solidFill>
                          <a:srgbClr val="002060"/>
                        </a:solidFill>
                        <a:effectLst/>
                        <a:latin typeface="+mn-ea"/>
                        <a:ea typeface="+mn-ea"/>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latin typeface="+mn-ea"/>
                          <a:ea typeface="+mn-ea"/>
                        </a:rPr>
                        <a:t>週休二日</a:t>
                      </a:r>
                      <a:endParaRPr kumimoji="0" lang="zh-TW" altLang="en-US" sz="1900" b="0" i="0" u="none" strike="noStrike" cap="none" normalizeH="0" baseline="0" dirty="0">
                        <a:ln>
                          <a:noFill/>
                        </a:ln>
                        <a:solidFill>
                          <a:schemeClr val="tx1"/>
                        </a:solidFill>
                        <a:effectLst/>
                        <a:latin typeface="+mn-ea"/>
                        <a:ea typeface="+mn-ea"/>
                      </a:endParaRPr>
                    </a:p>
                  </a:txBody>
                  <a:tcPr marL="35073" marR="35073" marT="17536" marB="17536" anchor="ctr" horzOverflow="overflow"/>
                </a:tc>
                <a:extLst>
                  <a:ext uri="{0D108BD9-81ED-4DB2-BD59-A6C34878D82A}">
                    <a16:rowId xmlns:a16="http://schemas.microsoft.com/office/drawing/2014/main" xmlns="" val="10002"/>
                  </a:ext>
                </a:extLst>
              </a:tr>
              <a:tr h="50965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性  別</a:t>
                      </a:r>
                      <a:endParaRPr kumimoji="0" lang="zh-TW" altLang="en-US" sz="1900" b="1" i="0" u="none" strike="noStrike" cap="none" normalizeH="0" baseline="0" dirty="0">
                        <a:ln>
                          <a:noFill/>
                        </a:ln>
                        <a:solidFill>
                          <a:srgbClr val="002060"/>
                        </a:solidFill>
                        <a:effectLst/>
                        <a:latin typeface="+mn-ea"/>
                        <a:ea typeface="+mn-ea"/>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latin typeface="+mn-ea"/>
                          <a:ea typeface="+mn-ea"/>
                        </a:rPr>
                        <a:t>不拘</a:t>
                      </a:r>
                      <a:endParaRPr kumimoji="0" lang="zh-TW" altLang="en-US" sz="1900" b="0" i="0" u="none" strike="noStrike" cap="none" normalizeH="0" baseline="0" dirty="0">
                        <a:ln>
                          <a:noFill/>
                        </a:ln>
                        <a:solidFill>
                          <a:schemeClr val="tx1"/>
                        </a:solidFill>
                        <a:effectLst/>
                        <a:latin typeface="+mn-ea"/>
                        <a:ea typeface="+mn-ea"/>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教育程度</a:t>
                      </a:r>
                      <a:endParaRPr kumimoji="0" lang="zh-TW" altLang="en-US" sz="1900" b="1" i="0" u="none" strike="noStrike" cap="none" normalizeH="0" baseline="0" dirty="0">
                        <a:ln>
                          <a:noFill/>
                        </a:ln>
                        <a:solidFill>
                          <a:srgbClr val="002060"/>
                        </a:solidFill>
                        <a:effectLst/>
                        <a:latin typeface="+mn-ea"/>
                        <a:ea typeface="+mn-ea"/>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FF0000"/>
                          </a:solidFill>
                          <a:effectLst/>
                          <a:latin typeface="+mn-ea"/>
                          <a:ea typeface="+mn-ea"/>
                        </a:rPr>
                        <a:t>大專以上</a:t>
                      </a:r>
                      <a:endParaRPr kumimoji="0" lang="zh-TW" altLang="en-US" sz="1900" b="0" i="0" u="none" strike="noStrike" cap="none" normalizeH="0" baseline="0" dirty="0">
                        <a:ln>
                          <a:noFill/>
                        </a:ln>
                        <a:solidFill>
                          <a:srgbClr val="FF0000"/>
                        </a:solidFill>
                        <a:effectLst/>
                        <a:latin typeface="+mn-ea"/>
                        <a:ea typeface="+mn-ea"/>
                        <a:cs typeface="Times New Roman" panose="02020603050405020304" pitchFamily="18" charset="0"/>
                      </a:endParaRPr>
                    </a:p>
                  </a:txBody>
                  <a:tcPr marL="35073" marR="35073" marT="17536" marB="17536" anchor="ctr" horzOverflow="overflow"/>
                </a:tc>
                <a:extLst>
                  <a:ext uri="{0D108BD9-81ED-4DB2-BD59-A6C34878D82A}">
                    <a16:rowId xmlns:a16="http://schemas.microsoft.com/office/drawing/2014/main" xmlns="" val="10003"/>
                  </a:ext>
                </a:extLst>
              </a:tr>
              <a:tr h="962524">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經  驗</a:t>
                      </a:r>
                      <a:endParaRPr kumimoji="0" lang="zh-TW" altLang="en-US" sz="1900" b="1" i="0" u="none" strike="noStrike" cap="none" normalizeH="0" baseline="0" dirty="0">
                        <a:ln>
                          <a:noFill/>
                        </a:ln>
                        <a:solidFill>
                          <a:srgbClr val="002060"/>
                        </a:solidFill>
                        <a:effectLst/>
                        <a:latin typeface="+mn-ea"/>
                        <a:ea typeface="+mn-ea"/>
                      </a:endParaRPr>
                    </a:p>
                  </a:txBody>
                  <a:tcPr marL="35073" marR="35073" marT="17536" marB="17536" anchor="ctr" horzOverflow="overflow"/>
                </a:tc>
                <a:tc gridSpan="3">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solidFill>
                            <a:srgbClr val="FF0000"/>
                          </a:solidFill>
                          <a:effectLst/>
                          <a:latin typeface="+mn-ea"/>
                          <a:ea typeface="+mn-ea"/>
                        </a:rPr>
                        <a:t>1.</a:t>
                      </a:r>
                      <a:r>
                        <a:rPr kumimoji="0" lang="zh-TW" altLang="en-US" sz="1900" u="none" strike="noStrike" cap="none" normalizeH="0" baseline="0" dirty="0">
                          <a:ln>
                            <a:noFill/>
                          </a:ln>
                          <a:solidFill>
                            <a:srgbClr val="FF0000"/>
                          </a:solidFill>
                          <a:effectLst/>
                          <a:latin typeface="+mn-ea"/>
                          <a:ea typeface="+mn-ea"/>
                        </a:rPr>
                        <a:t>公寓大廈管理服務人員證照</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solidFill>
                            <a:srgbClr val="FF0000"/>
                          </a:solidFill>
                          <a:effectLst/>
                          <a:latin typeface="+mn-ea"/>
                          <a:ea typeface="+mn-ea"/>
                        </a:rPr>
                        <a:t>2.</a:t>
                      </a:r>
                      <a:r>
                        <a:rPr kumimoji="0" lang="zh-TW" altLang="en-US" sz="1900" u="none" strike="noStrike" cap="none" normalizeH="0" baseline="0" dirty="0">
                          <a:ln>
                            <a:noFill/>
                          </a:ln>
                          <a:solidFill>
                            <a:srgbClr val="FF0000"/>
                          </a:solidFill>
                          <a:effectLst/>
                          <a:latin typeface="+mn-ea"/>
                          <a:ea typeface="+mn-ea"/>
                        </a:rPr>
                        <a:t>防火管理人員證照</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solidFill>
                            <a:srgbClr val="FF0000"/>
                          </a:solidFill>
                          <a:effectLst/>
                          <a:latin typeface="+mn-ea"/>
                          <a:ea typeface="+mn-ea"/>
                        </a:rPr>
                        <a:t>3.</a:t>
                      </a:r>
                      <a:r>
                        <a:rPr kumimoji="0" lang="zh-TW" altLang="en-US" sz="1900" u="none" strike="noStrike" cap="none" normalizeH="0" baseline="0" dirty="0">
                          <a:ln>
                            <a:noFill/>
                          </a:ln>
                          <a:solidFill>
                            <a:srgbClr val="FF0000"/>
                          </a:solidFill>
                          <a:effectLst/>
                          <a:latin typeface="+mn-ea"/>
                          <a:ea typeface="+mn-ea"/>
                        </a:rPr>
                        <a:t>豪宅社區管理經驗。</a:t>
                      </a:r>
                      <a:endParaRPr kumimoji="0" lang="zh-TW" altLang="en-US" sz="1900" b="0" i="0" u="none" strike="noStrike" cap="none" normalizeH="0" baseline="0" dirty="0">
                        <a:ln>
                          <a:noFill/>
                        </a:ln>
                        <a:solidFill>
                          <a:srgbClr val="FF0000"/>
                        </a:solidFill>
                        <a:effectLst/>
                        <a:latin typeface="+mn-ea"/>
                        <a:ea typeface="+mn-ea"/>
                        <a:cs typeface="Times New Roman" panose="02020603050405020304" pitchFamily="18" charset="0"/>
                      </a:endParaRPr>
                    </a:p>
                  </a:txBody>
                  <a:tcPr marL="35073" marR="35073" marT="17536" marB="17536" anchor="ctr" horzOverflow="overflow"/>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xmlns="" val="10004"/>
                  </a:ext>
                </a:extLst>
              </a:tr>
              <a:tr h="195984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職  責</a:t>
                      </a:r>
                      <a:endParaRPr kumimoji="0" lang="zh-TW" altLang="en-US" sz="1900" b="1" i="0" u="none" strike="noStrike" cap="none" normalizeH="0" baseline="0" dirty="0">
                        <a:ln>
                          <a:noFill/>
                        </a:ln>
                        <a:solidFill>
                          <a:srgbClr val="002060"/>
                        </a:solidFill>
                        <a:effectLst/>
                        <a:latin typeface="+mn-ea"/>
                        <a:ea typeface="+mn-ea"/>
                      </a:endParaRPr>
                    </a:p>
                  </a:txBody>
                  <a:tcPr marL="35073" marR="35073" marT="17536" marB="17536" anchor="ctr" horzOverflow="overflow"/>
                </a:tc>
                <a:tc gridSpan="3">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latin typeface="+mn-ea"/>
                          <a:ea typeface="+mn-ea"/>
                        </a:rPr>
                        <a:t>1.</a:t>
                      </a:r>
                      <a:r>
                        <a:rPr kumimoji="0" lang="zh-TW" altLang="en-US" sz="1900" u="none" strike="noStrike" cap="none" normalizeH="0" baseline="0" dirty="0">
                          <a:ln>
                            <a:noFill/>
                          </a:ln>
                          <a:effectLst/>
                          <a:latin typeface="+mn-ea"/>
                          <a:ea typeface="+mn-ea"/>
                        </a:rPr>
                        <a:t>社區服務管理事宜執行。</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latin typeface="+mn-ea"/>
                          <a:ea typeface="+mn-ea"/>
                        </a:rPr>
                        <a:t>2.</a:t>
                      </a:r>
                      <a:r>
                        <a:rPr kumimoji="0" lang="zh-TW" altLang="en-US" sz="1900" u="none" strike="noStrike" cap="none" normalizeH="0" baseline="0" dirty="0">
                          <a:ln>
                            <a:noFill/>
                          </a:ln>
                          <a:effectLst/>
                          <a:latin typeface="+mn-ea"/>
                          <a:ea typeface="+mn-ea"/>
                        </a:rPr>
                        <a:t>管理委員會業務之執行。</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latin typeface="+mn-ea"/>
                          <a:ea typeface="+mn-ea"/>
                        </a:rPr>
                        <a:t>3.</a:t>
                      </a:r>
                      <a:r>
                        <a:rPr kumimoji="0" lang="zh-TW" altLang="en-US" sz="1900" u="none" strike="noStrike" cap="none" normalizeH="0" baseline="0" dirty="0">
                          <a:ln>
                            <a:noFill/>
                          </a:ln>
                          <a:effectLst/>
                          <a:latin typeface="+mn-ea"/>
                          <a:ea typeface="+mn-ea"/>
                        </a:rPr>
                        <a:t>住戶交辦委託事項執行。</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latin typeface="+mn-ea"/>
                          <a:ea typeface="+mn-ea"/>
                        </a:rPr>
                        <a:t>4.</a:t>
                      </a:r>
                      <a:r>
                        <a:rPr kumimoji="0" lang="zh-TW" altLang="en-US" sz="1900" u="none" strike="noStrike" cap="none" normalizeH="0" baseline="0" dirty="0">
                          <a:ln>
                            <a:noFill/>
                          </a:ln>
                          <a:effectLst/>
                          <a:latin typeface="+mn-ea"/>
                          <a:ea typeface="+mn-ea"/>
                        </a:rPr>
                        <a:t>社區安全維護督導管理。</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latin typeface="+mn-ea"/>
                          <a:ea typeface="+mn-ea"/>
                        </a:rPr>
                        <a:t>5.</a:t>
                      </a:r>
                      <a:r>
                        <a:rPr kumimoji="0" lang="zh-TW" altLang="en-US" sz="1900" u="none" strike="noStrike" cap="none" normalizeH="0" baseline="0" dirty="0">
                          <a:ln>
                            <a:noFill/>
                          </a:ln>
                          <a:effectLst/>
                          <a:latin typeface="+mn-ea"/>
                          <a:ea typeface="+mn-ea"/>
                        </a:rPr>
                        <a:t>各項機電設備維護檢查。</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latin typeface="+mn-ea"/>
                          <a:ea typeface="+mn-ea"/>
                        </a:rPr>
                        <a:t>6.</a:t>
                      </a:r>
                      <a:r>
                        <a:rPr kumimoji="0" lang="zh-TW" altLang="en-US" sz="1900" u="none" strike="noStrike" cap="none" normalizeH="0" baseline="0" dirty="0">
                          <a:ln>
                            <a:noFill/>
                          </a:ln>
                          <a:effectLst/>
                          <a:latin typeface="+mn-ea"/>
                          <a:ea typeface="+mn-ea"/>
                        </a:rPr>
                        <a:t>督導服務人員執勤狀況。</a:t>
                      </a:r>
                      <a:endParaRPr kumimoji="0" lang="zh-TW" altLang="en-US" sz="1900" b="0" i="0" u="none" strike="noStrike" cap="none" normalizeH="0" baseline="0" dirty="0">
                        <a:ln>
                          <a:noFill/>
                        </a:ln>
                        <a:solidFill>
                          <a:schemeClr val="tx1"/>
                        </a:solidFill>
                        <a:effectLst/>
                        <a:latin typeface="+mn-ea"/>
                        <a:ea typeface="+mn-ea"/>
                        <a:cs typeface="Times New Roman" panose="02020603050405020304" pitchFamily="18" charset="0"/>
                      </a:endParaRPr>
                    </a:p>
                  </a:txBody>
                  <a:tcPr marL="35073" marR="35073" marT="17536" marB="17536" anchor="ctr" horzOverflow="overflow"/>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xmlns="" val="10005"/>
                  </a:ext>
                </a:extLst>
              </a:tr>
              <a:tr h="583614">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工作要求</a:t>
                      </a:r>
                      <a:endParaRPr kumimoji="0" lang="zh-TW" altLang="en-US" sz="1900" b="1" i="0" u="none" strike="noStrike" cap="none" normalizeH="0" baseline="0" dirty="0">
                        <a:ln>
                          <a:noFill/>
                        </a:ln>
                        <a:solidFill>
                          <a:srgbClr val="002060"/>
                        </a:solidFill>
                        <a:effectLst/>
                        <a:latin typeface="+mn-ea"/>
                        <a:ea typeface="+mn-ea"/>
                        <a:cs typeface="Times New Roman" panose="02020603050405020304" pitchFamily="18" charset="0"/>
                      </a:endParaRPr>
                    </a:p>
                  </a:txBody>
                  <a:tcPr marL="35073" marR="35073" marT="17536" marB="17536" anchor="ctr" horzOverflow="overflow"/>
                </a:tc>
                <a:tc gridSpan="3">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latin typeface="+mn-ea"/>
                          <a:ea typeface="+mn-ea"/>
                        </a:rPr>
                        <a:t>積極負責、有創造力、謙虛有禮、執行貫徹</a:t>
                      </a:r>
                      <a:endParaRPr kumimoji="0" lang="zh-TW" altLang="en-US" sz="1900" b="0" i="0" u="none" strike="noStrike" cap="none" normalizeH="0" baseline="0" dirty="0">
                        <a:ln>
                          <a:noFill/>
                        </a:ln>
                        <a:solidFill>
                          <a:schemeClr val="tx1"/>
                        </a:solidFill>
                        <a:effectLst/>
                        <a:latin typeface="+mn-ea"/>
                        <a:ea typeface="+mn-ea"/>
                        <a:cs typeface="Times New Roman" panose="02020603050405020304" pitchFamily="18" charset="0"/>
                      </a:endParaRPr>
                    </a:p>
                  </a:txBody>
                  <a:tcPr marL="35073" marR="35073" marT="17536" marB="17536" anchor="ctr" horzOverflow="overflow"/>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xmlns="" val="10006"/>
                  </a:ext>
                </a:extLst>
              </a:tr>
            </a:tbl>
          </a:graphicData>
        </a:graphic>
      </p:graphicFrame>
      <p:pic>
        <p:nvPicPr>
          <p:cNvPr id="180226" name="Picture 2" descr="\\A-s6jw4x7y9lv85\E\企劃\齊家物業\齊家照片\主任及秘書\02.jpg"/>
          <p:cNvPicPr>
            <a:picLocks noChangeAspect="1" noChangeArrowheads="1"/>
          </p:cNvPicPr>
          <p:nvPr/>
        </p:nvPicPr>
        <p:blipFill>
          <a:blip r:embed="rId2" cstate="print"/>
          <a:srcRect/>
          <a:stretch>
            <a:fillRect/>
          </a:stretch>
        </p:blipFill>
        <p:spPr bwMode="auto">
          <a:xfrm>
            <a:off x="683568" y="3812410"/>
            <a:ext cx="1491490" cy="2136870"/>
          </a:xfrm>
          <a:prstGeom prst="rect">
            <a:avLst/>
          </a:prstGeom>
          <a:ln>
            <a:noFill/>
          </a:ln>
          <a:effectLst>
            <a:softEdge rad="112500"/>
          </a:effectLst>
        </p:spPr>
      </p:pic>
      <p:pic>
        <p:nvPicPr>
          <p:cNvPr id="7" name="圖片 6" descr="齊家精緻物業logo.tif"/>
          <p:cNvPicPr>
            <a:picLocks noChangeAspect="1"/>
          </p:cNvPicPr>
          <p:nvPr/>
        </p:nvPicPr>
        <p:blipFill>
          <a:blip r:embed="rId3" cstate="print"/>
          <a:stretch>
            <a:fillRect/>
          </a:stretch>
        </p:blipFill>
        <p:spPr>
          <a:xfrm>
            <a:off x="3549905" y="6093296"/>
            <a:ext cx="2030207" cy="576064"/>
          </a:xfrm>
          <a:prstGeom prst="rect">
            <a:avLst/>
          </a:prstGeom>
        </p:spPr>
      </p:pic>
      <p:sp>
        <p:nvSpPr>
          <p:cNvPr id="9" name="矩形 8"/>
          <p:cNvSpPr/>
          <p:nvPr/>
        </p:nvSpPr>
        <p:spPr>
          <a:xfrm>
            <a:off x="1187624" y="260648"/>
            <a:ext cx="615553" cy="3600400"/>
          </a:xfrm>
          <a:prstGeom prst="rect">
            <a:avLst/>
          </a:prstGeom>
        </p:spPr>
        <p:txBody>
          <a:bodyPr vert="eaVert" wrap="square">
            <a:spAutoFit/>
          </a:bodyPr>
          <a:lstStyle/>
          <a:p>
            <a:pPr algn="ctr">
              <a:buNone/>
            </a:pPr>
            <a:r>
              <a:rPr lang="zh-TW" altLang="en-US" sz="2800" b="1" dirty="0">
                <a:solidFill>
                  <a:srgbClr val="002060"/>
                </a:solidFill>
                <a:latin typeface="微軟正黑體" pitchFamily="34" charset="-120"/>
                <a:ea typeface="微軟正黑體" pitchFamily="34" charset="-120"/>
              </a:rPr>
              <a:t>社區經理  任職條件</a:t>
            </a:r>
          </a:p>
        </p:txBody>
      </p:sp>
    </p:spTree>
  </p:cSld>
  <p:clrMapOvr>
    <a:masterClrMapping/>
  </p:clrMapOvr>
  <p:transition spd="med" advTm="3000">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9130" name="Group 58"/>
          <p:cNvGraphicFramePr>
            <a:graphicFrameLocks noGrp="1"/>
          </p:cNvGraphicFramePr>
          <p:nvPr>
            <p:extLst>
              <p:ext uri="{D42A27DB-BD31-4B8C-83A1-F6EECF244321}">
                <p14:modId xmlns="" xmlns:p14="http://schemas.microsoft.com/office/powerpoint/2010/main" val="2306523302"/>
              </p:ext>
            </p:extLst>
          </p:nvPr>
        </p:nvGraphicFramePr>
        <p:xfrm>
          <a:off x="2339752" y="404664"/>
          <a:ext cx="6048672" cy="5544615"/>
        </p:xfrm>
        <a:graphic>
          <a:graphicData uri="http://schemas.openxmlformats.org/drawingml/2006/table">
            <a:tbl>
              <a:tblPr>
                <a:tableStyleId>{284E427A-3D55-4303-BF80-6455036E1DE7}</a:tableStyleId>
              </a:tblPr>
              <a:tblGrid>
                <a:gridCol w="1088845">
                  <a:extLst>
                    <a:ext uri="{9D8B030D-6E8A-4147-A177-3AD203B41FA5}">
                      <a16:colId xmlns:a16="http://schemas.microsoft.com/office/drawing/2014/main" xmlns="" val="20000"/>
                    </a:ext>
                  </a:extLst>
                </a:gridCol>
                <a:gridCol w="1088845">
                  <a:extLst>
                    <a:ext uri="{9D8B030D-6E8A-4147-A177-3AD203B41FA5}">
                      <a16:colId xmlns:a16="http://schemas.microsoft.com/office/drawing/2014/main" xmlns="" val="20001"/>
                    </a:ext>
                  </a:extLst>
                </a:gridCol>
                <a:gridCol w="1403118">
                  <a:extLst>
                    <a:ext uri="{9D8B030D-6E8A-4147-A177-3AD203B41FA5}">
                      <a16:colId xmlns:a16="http://schemas.microsoft.com/office/drawing/2014/main" xmlns="" val="20002"/>
                    </a:ext>
                  </a:extLst>
                </a:gridCol>
                <a:gridCol w="2467864">
                  <a:extLst>
                    <a:ext uri="{9D8B030D-6E8A-4147-A177-3AD203B41FA5}">
                      <a16:colId xmlns:a16="http://schemas.microsoft.com/office/drawing/2014/main" xmlns="" val="20003"/>
                    </a:ext>
                  </a:extLst>
                </a:gridCol>
              </a:tblGrid>
              <a:tr h="50965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職  稱</a:t>
                      </a:r>
                      <a:endParaRPr kumimoji="0" lang="zh-TW" altLang="en-US" sz="1900" b="1" i="0" u="none" strike="noStrike" cap="none" normalizeH="0" baseline="0" dirty="0">
                        <a:ln>
                          <a:noFill/>
                        </a:ln>
                        <a:solidFill>
                          <a:srgbClr val="002060"/>
                        </a:solidFill>
                        <a:effectLst/>
                        <a:latin typeface="+mn-ea"/>
                        <a:ea typeface="+mn-ea"/>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smtClean="0">
                          <a:ln>
                            <a:noFill/>
                          </a:ln>
                          <a:effectLst/>
                          <a:latin typeface="+mn-ea"/>
                          <a:ea typeface="+mn-ea"/>
                        </a:rPr>
                        <a:t>社區副理</a:t>
                      </a:r>
                      <a:endParaRPr kumimoji="0" lang="en-US" altLang="zh-TW" sz="1900" b="0" i="0" u="none" strike="noStrike" cap="none" normalizeH="0" baseline="0" dirty="0">
                        <a:ln>
                          <a:noFill/>
                        </a:ln>
                        <a:solidFill>
                          <a:schemeClr val="tx1"/>
                        </a:solidFill>
                        <a:effectLst/>
                        <a:latin typeface="+mn-ea"/>
                        <a:ea typeface="+mn-ea"/>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體位要求</a:t>
                      </a:r>
                      <a:endParaRPr kumimoji="0" lang="zh-TW" altLang="en-US" sz="1900" b="1" i="0" u="none" strike="noStrike" cap="none" normalizeH="0" baseline="0" dirty="0">
                        <a:ln>
                          <a:noFill/>
                        </a:ln>
                        <a:solidFill>
                          <a:srgbClr val="002060"/>
                        </a:solidFill>
                        <a:effectLst/>
                        <a:latin typeface="+mn-ea"/>
                        <a:ea typeface="+mn-ea"/>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latin typeface="+mn-ea"/>
                          <a:ea typeface="+mn-ea"/>
                        </a:rPr>
                        <a:t>健康正常</a:t>
                      </a:r>
                      <a:endParaRPr kumimoji="0" lang="zh-TW" altLang="en-US" sz="1900" b="0" i="0" u="none" strike="noStrike" cap="none" normalizeH="0" baseline="0" dirty="0">
                        <a:ln>
                          <a:noFill/>
                        </a:ln>
                        <a:solidFill>
                          <a:schemeClr val="tx1"/>
                        </a:solidFill>
                        <a:effectLst/>
                        <a:latin typeface="+mn-ea"/>
                        <a:ea typeface="+mn-ea"/>
                        <a:cs typeface="Arial" panose="020B0604020202020204" pitchFamily="34" charset="0"/>
                      </a:endParaRPr>
                    </a:p>
                  </a:txBody>
                  <a:tcPr marL="35073" marR="35073" marT="17536" marB="17536" anchor="ctr" horzOverflow="overflow"/>
                </a:tc>
                <a:extLst>
                  <a:ext uri="{0D108BD9-81ED-4DB2-BD59-A6C34878D82A}">
                    <a16:rowId xmlns:a16="http://schemas.microsoft.com/office/drawing/2014/main" xmlns="" val="10000"/>
                  </a:ext>
                </a:extLst>
              </a:tr>
              <a:tr h="50965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人  力</a:t>
                      </a:r>
                      <a:endParaRPr kumimoji="0" lang="zh-TW" altLang="en-US" sz="1900" b="1" i="0" u="none" strike="noStrike" cap="none" normalizeH="0" baseline="0" dirty="0">
                        <a:ln>
                          <a:noFill/>
                        </a:ln>
                        <a:solidFill>
                          <a:srgbClr val="002060"/>
                        </a:solidFill>
                        <a:effectLst/>
                        <a:latin typeface="+mn-ea"/>
                        <a:ea typeface="+mn-ea"/>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smtClean="0">
                          <a:ln>
                            <a:noFill/>
                          </a:ln>
                          <a:effectLst/>
                          <a:latin typeface="+mn-ea"/>
                          <a:ea typeface="+mn-ea"/>
                        </a:rPr>
                        <a:t>2</a:t>
                      </a:r>
                      <a:endParaRPr kumimoji="0" lang="zh-TW" altLang="en-US" sz="1900" b="0" i="0" u="none" strike="noStrike" cap="none" normalizeH="0" baseline="0" dirty="0">
                        <a:ln>
                          <a:noFill/>
                        </a:ln>
                        <a:solidFill>
                          <a:schemeClr val="tx1"/>
                        </a:solidFill>
                        <a:effectLst/>
                        <a:latin typeface="+mn-ea"/>
                        <a:ea typeface="+mn-ea"/>
                        <a:cs typeface="Arial" panose="020B0604020202020204" pitchFamily="34"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工作時間</a:t>
                      </a:r>
                      <a:endParaRPr kumimoji="0" lang="zh-TW" altLang="en-US" sz="1900" b="1" i="0" u="none" strike="noStrike" cap="none" normalizeH="0" baseline="0" dirty="0">
                        <a:ln>
                          <a:noFill/>
                        </a:ln>
                        <a:solidFill>
                          <a:srgbClr val="002060"/>
                        </a:solidFill>
                        <a:effectLst/>
                        <a:latin typeface="+mn-ea"/>
                        <a:ea typeface="+mn-ea"/>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latin typeface="+mn-ea"/>
                          <a:ea typeface="+mn-ea"/>
                        </a:rPr>
                        <a:t>8H</a:t>
                      </a:r>
                      <a:endParaRPr kumimoji="0" lang="en-US" altLang="zh-TW" sz="1900" b="0" i="0" u="none" strike="noStrike" cap="none" normalizeH="0" baseline="0" dirty="0">
                        <a:ln>
                          <a:noFill/>
                        </a:ln>
                        <a:solidFill>
                          <a:schemeClr val="tx1"/>
                        </a:solidFill>
                        <a:effectLst/>
                        <a:latin typeface="+mn-ea"/>
                        <a:ea typeface="+mn-ea"/>
                        <a:cs typeface="Arial" panose="020B0604020202020204" pitchFamily="34" charset="0"/>
                      </a:endParaRPr>
                    </a:p>
                  </a:txBody>
                  <a:tcPr marL="35073" marR="35073" marT="17536" marB="17536" anchor="ctr" horzOverflow="overflow"/>
                </a:tc>
                <a:extLst>
                  <a:ext uri="{0D108BD9-81ED-4DB2-BD59-A6C34878D82A}">
                    <a16:rowId xmlns:a16="http://schemas.microsoft.com/office/drawing/2014/main" xmlns="" val="10001"/>
                  </a:ext>
                </a:extLst>
              </a:tr>
              <a:tr h="50965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年   齡</a:t>
                      </a:r>
                      <a:endParaRPr kumimoji="0" lang="zh-TW" altLang="en-US" sz="1900" b="1" i="0" u="none" strike="noStrike" cap="none" normalizeH="0" baseline="0" dirty="0">
                        <a:ln>
                          <a:noFill/>
                        </a:ln>
                        <a:solidFill>
                          <a:srgbClr val="002060"/>
                        </a:solidFill>
                        <a:effectLst/>
                        <a:latin typeface="+mn-ea"/>
                        <a:ea typeface="+mn-ea"/>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solidFill>
                            <a:srgbClr val="FF0000"/>
                          </a:solidFill>
                          <a:effectLst/>
                          <a:latin typeface="+mn-ea"/>
                          <a:ea typeface="+mn-ea"/>
                        </a:rPr>
                        <a:t>55</a:t>
                      </a:r>
                      <a:r>
                        <a:rPr kumimoji="0" lang="zh-TW" altLang="en-US" sz="1900" u="none" strike="noStrike" cap="none" normalizeH="0" baseline="0" dirty="0">
                          <a:ln>
                            <a:noFill/>
                          </a:ln>
                          <a:solidFill>
                            <a:srgbClr val="FF0000"/>
                          </a:solidFill>
                          <a:effectLst/>
                          <a:latin typeface="+mn-ea"/>
                          <a:ea typeface="+mn-ea"/>
                        </a:rPr>
                        <a:t>歲以下</a:t>
                      </a:r>
                      <a:endParaRPr kumimoji="0" lang="zh-TW" altLang="en-US" sz="1900" b="0" i="0" u="none" strike="noStrike" cap="none" normalizeH="0" baseline="0" dirty="0">
                        <a:ln>
                          <a:noFill/>
                        </a:ln>
                        <a:solidFill>
                          <a:srgbClr val="FF0000"/>
                        </a:solidFill>
                        <a:effectLst/>
                        <a:latin typeface="+mn-ea"/>
                        <a:ea typeface="+mn-ea"/>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休        假</a:t>
                      </a:r>
                      <a:endParaRPr kumimoji="0" lang="zh-TW" altLang="en-US" sz="1900" b="1" i="0" u="none" strike="noStrike" cap="none" normalizeH="0" baseline="0" dirty="0">
                        <a:ln>
                          <a:noFill/>
                        </a:ln>
                        <a:solidFill>
                          <a:srgbClr val="002060"/>
                        </a:solidFill>
                        <a:effectLst/>
                        <a:latin typeface="+mn-ea"/>
                        <a:ea typeface="+mn-ea"/>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latin typeface="+mn-ea"/>
                          <a:ea typeface="+mn-ea"/>
                        </a:rPr>
                        <a:t>週休二日</a:t>
                      </a:r>
                      <a:endParaRPr kumimoji="0" lang="zh-TW" altLang="en-US" sz="1900" b="0" i="0" u="none" strike="noStrike" cap="none" normalizeH="0" baseline="0" dirty="0">
                        <a:ln>
                          <a:noFill/>
                        </a:ln>
                        <a:solidFill>
                          <a:schemeClr val="tx1"/>
                        </a:solidFill>
                        <a:effectLst/>
                        <a:latin typeface="+mn-ea"/>
                        <a:ea typeface="+mn-ea"/>
                      </a:endParaRPr>
                    </a:p>
                  </a:txBody>
                  <a:tcPr marL="35073" marR="35073" marT="17536" marB="17536" anchor="ctr" horzOverflow="overflow"/>
                </a:tc>
                <a:extLst>
                  <a:ext uri="{0D108BD9-81ED-4DB2-BD59-A6C34878D82A}">
                    <a16:rowId xmlns:a16="http://schemas.microsoft.com/office/drawing/2014/main" xmlns="" val="10002"/>
                  </a:ext>
                </a:extLst>
              </a:tr>
              <a:tr h="50965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性  別</a:t>
                      </a:r>
                      <a:endParaRPr kumimoji="0" lang="zh-TW" altLang="en-US" sz="1900" b="1" i="0" u="none" strike="noStrike" cap="none" normalizeH="0" baseline="0" dirty="0">
                        <a:ln>
                          <a:noFill/>
                        </a:ln>
                        <a:solidFill>
                          <a:srgbClr val="002060"/>
                        </a:solidFill>
                        <a:effectLst/>
                        <a:latin typeface="+mn-ea"/>
                        <a:ea typeface="+mn-ea"/>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latin typeface="+mn-ea"/>
                          <a:ea typeface="+mn-ea"/>
                        </a:rPr>
                        <a:t>不拘</a:t>
                      </a:r>
                      <a:endParaRPr kumimoji="0" lang="zh-TW" altLang="en-US" sz="1900" b="0" i="0" u="none" strike="noStrike" cap="none" normalizeH="0" baseline="0" dirty="0">
                        <a:ln>
                          <a:noFill/>
                        </a:ln>
                        <a:solidFill>
                          <a:schemeClr val="tx1"/>
                        </a:solidFill>
                        <a:effectLst/>
                        <a:latin typeface="+mn-ea"/>
                        <a:ea typeface="+mn-ea"/>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教育程度</a:t>
                      </a:r>
                      <a:endParaRPr kumimoji="0" lang="zh-TW" altLang="en-US" sz="1900" b="1" i="0" u="none" strike="noStrike" cap="none" normalizeH="0" baseline="0" dirty="0">
                        <a:ln>
                          <a:noFill/>
                        </a:ln>
                        <a:solidFill>
                          <a:srgbClr val="002060"/>
                        </a:solidFill>
                        <a:effectLst/>
                        <a:latin typeface="+mn-ea"/>
                        <a:ea typeface="+mn-ea"/>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FF0000"/>
                          </a:solidFill>
                          <a:effectLst/>
                          <a:latin typeface="+mn-ea"/>
                          <a:ea typeface="+mn-ea"/>
                        </a:rPr>
                        <a:t>大專以上</a:t>
                      </a:r>
                      <a:endParaRPr kumimoji="0" lang="zh-TW" altLang="en-US" sz="1900" b="0" i="0" u="none" strike="noStrike" cap="none" normalizeH="0" baseline="0" dirty="0">
                        <a:ln>
                          <a:noFill/>
                        </a:ln>
                        <a:solidFill>
                          <a:srgbClr val="FF0000"/>
                        </a:solidFill>
                        <a:effectLst/>
                        <a:latin typeface="+mn-ea"/>
                        <a:ea typeface="+mn-ea"/>
                        <a:cs typeface="Times New Roman" panose="02020603050405020304" pitchFamily="18" charset="0"/>
                      </a:endParaRPr>
                    </a:p>
                  </a:txBody>
                  <a:tcPr marL="35073" marR="35073" marT="17536" marB="17536" anchor="ctr" horzOverflow="overflow"/>
                </a:tc>
                <a:extLst>
                  <a:ext uri="{0D108BD9-81ED-4DB2-BD59-A6C34878D82A}">
                    <a16:rowId xmlns:a16="http://schemas.microsoft.com/office/drawing/2014/main" xmlns="" val="10003"/>
                  </a:ext>
                </a:extLst>
              </a:tr>
              <a:tr h="962524">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經  驗</a:t>
                      </a:r>
                      <a:endParaRPr kumimoji="0" lang="zh-TW" altLang="en-US" sz="1900" b="1" i="0" u="none" strike="noStrike" cap="none" normalizeH="0" baseline="0" dirty="0">
                        <a:ln>
                          <a:noFill/>
                        </a:ln>
                        <a:solidFill>
                          <a:srgbClr val="002060"/>
                        </a:solidFill>
                        <a:effectLst/>
                        <a:latin typeface="+mn-ea"/>
                        <a:ea typeface="+mn-ea"/>
                      </a:endParaRPr>
                    </a:p>
                  </a:txBody>
                  <a:tcPr marL="35073" marR="35073" marT="17536" marB="17536" anchor="ctr" horzOverflow="overflow"/>
                </a:tc>
                <a:tc gridSpan="3">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solidFill>
                            <a:srgbClr val="FF0000"/>
                          </a:solidFill>
                          <a:effectLst/>
                          <a:latin typeface="+mn-ea"/>
                          <a:ea typeface="+mn-ea"/>
                        </a:rPr>
                        <a:t>1.</a:t>
                      </a:r>
                      <a:r>
                        <a:rPr kumimoji="0" lang="zh-TW" altLang="en-US" sz="1900" u="none" strike="noStrike" cap="none" normalizeH="0" baseline="0" dirty="0">
                          <a:ln>
                            <a:noFill/>
                          </a:ln>
                          <a:solidFill>
                            <a:srgbClr val="FF0000"/>
                          </a:solidFill>
                          <a:effectLst/>
                          <a:latin typeface="+mn-ea"/>
                          <a:ea typeface="+mn-ea"/>
                        </a:rPr>
                        <a:t>公寓大廈管理服務人員證照</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solidFill>
                            <a:srgbClr val="FF0000"/>
                          </a:solidFill>
                          <a:effectLst/>
                          <a:latin typeface="+mn-ea"/>
                          <a:ea typeface="+mn-ea"/>
                        </a:rPr>
                        <a:t>2.</a:t>
                      </a:r>
                      <a:r>
                        <a:rPr kumimoji="0" lang="zh-TW" altLang="en-US" sz="1900" u="none" strike="noStrike" cap="none" normalizeH="0" baseline="0" dirty="0">
                          <a:ln>
                            <a:noFill/>
                          </a:ln>
                          <a:solidFill>
                            <a:srgbClr val="FF0000"/>
                          </a:solidFill>
                          <a:effectLst/>
                          <a:latin typeface="+mn-ea"/>
                          <a:ea typeface="+mn-ea"/>
                        </a:rPr>
                        <a:t>防火管理人員證照</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solidFill>
                            <a:srgbClr val="FF0000"/>
                          </a:solidFill>
                          <a:effectLst/>
                          <a:latin typeface="+mn-ea"/>
                          <a:ea typeface="+mn-ea"/>
                        </a:rPr>
                        <a:t>3.</a:t>
                      </a:r>
                      <a:r>
                        <a:rPr kumimoji="0" lang="zh-TW" altLang="en-US" sz="1900" u="none" strike="noStrike" cap="none" normalizeH="0" baseline="0" dirty="0">
                          <a:ln>
                            <a:noFill/>
                          </a:ln>
                          <a:solidFill>
                            <a:srgbClr val="FF0000"/>
                          </a:solidFill>
                          <a:effectLst/>
                          <a:latin typeface="+mn-ea"/>
                          <a:ea typeface="+mn-ea"/>
                        </a:rPr>
                        <a:t>豪宅社區管理經驗。</a:t>
                      </a:r>
                      <a:endParaRPr kumimoji="0" lang="zh-TW" altLang="en-US" sz="1900" b="0" i="0" u="none" strike="noStrike" cap="none" normalizeH="0" baseline="0" dirty="0">
                        <a:ln>
                          <a:noFill/>
                        </a:ln>
                        <a:solidFill>
                          <a:srgbClr val="FF0000"/>
                        </a:solidFill>
                        <a:effectLst/>
                        <a:latin typeface="+mn-ea"/>
                        <a:ea typeface="+mn-ea"/>
                        <a:cs typeface="Times New Roman" panose="02020603050405020304" pitchFamily="18" charset="0"/>
                      </a:endParaRPr>
                    </a:p>
                  </a:txBody>
                  <a:tcPr marL="35073" marR="35073" marT="17536" marB="17536" anchor="ctr" horzOverflow="overflow"/>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xmlns="" val="10004"/>
                  </a:ext>
                </a:extLst>
              </a:tr>
              <a:tr h="195984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職  責</a:t>
                      </a:r>
                      <a:endParaRPr kumimoji="0" lang="zh-TW" altLang="en-US" sz="1900" b="1" i="0" u="none" strike="noStrike" cap="none" normalizeH="0" baseline="0" dirty="0">
                        <a:ln>
                          <a:noFill/>
                        </a:ln>
                        <a:solidFill>
                          <a:srgbClr val="002060"/>
                        </a:solidFill>
                        <a:effectLst/>
                        <a:latin typeface="+mn-ea"/>
                        <a:ea typeface="+mn-ea"/>
                      </a:endParaRPr>
                    </a:p>
                  </a:txBody>
                  <a:tcPr marL="35073" marR="35073" marT="17536" marB="17536" anchor="ctr" horzOverflow="overflow"/>
                </a:tc>
                <a:tc gridSpan="3">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latin typeface="+mn-ea"/>
                          <a:ea typeface="+mn-ea"/>
                        </a:rPr>
                        <a:t>1.</a:t>
                      </a:r>
                      <a:r>
                        <a:rPr kumimoji="0" lang="zh-TW" altLang="en-US" sz="1900" u="none" strike="noStrike" cap="none" normalizeH="0" baseline="0" dirty="0">
                          <a:ln>
                            <a:noFill/>
                          </a:ln>
                          <a:effectLst/>
                          <a:latin typeface="+mn-ea"/>
                          <a:ea typeface="+mn-ea"/>
                        </a:rPr>
                        <a:t>社區服務管理事宜執行。</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latin typeface="+mn-ea"/>
                          <a:ea typeface="+mn-ea"/>
                        </a:rPr>
                        <a:t>2.</a:t>
                      </a:r>
                      <a:r>
                        <a:rPr kumimoji="0" lang="zh-TW" altLang="en-US" sz="1900" u="none" strike="noStrike" cap="none" normalizeH="0" baseline="0" dirty="0">
                          <a:ln>
                            <a:noFill/>
                          </a:ln>
                          <a:effectLst/>
                          <a:latin typeface="+mn-ea"/>
                          <a:ea typeface="+mn-ea"/>
                        </a:rPr>
                        <a:t>管理委員會業務之執行。</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latin typeface="+mn-ea"/>
                          <a:ea typeface="+mn-ea"/>
                        </a:rPr>
                        <a:t>3.</a:t>
                      </a:r>
                      <a:r>
                        <a:rPr kumimoji="0" lang="zh-TW" altLang="en-US" sz="1900" u="none" strike="noStrike" cap="none" normalizeH="0" baseline="0" dirty="0">
                          <a:ln>
                            <a:noFill/>
                          </a:ln>
                          <a:effectLst/>
                          <a:latin typeface="+mn-ea"/>
                          <a:ea typeface="+mn-ea"/>
                        </a:rPr>
                        <a:t>住戶交辦委託事項執行。</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latin typeface="+mn-ea"/>
                          <a:ea typeface="+mn-ea"/>
                        </a:rPr>
                        <a:t>4.</a:t>
                      </a:r>
                      <a:r>
                        <a:rPr kumimoji="0" lang="zh-TW" altLang="en-US" sz="1900" u="none" strike="noStrike" cap="none" normalizeH="0" baseline="0" dirty="0">
                          <a:ln>
                            <a:noFill/>
                          </a:ln>
                          <a:effectLst/>
                          <a:latin typeface="+mn-ea"/>
                          <a:ea typeface="+mn-ea"/>
                        </a:rPr>
                        <a:t>社區安全維護督導管理。</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latin typeface="+mn-ea"/>
                          <a:ea typeface="+mn-ea"/>
                        </a:rPr>
                        <a:t>5.</a:t>
                      </a:r>
                      <a:r>
                        <a:rPr kumimoji="0" lang="zh-TW" altLang="en-US" sz="1900" u="none" strike="noStrike" cap="none" normalizeH="0" baseline="0" dirty="0">
                          <a:ln>
                            <a:noFill/>
                          </a:ln>
                          <a:effectLst/>
                          <a:latin typeface="+mn-ea"/>
                          <a:ea typeface="+mn-ea"/>
                        </a:rPr>
                        <a:t>各項機電設備維護檢查。</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latin typeface="+mn-ea"/>
                          <a:ea typeface="+mn-ea"/>
                        </a:rPr>
                        <a:t>6.</a:t>
                      </a:r>
                      <a:r>
                        <a:rPr kumimoji="0" lang="zh-TW" altLang="en-US" sz="1900" u="none" strike="noStrike" cap="none" normalizeH="0" baseline="0" dirty="0">
                          <a:ln>
                            <a:noFill/>
                          </a:ln>
                          <a:effectLst/>
                          <a:latin typeface="+mn-ea"/>
                          <a:ea typeface="+mn-ea"/>
                        </a:rPr>
                        <a:t>督導服務人員執勤狀況。</a:t>
                      </a:r>
                      <a:endParaRPr kumimoji="0" lang="zh-TW" altLang="en-US" sz="1900" b="0" i="0" u="none" strike="noStrike" cap="none" normalizeH="0" baseline="0" dirty="0">
                        <a:ln>
                          <a:noFill/>
                        </a:ln>
                        <a:solidFill>
                          <a:schemeClr val="tx1"/>
                        </a:solidFill>
                        <a:effectLst/>
                        <a:latin typeface="+mn-ea"/>
                        <a:ea typeface="+mn-ea"/>
                        <a:cs typeface="Times New Roman" panose="02020603050405020304" pitchFamily="18" charset="0"/>
                      </a:endParaRPr>
                    </a:p>
                  </a:txBody>
                  <a:tcPr marL="35073" marR="35073" marT="17536" marB="17536" anchor="ctr" horzOverflow="overflow"/>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xmlns="" val="10005"/>
                  </a:ext>
                </a:extLst>
              </a:tr>
              <a:tr h="583614">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latin typeface="+mn-ea"/>
                          <a:ea typeface="+mn-ea"/>
                        </a:rPr>
                        <a:t>工作要求</a:t>
                      </a:r>
                      <a:endParaRPr kumimoji="0" lang="zh-TW" altLang="en-US" sz="1900" b="1" i="0" u="none" strike="noStrike" cap="none" normalizeH="0" baseline="0" dirty="0">
                        <a:ln>
                          <a:noFill/>
                        </a:ln>
                        <a:solidFill>
                          <a:srgbClr val="002060"/>
                        </a:solidFill>
                        <a:effectLst/>
                        <a:latin typeface="+mn-ea"/>
                        <a:ea typeface="+mn-ea"/>
                        <a:cs typeface="Times New Roman" panose="02020603050405020304" pitchFamily="18" charset="0"/>
                      </a:endParaRPr>
                    </a:p>
                  </a:txBody>
                  <a:tcPr marL="35073" marR="35073" marT="17536" marB="17536" anchor="ctr" horzOverflow="overflow"/>
                </a:tc>
                <a:tc gridSpan="3">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latin typeface="+mn-ea"/>
                          <a:ea typeface="+mn-ea"/>
                        </a:rPr>
                        <a:t>積極負責、有創造力、謙虛有禮、執行貫徹</a:t>
                      </a:r>
                      <a:endParaRPr kumimoji="0" lang="zh-TW" altLang="en-US" sz="1900" b="0" i="0" u="none" strike="noStrike" cap="none" normalizeH="0" baseline="0" dirty="0">
                        <a:ln>
                          <a:noFill/>
                        </a:ln>
                        <a:solidFill>
                          <a:schemeClr val="tx1"/>
                        </a:solidFill>
                        <a:effectLst/>
                        <a:latin typeface="+mn-ea"/>
                        <a:ea typeface="+mn-ea"/>
                        <a:cs typeface="Times New Roman" panose="02020603050405020304" pitchFamily="18" charset="0"/>
                      </a:endParaRPr>
                    </a:p>
                  </a:txBody>
                  <a:tcPr marL="35073" marR="35073" marT="17536" marB="17536" anchor="ctr" horzOverflow="overflow"/>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xmlns="" val="10006"/>
                  </a:ext>
                </a:extLst>
              </a:tr>
            </a:tbl>
          </a:graphicData>
        </a:graphic>
      </p:graphicFrame>
      <p:pic>
        <p:nvPicPr>
          <p:cNvPr id="180226" name="Picture 2" descr="\\A-s6jw4x7y9lv85\E\企劃\齊家物業\齊家照片\主任及秘書\02.jpg"/>
          <p:cNvPicPr>
            <a:picLocks noChangeAspect="1" noChangeArrowheads="1"/>
          </p:cNvPicPr>
          <p:nvPr/>
        </p:nvPicPr>
        <p:blipFill>
          <a:blip r:embed="rId2" cstate="print"/>
          <a:srcRect/>
          <a:stretch>
            <a:fillRect/>
          </a:stretch>
        </p:blipFill>
        <p:spPr bwMode="auto">
          <a:xfrm>
            <a:off x="683568" y="3812410"/>
            <a:ext cx="1491490" cy="2136870"/>
          </a:xfrm>
          <a:prstGeom prst="rect">
            <a:avLst/>
          </a:prstGeom>
          <a:ln>
            <a:noFill/>
          </a:ln>
          <a:effectLst>
            <a:softEdge rad="112500"/>
          </a:effectLst>
        </p:spPr>
      </p:pic>
      <p:pic>
        <p:nvPicPr>
          <p:cNvPr id="7" name="圖片 6" descr="齊家精緻物業logo.tif"/>
          <p:cNvPicPr>
            <a:picLocks noChangeAspect="1"/>
          </p:cNvPicPr>
          <p:nvPr/>
        </p:nvPicPr>
        <p:blipFill>
          <a:blip r:embed="rId3" cstate="print"/>
          <a:stretch>
            <a:fillRect/>
          </a:stretch>
        </p:blipFill>
        <p:spPr>
          <a:xfrm>
            <a:off x="3549905" y="6093296"/>
            <a:ext cx="2030207" cy="576064"/>
          </a:xfrm>
          <a:prstGeom prst="rect">
            <a:avLst/>
          </a:prstGeom>
        </p:spPr>
      </p:pic>
      <p:sp>
        <p:nvSpPr>
          <p:cNvPr id="9" name="矩形 8"/>
          <p:cNvSpPr/>
          <p:nvPr/>
        </p:nvSpPr>
        <p:spPr>
          <a:xfrm>
            <a:off x="1187624" y="260648"/>
            <a:ext cx="615553" cy="3600400"/>
          </a:xfrm>
          <a:prstGeom prst="rect">
            <a:avLst/>
          </a:prstGeom>
        </p:spPr>
        <p:txBody>
          <a:bodyPr vert="eaVert" wrap="square">
            <a:spAutoFit/>
          </a:bodyPr>
          <a:lstStyle/>
          <a:p>
            <a:pPr algn="ctr">
              <a:buNone/>
            </a:pPr>
            <a:r>
              <a:rPr lang="zh-TW" altLang="en-US" sz="2800" b="1" dirty="0" smtClean="0">
                <a:solidFill>
                  <a:srgbClr val="002060"/>
                </a:solidFill>
                <a:latin typeface="微軟正黑體" pitchFamily="34" charset="-120"/>
                <a:ea typeface="微軟正黑體" pitchFamily="34" charset="-120"/>
              </a:rPr>
              <a:t>社區副理  </a:t>
            </a:r>
            <a:r>
              <a:rPr lang="zh-TW" altLang="en-US" sz="2800" b="1" dirty="0">
                <a:solidFill>
                  <a:srgbClr val="002060"/>
                </a:solidFill>
                <a:latin typeface="微軟正黑體" pitchFamily="34" charset="-120"/>
                <a:ea typeface="微軟正黑體" pitchFamily="34" charset="-120"/>
              </a:rPr>
              <a:t>任職條件</a:t>
            </a:r>
          </a:p>
        </p:txBody>
      </p:sp>
    </p:spTree>
  </p:cSld>
  <p:clrMapOvr>
    <a:masterClrMapping/>
  </p:clrMapOvr>
  <p:transition spd="med" advTm="3000">
    <p:randomBar dir="vert"/>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 name="標題 1"/>
          <p:cNvSpPr txBox="1">
            <a:spLocks/>
          </p:cNvSpPr>
          <p:nvPr/>
        </p:nvSpPr>
        <p:spPr>
          <a:xfrm>
            <a:off x="2643174" y="214291"/>
            <a:ext cx="6143636" cy="1143000"/>
          </a:xfrm>
          <a:prstGeom prst="rect">
            <a:avLst/>
          </a:prstGeom>
        </p:spPr>
        <p:txBody>
          <a:bodyPr>
            <a:no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endParaRPr kumimoji="0" lang="zh-TW" altLang="en-US" sz="3200" b="0" i="0" u="none" strike="noStrike" kern="1200" cap="none" spc="0" normalizeH="0" baseline="0" noProof="0" dirty="0">
              <a:ln>
                <a:noFill/>
              </a:ln>
              <a:solidFill>
                <a:prstClr val="black"/>
              </a:solidFill>
              <a:effectLst>
                <a:glow rad="101600">
                  <a:prstClr val="black">
                    <a:alpha val="60000"/>
                  </a:prstClr>
                </a:glow>
                <a:outerShdw blurRad="50800" dist="38100" dir="2700000" algn="tl" rotWithShape="0">
                  <a:prstClr val="black">
                    <a:alpha val="40000"/>
                  </a:prstClr>
                </a:outerShdw>
              </a:effectLst>
              <a:uLnTx/>
              <a:uFillTx/>
              <a:latin typeface="Adobe 黑体 Std R" pitchFamily="34" charset="-128"/>
              <a:ea typeface="Adobe 黑体 Std R" pitchFamily="34" charset="-128"/>
              <a:cs typeface="+mn-cs"/>
            </a:endParaRPr>
          </a:p>
        </p:txBody>
      </p:sp>
      <p:sp>
        <p:nvSpPr>
          <p:cNvPr id="53" name="矩形 52"/>
          <p:cNvSpPr/>
          <p:nvPr/>
        </p:nvSpPr>
        <p:spPr>
          <a:xfrm>
            <a:off x="2699792" y="0"/>
            <a:ext cx="6215106"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400" b="0" i="0" u="none" strike="noStrike" kern="1200" cap="none" spc="0" normalizeH="0" baseline="0" noProof="0" dirty="0">
                <a:ln>
                  <a:noFill/>
                </a:ln>
                <a:solidFill>
                  <a:srgbClr val="464653">
                    <a:lumMod val="75000"/>
                  </a:srgbClr>
                </a:solidFill>
                <a:effectLst/>
                <a:uLnTx/>
                <a:uFillTx/>
                <a:latin typeface="Arial"/>
                <a:ea typeface="微軟正黑體" panose="020B0604030504040204" pitchFamily="34" charset="-120"/>
                <a:cs typeface="+mn-cs"/>
              </a:rPr>
              <a:t>您家園安全的第一關卡，我們已為您嚴格把關。</a:t>
            </a:r>
          </a:p>
        </p:txBody>
      </p:sp>
      <p:graphicFrame>
        <p:nvGraphicFramePr>
          <p:cNvPr id="11" name="資料庫圖表 10"/>
          <p:cNvGraphicFramePr/>
          <p:nvPr/>
        </p:nvGraphicFramePr>
        <p:xfrm>
          <a:off x="2699792" y="404664"/>
          <a:ext cx="6120680" cy="5648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矩形 13"/>
          <p:cNvSpPr/>
          <p:nvPr/>
        </p:nvSpPr>
        <p:spPr>
          <a:xfrm>
            <a:off x="2195736" y="6566610"/>
            <a:ext cx="5616624" cy="30777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400" b="0" i="0" u="none" strike="noStrike" kern="1200" cap="none" spc="0" normalizeH="0" baseline="0" noProof="0" dirty="0">
                <a:ln>
                  <a:noFill/>
                </a:ln>
                <a:solidFill>
                  <a:prstClr val="black">
                    <a:lumMod val="85000"/>
                    <a:lumOff val="15000"/>
                  </a:prstClr>
                </a:solidFill>
                <a:effectLst/>
                <a:uLnTx/>
                <a:uFillTx/>
                <a:latin typeface="微軟正黑體" pitchFamily="34" charset="-120"/>
                <a:ea typeface="微軟正黑體" pitchFamily="34" charset="-120"/>
                <a:cs typeface="+mn-cs"/>
              </a:rPr>
              <a:t>「居處恭、執事敬，與人忠、用意誠，至於四方不可棄也。」</a:t>
            </a:r>
            <a:r>
              <a:rPr kumimoji="0" lang="en-US" altLang="zh-TW" sz="1400" b="0" i="0" u="none" strike="noStrike" kern="1200" cap="none" spc="0" normalizeH="0" baseline="0" noProof="0" dirty="0">
                <a:ln>
                  <a:noFill/>
                </a:ln>
                <a:solidFill>
                  <a:prstClr val="black">
                    <a:lumMod val="85000"/>
                    <a:lumOff val="15000"/>
                  </a:prstClr>
                </a:solidFill>
                <a:effectLst/>
                <a:uLnTx/>
                <a:uFillTx/>
                <a:latin typeface="微軟正黑體" pitchFamily="34" charset="-120"/>
                <a:ea typeface="微軟正黑體" pitchFamily="34" charset="-120"/>
                <a:cs typeface="+mn-cs"/>
              </a:rPr>
              <a:t>- </a:t>
            </a:r>
            <a:r>
              <a:rPr kumimoji="0" lang="zh-TW" altLang="en-US" sz="1400" b="0" i="0" u="none" strike="noStrike" kern="1200" cap="none" spc="0" normalizeH="0" baseline="0" noProof="0" dirty="0">
                <a:ln>
                  <a:noFill/>
                </a:ln>
                <a:solidFill>
                  <a:prstClr val="black">
                    <a:lumMod val="85000"/>
                    <a:lumOff val="15000"/>
                  </a:prstClr>
                </a:solidFill>
                <a:effectLst/>
                <a:uLnTx/>
                <a:uFillTx/>
                <a:latin typeface="微軟正黑體" pitchFamily="34" charset="-120"/>
                <a:ea typeface="微軟正黑體" pitchFamily="34" charset="-120"/>
                <a:cs typeface="+mn-cs"/>
              </a:rPr>
              <a:t>論語</a:t>
            </a:r>
          </a:p>
        </p:txBody>
      </p:sp>
      <p:pic>
        <p:nvPicPr>
          <p:cNvPr id="15" name="圖片 14" descr="簡報封面-1-02.png"/>
          <p:cNvPicPr>
            <a:picLocks noChangeAspect="1"/>
          </p:cNvPicPr>
          <p:nvPr/>
        </p:nvPicPr>
        <p:blipFill>
          <a:blip r:embed="rId6" cstate="print"/>
          <a:stretch>
            <a:fillRect/>
          </a:stretch>
        </p:blipFill>
        <p:spPr>
          <a:xfrm>
            <a:off x="467545" y="6309320"/>
            <a:ext cx="1348484" cy="396000"/>
          </a:xfrm>
          <a:prstGeom prst="rect">
            <a:avLst/>
          </a:prstGeom>
        </p:spPr>
      </p:pic>
      <p:sp>
        <p:nvSpPr>
          <p:cNvPr id="3" name="文字方塊 2"/>
          <p:cNvSpPr txBox="1"/>
          <p:nvPr/>
        </p:nvSpPr>
        <p:spPr>
          <a:xfrm>
            <a:off x="2483768" y="176827"/>
            <a:ext cx="6192688" cy="6760825"/>
          </a:xfrm>
          <a:prstGeom prst="rect">
            <a:avLst/>
          </a:prstGeom>
          <a:noFill/>
        </p:spPr>
        <p:txBody>
          <a:bodyPr wrap="square" rtlCol="0">
            <a:spAutoFit/>
          </a:bodyP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zh-TW" altLang="en-US" sz="2000" b="1" i="0" u="none" strike="noStrike" kern="100" cap="none" spc="0" normalizeH="0" baseline="0" noProof="0" dirty="0" smtClean="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社區副理</a:t>
            </a:r>
            <a:r>
              <a:rPr kumimoji="0" lang="en-US" altLang="zh-TW" sz="2000" b="1" i="0" u="none" strike="noStrike" kern="100" cap="none" spc="0" normalizeH="0" baseline="0" noProof="0" dirty="0" smtClean="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   </a:t>
            </a: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工作職掌：</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有企劃管理及財務會計之能力。</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積極、主動提供業主（管委會）專業建議。</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業主交辦事項之規劃執行及考核。</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工作人員指揮、調度與管理。</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大樓各項突發狀況發生之處理。</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與住戶各項問題之溝通與協調。</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大樓內公共事務之規劃與執行。</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統籌大樓行政及財務事務。</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公告之發佈及檔案備份及管理。</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日常問題的協助及解答。</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公共設施維修、損壞、保養之提報。</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大樓管理業務之推行。</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擬定大樓各項年度計劃及預算之執行。</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負責招開定期管理委員會及區分所有權人會議。</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代表業主與政府機關之公共事務協調溝通。</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大樓各項防護計劃之擬定、編組與演練。</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現場派駐人員出勤狀況之查核。</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代表業主或管理中心對外行文之草擬。</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管理中心通報之草擬、人事總務工作之執行。</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大樓各項費用收繳之執行。</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社區失物招領。</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行政文書（如公告、文件表單之製作及檔案建立）。</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督導安全警衛、清潔人員。</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1" fontAlgn="auto" latinLnBrk="0" hangingPunct="1">
              <a:lnSpc>
                <a:spcPts val="2000"/>
              </a:lnSpc>
              <a:spcBef>
                <a:spcPts val="0"/>
              </a:spcBef>
              <a:spcAft>
                <a:spcPts val="0"/>
              </a:spcAft>
              <a:buClrTx/>
              <a:buSzTx/>
              <a:buFont typeface="+mj-lt"/>
              <a:buAutoNum type="arabicPeriod"/>
              <a:tabLst/>
              <a:defRPr/>
            </a:pPr>
            <a:r>
              <a:rPr kumimoji="0" lang="zh-TW" altLang="zh-TW" sz="1800" b="0" i="0" u="none" strike="noStrike" kern="100" cap="none" spc="0" normalizeH="0" baseline="0" noProof="0" dirty="0">
                <a:ln>
                  <a:noFill/>
                </a:ln>
                <a:solidFill>
                  <a:prstClr val="black"/>
                </a:solidFill>
                <a:effectLst/>
                <a:uLnTx/>
                <a:uFillTx/>
                <a:latin typeface="Calibri" panose="020F0502020204030204" pitchFamily="34" charset="0"/>
                <a:ea typeface="標楷體" panose="03000509000000000000" pitchFamily="65" charset="-120"/>
                <a:cs typeface="Times New Roman" panose="02020603050405020304" pitchFamily="18" charset="0"/>
              </a:rPr>
              <a:t>接受業主監督及一切協調聯繫工作之執行。</a:t>
            </a:r>
            <a:endParaRPr kumimoji="0" lang="zh-TW" altLang="zh-TW" sz="1600" b="0" i="0" u="none" strike="noStrike" kern="1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Times New Roman" panose="02020603050405020304" pitchFamily="18" charset="0"/>
            </a:endParaRPr>
          </a:p>
        </p:txBody>
      </p:sp>
      <p:pic>
        <p:nvPicPr>
          <p:cNvPr id="5" name="圖片 4"/>
          <p:cNvPicPr>
            <a:picLocks noChangeAspect="1"/>
          </p:cNvPicPr>
          <p:nvPr/>
        </p:nvPicPr>
        <p:blipFill>
          <a:blip r:embed="rId7"/>
          <a:stretch>
            <a:fillRect/>
          </a:stretch>
        </p:blipFill>
        <p:spPr>
          <a:xfrm>
            <a:off x="179512" y="260648"/>
            <a:ext cx="2005758" cy="2700762"/>
          </a:xfrm>
          <a:prstGeom prst="rect">
            <a:avLst/>
          </a:prstGeom>
        </p:spPr>
      </p:pic>
    </p:spTree>
    <p:extLst>
      <p:ext uri="{BB962C8B-B14F-4D97-AF65-F5344CB8AC3E}">
        <p14:creationId xmlns="" xmlns:p14="http://schemas.microsoft.com/office/powerpoint/2010/main" val="632838091"/>
      </p:ext>
    </p:extLst>
  </p:cSld>
  <p:clrMapOvr>
    <a:masterClrMapping/>
  </p:clrMapOvr>
  <p:transition advTm="300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9130" name="Group 58"/>
          <p:cNvGraphicFramePr>
            <a:graphicFrameLocks noGrp="1"/>
          </p:cNvGraphicFramePr>
          <p:nvPr>
            <p:extLst>
              <p:ext uri="{D42A27DB-BD31-4B8C-83A1-F6EECF244321}">
                <p14:modId xmlns="" xmlns:p14="http://schemas.microsoft.com/office/powerpoint/2010/main" val="1709622652"/>
              </p:ext>
            </p:extLst>
          </p:nvPr>
        </p:nvGraphicFramePr>
        <p:xfrm>
          <a:off x="2288544" y="476672"/>
          <a:ext cx="6099880" cy="5450443"/>
        </p:xfrm>
        <a:graphic>
          <a:graphicData uri="http://schemas.openxmlformats.org/drawingml/2006/table">
            <a:tbl>
              <a:tblPr>
                <a:tableStyleId>{69C7853C-536D-4A76-A0AE-DD22124D55A5}</a:tableStyleId>
              </a:tblPr>
              <a:tblGrid>
                <a:gridCol w="1100030">
                  <a:extLst>
                    <a:ext uri="{9D8B030D-6E8A-4147-A177-3AD203B41FA5}">
                      <a16:colId xmlns:a16="http://schemas.microsoft.com/office/drawing/2014/main" xmlns="" val="20000"/>
                    </a:ext>
                  </a:extLst>
                </a:gridCol>
                <a:gridCol w="1394000">
                  <a:extLst>
                    <a:ext uri="{9D8B030D-6E8A-4147-A177-3AD203B41FA5}">
                      <a16:colId xmlns:a16="http://schemas.microsoft.com/office/drawing/2014/main" xmlns="" val="20001"/>
                    </a:ext>
                  </a:extLst>
                </a:gridCol>
                <a:gridCol w="1123564">
                  <a:extLst>
                    <a:ext uri="{9D8B030D-6E8A-4147-A177-3AD203B41FA5}">
                      <a16:colId xmlns:a16="http://schemas.microsoft.com/office/drawing/2014/main" xmlns="" val="20002"/>
                    </a:ext>
                  </a:extLst>
                </a:gridCol>
                <a:gridCol w="2482286">
                  <a:extLst>
                    <a:ext uri="{9D8B030D-6E8A-4147-A177-3AD203B41FA5}">
                      <a16:colId xmlns:a16="http://schemas.microsoft.com/office/drawing/2014/main" xmlns="" val="20003"/>
                    </a:ext>
                  </a:extLst>
                </a:gridCol>
              </a:tblGrid>
              <a:tr h="48370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職  稱</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rPr>
                        <a:t>社區</a:t>
                      </a:r>
                      <a:r>
                        <a:rPr kumimoji="0" lang="zh-TW" altLang="en-US" sz="1900" u="none" strike="noStrike" cap="none" normalizeH="0" baseline="0" dirty="0" smtClean="0">
                          <a:ln>
                            <a:noFill/>
                          </a:ln>
                          <a:effectLst/>
                        </a:rPr>
                        <a:t>秘書長</a:t>
                      </a:r>
                      <a:endParaRPr kumimoji="0" lang="en-US" altLang="zh-TW" sz="19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體位要求</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rPr>
                        <a:t>健康正常</a:t>
                      </a:r>
                      <a:endParaRPr kumimoji="0" lang="zh-TW" altLang="en-US" sz="19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Arial" panose="020B0604020202020204" pitchFamily="34" charset="0"/>
                      </a:endParaRPr>
                    </a:p>
                  </a:txBody>
                  <a:tcPr marL="35073" marR="35073" marT="17536" marB="17536" anchor="ctr" horzOverflow="overflow"/>
                </a:tc>
                <a:extLst>
                  <a:ext uri="{0D108BD9-81ED-4DB2-BD59-A6C34878D82A}">
                    <a16:rowId xmlns:a16="http://schemas.microsoft.com/office/drawing/2014/main" xmlns="" val="10000"/>
                  </a:ext>
                </a:extLst>
              </a:tr>
              <a:tr h="48370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人  力</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rPr>
                        <a:t>1</a:t>
                      </a:r>
                      <a:r>
                        <a:rPr kumimoji="0" lang="zh-TW" altLang="en-US" sz="1900" u="none" strike="noStrike" cap="none" normalizeH="0" baseline="0" dirty="0">
                          <a:ln>
                            <a:noFill/>
                          </a:ln>
                          <a:effectLst/>
                        </a:rPr>
                        <a:t>人力 </a:t>
                      </a:r>
                      <a:endParaRPr kumimoji="0" lang="zh-TW" altLang="en-US" sz="19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Arial" panose="020B0604020202020204" pitchFamily="34"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工作時間</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rPr>
                        <a:t>8 H</a:t>
                      </a:r>
                      <a:endParaRPr kumimoji="0" lang="en-US" altLang="zh-TW" sz="19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Arial" panose="020B0604020202020204" pitchFamily="34" charset="0"/>
                      </a:endParaRPr>
                    </a:p>
                  </a:txBody>
                  <a:tcPr marL="35073" marR="35073" marT="17536" marB="17536" anchor="ctr" horzOverflow="overflow"/>
                </a:tc>
                <a:extLst>
                  <a:ext uri="{0D108BD9-81ED-4DB2-BD59-A6C34878D82A}">
                    <a16:rowId xmlns:a16="http://schemas.microsoft.com/office/drawing/2014/main" xmlns="" val="10001"/>
                  </a:ext>
                </a:extLst>
              </a:tr>
              <a:tr h="48370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年  齡</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smtClean="0">
                          <a:ln>
                            <a:noFill/>
                          </a:ln>
                          <a:solidFill>
                            <a:srgbClr val="FF0000"/>
                          </a:solidFill>
                          <a:effectLst/>
                        </a:rPr>
                        <a:t>45</a:t>
                      </a:r>
                      <a:r>
                        <a:rPr kumimoji="0" lang="zh-TW" altLang="en-US" sz="1900" u="none" strike="noStrike" cap="none" normalizeH="0" baseline="0" dirty="0" smtClean="0">
                          <a:ln>
                            <a:noFill/>
                          </a:ln>
                          <a:solidFill>
                            <a:srgbClr val="FF0000"/>
                          </a:solidFill>
                          <a:effectLst/>
                        </a:rPr>
                        <a:t>歲</a:t>
                      </a:r>
                      <a:r>
                        <a:rPr kumimoji="0" lang="zh-TW" altLang="en-US" sz="1900" u="none" strike="noStrike" cap="none" normalizeH="0" baseline="0" dirty="0">
                          <a:ln>
                            <a:noFill/>
                          </a:ln>
                          <a:solidFill>
                            <a:srgbClr val="FF0000"/>
                          </a:solidFill>
                          <a:effectLst/>
                        </a:rPr>
                        <a:t>以下</a:t>
                      </a:r>
                      <a:endParaRPr kumimoji="0" lang="zh-TW" altLang="en-US" sz="1900" b="0" i="0" u="none" strike="noStrike" cap="none" normalizeH="0" baseline="0" dirty="0">
                        <a:ln>
                          <a:noFill/>
                        </a:ln>
                        <a:solidFill>
                          <a:srgbClr val="FF0000"/>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休      假</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rPr>
                        <a:t>月休八日</a:t>
                      </a:r>
                      <a:endParaRPr kumimoji="0" lang="zh-TW" altLang="en-US" sz="19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extLst>
                  <a:ext uri="{0D108BD9-81ED-4DB2-BD59-A6C34878D82A}">
                    <a16:rowId xmlns:a16="http://schemas.microsoft.com/office/drawing/2014/main" xmlns="" val="10002"/>
                  </a:ext>
                </a:extLst>
              </a:tr>
              <a:tr h="48370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性  別</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a:ln>
                            <a:noFill/>
                          </a:ln>
                          <a:effectLst/>
                        </a:rPr>
                        <a:t>不拘</a:t>
                      </a:r>
                      <a:endParaRPr kumimoji="0" lang="zh-TW" altLang="en-US" sz="1900" b="0" i="0" u="none" strike="noStrike" cap="none" normalizeH="0" baseline="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教育程度</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FF0000"/>
                          </a:solidFill>
                          <a:effectLst/>
                        </a:rPr>
                        <a:t>大專以上程度畢業</a:t>
                      </a:r>
                      <a:endParaRPr kumimoji="0" lang="zh-TW" altLang="en-US" sz="1900" b="0" i="0" u="none" strike="noStrike" cap="none" normalizeH="0" baseline="0" dirty="0">
                        <a:ln>
                          <a:noFill/>
                        </a:ln>
                        <a:solidFill>
                          <a:srgbClr val="FF000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extLst>
                  <a:ext uri="{0D108BD9-81ED-4DB2-BD59-A6C34878D82A}">
                    <a16:rowId xmlns:a16="http://schemas.microsoft.com/office/drawing/2014/main" xmlns="" val="10003"/>
                  </a:ext>
                </a:extLst>
              </a:tr>
              <a:tr h="913516">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經  驗</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tc gridSpan="3">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solidFill>
                            <a:srgbClr val="FF0000"/>
                          </a:solidFill>
                          <a:effectLst/>
                        </a:rPr>
                        <a:t>1.</a:t>
                      </a:r>
                      <a:r>
                        <a:rPr kumimoji="0" lang="zh-TW" altLang="en-US" sz="1900" u="none" strike="noStrike" cap="none" normalizeH="0" baseline="0" dirty="0">
                          <a:ln>
                            <a:noFill/>
                          </a:ln>
                          <a:solidFill>
                            <a:srgbClr val="FF0000"/>
                          </a:solidFill>
                          <a:effectLst/>
                        </a:rPr>
                        <a:t>豪宅社區管理經驗。</a:t>
                      </a:r>
                      <a:endParaRPr kumimoji="0" lang="en-US" altLang="zh-TW" sz="1900" u="none"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solidFill>
                            <a:srgbClr val="FF0000"/>
                          </a:solidFill>
                          <a:effectLst/>
                        </a:rPr>
                        <a:t>2.</a:t>
                      </a:r>
                      <a:r>
                        <a:rPr kumimoji="0" lang="zh-TW" altLang="en-US" sz="1900" u="none" strike="noStrike" cap="none" normalizeH="0" baseline="0" dirty="0">
                          <a:ln>
                            <a:noFill/>
                          </a:ln>
                          <a:solidFill>
                            <a:srgbClr val="FF0000"/>
                          </a:solidFill>
                          <a:effectLst/>
                        </a:rPr>
                        <a:t>飯店服務相關經驗</a:t>
                      </a:r>
                      <a:endParaRPr kumimoji="0" lang="zh-TW" altLang="en-US" sz="1900" b="0" i="0" u="none" strike="noStrike" cap="none" normalizeH="0" baseline="0" dirty="0">
                        <a:ln>
                          <a:noFill/>
                        </a:ln>
                        <a:solidFill>
                          <a:srgbClr val="FF000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xmlns="" val="10004"/>
                  </a:ext>
                </a:extLst>
              </a:tr>
              <a:tr h="2048200">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職  責</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tc gridSpan="3">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rPr>
                        <a:t>1.</a:t>
                      </a:r>
                      <a:r>
                        <a:rPr kumimoji="0" lang="zh-TW" altLang="en-US" sz="1900" u="none" strike="noStrike" cap="none" normalizeH="0" baseline="0" dirty="0">
                          <a:ln>
                            <a:noFill/>
                          </a:ln>
                          <a:effectLst/>
                        </a:rPr>
                        <a:t>社區服務管理事宜執行。</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rPr>
                        <a:t>2.</a:t>
                      </a:r>
                      <a:r>
                        <a:rPr kumimoji="0" lang="zh-TW" altLang="en-US" sz="1900" u="none" strike="noStrike" cap="none" normalizeH="0" baseline="0" dirty="0">
                          <a:ln>
                            <a:noFill/>
                          </a:ln>
                          <a:effectLst/>
                        </a:rPr>
                        <a:t>管理委員會業務之執行。</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rPr>
                        <a:t>3.</a:t>
                      </a:r>
                      <a:r>
                        <a:rPr kumimoji="0" lang="zh-TW" altLang="en-US" sz="1900" u="none" strike="noStrike" cap="none" normalizeH="0" baseline="0" dirty="0">
                          <a:ln>
                            <a:noFill/>
                          </a:ln>
                          <a:effectLst/>
                        </a:rPr>
                        <a:t>住戶交辦委託事項執行。</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rPr>
                        <a:t>4.</a:t>
                      </a:r>
                      <a:r>
                        <a:rPr kumimoji="0" lang="zh-TW" altLang="en-US" sz="1900" u="none" strike="noStrike" cap="none" normalizeH="0" baseline="0" dirty="0">
                          <a:ln>
                            <a:noFill/>
                          </a:ln>
                          <a:effectLst/>
                        </a:rPr>
                        <a:t>社區安全維護督導管理。</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rPr>
                        <a:t>5.</a:t>
                      </a:r>
                      <a:r>
                        <a:rPr kumimoji="0" lang="zh-TW" altLang="en-US" sz="1900" u="none" strike="noStrike" cap="none" normalizeH="0" baseline="0" dirty="0">
                          <a:ln>
                            <a:noFill/>
                          </a:ln>
                          <a:effectLst/>
                        </a:rPr>
                        <a:t>各項機電設備維護檢查。</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rPr>
                        <a:t>6.</a:t>
                      </a:r>
                      <a:r>
                        <a:rPr kumimoji="0" lang="zh-TW" altLang="en-US" sz="1900" u="none" strike="noStrike" cap="none" normalizeH="0" baseline="0" dirty="0">
                          <a:ln>
                            <a:noFill/>
                          </a:ln>
                          <a:effectLst/>
                        </a:rPr>
                        <a:t>督導服務人員執勤狀況。</a:t>
                      </a:r>
                      <a:endParaRPr kumimoji="0" lang="zh-TW" altLang="en-US" sz="19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xmlns="" val="10005"/>
                  </a:ext>
                </a:extLst>
              </a:tr>
              <a:tr h="55389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工作要求</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gridSpan="3">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rPr>
                        <a:t>積極負責、有創造力、謙虛有禮、執行貫徹</a:t>
                      </a:r>
                      <a:endParaRPr kumimoji="0" lang="zh-TW" altLang="en-US" sz="19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xmlns="" val="10006"/>
                  </a:ext>
                </a:extLst>
              </a:tr>
            </a:tbl>
          </a:graphicData>
        </a:graphic>
      </p:graphicFrame>
      <p:pic>
        <p:nvPicPr>
          <p:cNvPr id="13" name="圖片 12" descr="齊家精緻物業logo.tif"/>
          <p:cNvPicPr>
            <a:picLocks noChangeAspect="1"/>
          </p:cNvPicPr>
          <p:nvPr/>
        </p:nvPicPr>
        <p:blipFill>
          <a:blip r:embed="rId2" cstate="print"/>
          <a:stretch>
            <a:fillRect/>
          </a:stretch>
        </p:blipFill>
        <p:spPr>
          <a:xfrm>
            <a:off x="3549905" y="6093296"/>
            <a:ext cx="2030207" cy="576064"/>
          </a:xfrm>
          <a:prstGeom prst="rect">
            <a:avLst/>
          </a:prstGeom>
        </p:spPr>
      </p:pic>
      <p:sp>
        <p:nvSpPr>
          <p:cNvPr id="14" name="矩形 13"/>
          <p:cNvSpPr/>
          <p:nvPr/>
        </p:nvSpPr>
        <p:spPr>
          <a:xfrm>
            <a:off x="1187624" y="260648"/>
            <a:ext cx="615553" cy="3600400"/>
          </a:xfrm>
          <a:prstGeom prst="rect">
            <a:avLst/>
          </a:prstGeom>
        </p:spPr>
        <p:txBody>
          <a:bodyPr vert="eaVert" wrap="square">
            <a:spAutoFit/>
          </a:bodyPr>
          <a:lstStyle/>
          <a:p>
            <a:pPr algn="ctr">
              <a:buNone/>
            </a:pPr>
            <a:r>
              <a:rPr lang="zh-TW" altLang="en-US" sz="2800" b="1" dirty="0">
                <a:solidFill>
                  <a:srgbClr val="C00000"/>
                </a:solidFill>
                <a:latin typeface="微軟正黑體" pitchFamily="34" charset="-120"/>
                <a:ea typeface="微軟正黑體" pitchFamily="34" charset="-120"/>
              </a:rPr>
              <a:t>社區</a:t>
            </a:r>
            <a:r>
              <a:rPr lang="zh-TW" altLang="en-US" sz="2800" b="1" dirty="0" smtClean="0">
                <a:solidFill>
                  <a:srgbClr val="C00000"/>
                </a:solidFill>
                <a:latin typeface="微軟正黑體" pitchFamily="34" charset="-120"/>
                <a:ea typeface="微軟正黑體" pitchFamily="34" charset="-120"/>
              </a:rPr>
              <a:t>秘書長  </a:t>
            </a:r>
            <a:r>
              <a:rPr lang="zh-TW" altLang="en-US" sz="2800" b="1" dirty="0">
                <a:solidFill>
                  <a:srgbClr val="C00000"/>
                </a:solidFill>
                <a:latin typeface="微軟正黑體" pitchFamily="34" charset="-120"/>
                <a:ea typeface="微軟正黑體" pitchFamily="34" charset="-120"/>
              </a:rPr>
              <a:t>任職條件</a:t>
            </a:r>
          </a:p>
        </p:txBody>
      </p:sp>
      <p:pic>
        <p:nvPicPr>
          <p:cNvPr id="20" name="Picture 2" descr="C:\Users\User\Desktop\業務入圍簡報2015\秘書-13.jpg"/>
          <p:cNvPicPr>
            <a:picLocks noChangeAspect="1" noChangeArrowheads="1"/>
          </p:cNvPicPr>
          <p:nvPr/>
        </p:nvPicPr>
        <p:blipFill>
          <a:blip r:embed="rId3" cstate="print"/>
          <a:srcRect/>
          <a:stretch>
            <a:fillRect/>
          </a:stretch>
        </p:blipFill>
        <p:spPr bwMode="auto">
          <a:xfrm flipH="1">
            <a:off x="683568" y="3717032"/>
            <a:ext cx="1584176" cy="2263144"/>
          </a:xfrm>
          <a:prstGeom prst="rect">
            <a:avLst/>
          </a:prstGeom>
          <a:ln>
            <a:noFill/>
          </a:ln>
          <a:effectLst>
            <a:softEdge rad="112500"/>
          </a:effectLst>
        </p:spPr>
      </p:pic>
    </p:spTree>
  </p:cSld>
  <p:clrMapOvr>
    <a:masterClrMapping/>
  </p:clrMapOvr>
  <p:transition spd="med">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9130" name="Group 58"/>
          <p:cNvGraphicFramePr>
            <a:graphicFrameLocks noGrp="1"/>
          </p:cNvGraphicFramePr>
          <p:nvPr>
            <p:extLst>
              <p:ext uri="{D42A27DB-BD31-4B8C-83A1-F6EECF244321}">
                <p14:modId xmlns="" xmlns:p14="http://schemas.microsoft.com/office/powerpoint/2010/main" val="1709622652"/>
              </p:ext>
            </p:extLst>
          </p:nvPr>
        </p:nvGraphicFramePr>
        <p:xfrm>
          <a:off x="2288544" y="476672"/>
          <a:ext cx="6099880" cy="5450443"/>
        </p:xfrm>
        <a:graphic>
          <a:graphicData uri="http://schemas.openxmlformats.org/drawingml/2006/table">
            <a:tbl>
              <a:tblPr>
                <a:tableStyleId>{69C7853C-536D-4A76-A0AE-DD22124D55A5}</a:tableStyleId>
              </a:tblPr>
              <a:tblGrid>
                <a:gridCol w="1100030">
                  <a:extLst>
                    <a:ext uri="{9D8B030D-6E8A-4147-A177-3AD203B41FA5}">
                      <a16:colId xmlns:a16="http://schemas.microsoft.com/office/drawing/2014/main" xmlns="" val="20000"/>
                    </a:ext>
                  </a:extLst>
                </a:gridCol>
                <a:gridCol w="1394000">
                  <a:extLst>
                    <a:ext uri="{9D8B030D-6E8A-4147-A177-3AD203B41FA5}">
                      <a16:colId xmlns:a16="http://schemas.microsoft.com/office/drawing/2014/main" xmlns="" val="20001"/>
                    </a:ext>
                  </a:extLst>
                </a:gridCol>
                <a:gridCol w="1123564">
                  <a:extLst>
                    <a:ext uri="{9D8B030D-6E8A-4147-A177-3AD203B41FA5}">
                      <a16:colId xmlns:a16="http://schemas.microsoft.com/office/drawing/2014/main" xmlns="" val="20002"/>
                    </a:ext>
                  </a:extLst>
                </a:gridCol>
                <a:gridCol w="2482286">
                  <a:extLst>
                    <a:ext uri="{9D8B030D-6E8A-4147-A177-3AD203B41FA5}">
                      <a16:colId xmlns:a16="http://schemas.microsoft.com/office/drawing/2014/main" xmlns="" val="20003"/>
                    </a:ext>
                  </a:extLst>
                </a:gridCol>
              </a:tblGrid>
              <a:tr h="48370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職  稱</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rPr>
                        <a:t>社區</a:t>
                      </a:r>
                      <a:r>
                        <a:rPr kumimoji="0" lang="zh-TW" altLang="en-US" sz="1900" u="none" strike="noStrike" cap="none" normalizeH="0" baseline="0" dirty="0" smtClean="0">
                          <a:ln>
                            <a:noFill/>
                          </a:ln>
                          <a:effectLst/>
                        </a:rPr>
                        <a:t>秘書</a:t>
                      </a:r>
                      <a:endParaRPr kumimoji="0" lang="en-US" altLang="zh-TW" sz="19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體位要求</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rPr>
                        <a:t>健康正常</a:t>
                      </a:r>
                      <a:endParaRPr kumimoji="0" lang="zh-TW" altLang="en-US" sz="19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Arial" panose="020B0604020202020204" pitchFamily="34" charset="0"/>
                      </a:endParaRPr>
                    </a:p>
                  </a:txBody>
                  <a:tcPr marL="35073" marR="35073" marT="17536" marB="17536" anchor="ctr" horzOverflow="overflow"/>
                </a:tc>
                <a:extLst>
                  <a:ext uri="{0D108BD9-81ED-4DB2-BD59-A6C34878D82A}">
                    <a16:rowId xmlns:a16="http://schemas.microsoft.com/office/drawing/2014/main" xmlns="" val="10000"/>
                  </a:ext>
                </a:extLst>
              </a:tr>
              <a:tr h="48370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人  力</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smtClean="0">
                          <a:ln>
                            <a:noFill/>
                          </a:ln>
                          <a:effectLst/>
                        </a:rPr>
                        <a:t>7</a:t>
                      </a:r>
                      <a:r>
                        <a:rPr kumimoji="0" lang="zh-TW" altLang="en-US" sz="1900" u="none" strike="noStrike" cap="none" normalizeH="0" baseline="0" dirty="0" smtClean="0">
                          <a:ln>
                            <a:noFill/>
                          </a:ln>
                          <a:effectLst/>
                        </a:rPr>
                        <a:t>人力 </a:t>
                      </a:r>
                      <a:endParaRPr kumimoji="0" lang="zh-TW" altLang="en-US" sz="19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Arial" panose="020B0604020202020204" pitchFamily="34"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工作時間</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rPr>
                        <a:t>8 H</a:t>
                      </a:r>
                      <a:endParaRPr kumimoji="0" lang="en-US" altLang="zh-TW" sz="19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Arial" panose="020B0604020202020204" pitchFamily="34" charset="0"/>
                      </a:endParaRPr>
                    </a:p>
                  </a:txBody>
                  <a:tcPr marL="35073" marR="35073" marT="17536" marB="17536" anchor="ctr" horzOverflow="overflow"/>
                </a:tc>
                <a:extLst>
                  <a:ext uri="{0D108BD9-81ED-4DB2-BD59-A6C34878D82A}">
                    <a16:rowId xmlns:a16="http://schemas.microsoft.com/office/drawing/2014/main" xmlns="" val="10001"/>
                  </a:ext>
                </a:extLst>
              </a:tr>
              <a:tr h="48370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年  齡</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smtClean="0">
                          <a:ln>
                            <a:noFill/>
                          </a:ln>
                          <a:solidFill>
                            <a:srgbClr val="FF0000"/>
                          </a:solidFill>
                          <a:effectLst/>
                        </a:rPr>
                        <a:t>40</a:t>
                      </a:r>
                      <a:r>
                        <a:rPr kumimoji="0" lang="zh-TW" altLang="en-US" sz="1900" u="none" strike="noStrike" cap="none" normalizeH="0" baseline="0" dirty="0" smtClean="0">
                          <a:ln>
                            <a:noFill/>
                          </a:ln>
                          <a:solidFill>
                            <a:srgbClr val="FF0000"/>
                          </a:solidFill>
                          <a:effectLst/>
                        </a:rPr>
                        <a:t>歲</a:t>
                      </a:r>
                      <a:r>
                        <a:rPr kumimoji="0" lang="zh-TW" altLang="en-US" sz="1900" u="none" strike="noStrike" cap="none" normalizeH="0" baseline="0" dirty="0">
                          <a:ln>
                            <a:noFill/>
                          </a:ln>
                          <a:solidFill>
                            <a:srgbClr val="FF0000"/>
                          </a:solidFill>
                          <a:effectLst/>
                        </a:rPr>
                        <a:t>以下</a:t>
                      </a:r>
                      <a:endParaRPr kumimoji="0" lang="zh-TW" altLang="en-US" sz="1900" b="0" i="0" u="none" strike="noStrike" cap="none" normalizeH="0" baseline="0" dirty="0">
                        <a:ln>
                          <a:noFill/>
                        </a:ln>
                        <a:solidFill>
                          <a:srgbClr val="FF0000"/>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休      假</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rPr>
                        <a:t>月休八日</a:t>
                      </a:r>
                      <a:endParaRPr kumimoji="0" lang="zh-TW" altLang="en-US" sz="19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extLst>
                  <a:ext uri="{0D108BD9-81ED-4DB2-BD59-A6C34878D82A}">
                    <a16:rowId xmlns:a16="http://schemas.microsoft.com/office/drawing/2014/main" xmlns="" val="10002"/>
                  </a:ext>
                </a:extLst>
              </a:tr>
              <a:tr h="48370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性  別</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a:ln>
                            <a:noFill/>
                          </a:ln>
                          <a:effectLst/>
                        </a:rPr>
                        <a:t>不拘</a:t>
                      </a:r>
                      <a:endParaRPr kumimoji="0" lang="zh-TW" altLang="en-US" sz="1900" b="0" i="0" u="none" strike="noStrike" cap="none" normalizeH="0" baseline="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教育程度</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FF0000"/>
                          </a:solidFill>
                          <a:effectLst/>
                        </a:rPr>
                        <a:t>大專以上程度畢業</a:t>
                      </a:r>
                      <a:endParaRPr kumimoji="0" lang="zh-TW" altLang="en-US" sz="1900" b="0" i="0" u="none" strike="noStrike" cap="none" normalizeH="0" baseline="0" dirty="0">
                        <a:ln>
                          <a:noFill/>
                        </a:ln>
                        <a:solidFill>
                          <a:srgbClr val="FF000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extLst>
                  <a:ext uri="{0D108BD9-81ED-4DB2-BD59-A6C34878D82A}">
                    <a16:rowId xmlns:a16="http://schemas.microsoft.com/office/drawing/2014/main" xmlns="" val="10003"/>
                  </a:ext>
                </a:extLst>
              </a:tr>
              <a:tr h="913516">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經  驗</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tc gridSpan="3">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solidFill>
                            <a:srgbClr val="FF0000"/>
                          </a:solidFill>
                          <a:effectLst/>
                        </a:rPr>
                        <a:t>1.</a:t>
                      </a:r>
                      <a:r>
                        <a:rPr kumimoji="0" lang="zh-TW" altLang="en-US" sz="1900" u="none" strike="noStrike" cap="none" normalizeH="0" baseline="0" dirty="0">
                          <a:ln>
                            <a:noFill/>
                          </a:ln>
                          <a:solidFill>
                            <a:srgbClr val="FF0000"/>
                          </a:solidFill>
                          <a:effectLst/>
                        </a:rPr>
                        <a:t>豪宅社區管理經驗。</a:t>
                      </a:r>
                      <a:endParaRPr kumimoji="0" lang="en-US" altLang="zh-TW" sz="1900" u="none"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solidFill>
                            <a:srgbClr val="FF0000"/>
                          </a:solidFill>
                          <a:effectLst/>
                        </a:rPr>
                        <a:t>2.</a:t>
                      </a:r>
                      <a:r>
                        <a:rPr kumimoji="0" lang="zh-TW" altLang="en-US" sz="1900" u="none" strike="noStrike" cap="none" normalizeH="0" baseline="0" dirty="0">
                          <a:ln>
                            <a:noFill/>
                          </a:ln>
                          <a:solidFill>
                            <a:srgbClr val="FF0000"/>
                          </a:solidFill>
                          <a:effectLst/>
                        </a:rPr>
                        <a:t>飯店服務相關經驗</a:t>
                      </a:r>
                      <a:endParaRPr kumimoji="0" lang="zh-TW" altLang="en-US" sz="1900" b="0" i="0" u="none" strike="noStrike" cap="none" normalizeH="0" baseline="0" dirty="0">
                        <a:ln>
                          <a:noFill/>
                        </a:ln>
                        <a:solidFill>
                          <a:srgbClr val="FF000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xmlns="" val="10004"/>
                  </a:ext>
                </a:extLst>
              </a:tr>
              <a:tr h="2048200">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職  責</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endParaRPr>
                    </a:p>
                  </a:txBody>
                  <a:tcPr marL="35073" marR="35073" marT="17536" marB="17536" anchor="ctr" horzOverflow="overflow"/>
                </a:tc>
                <a:tc gridSpan="3">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rPr>
                        <a:t>1.</a:t>
                      </a:r>
                      <a:r>
                        <a:rPr kumimoji="0" lang="zh-TW" altLang="en-US" sz="1900" u="none" strike="noStrike" cap="none" normalizeH="0" baseline="0" dirty="0">
                          <a:ln>
                            <a:noFill/>
                          </a:ln>
                          <a:effectLst/>
                        </a:rPr>
                        <a:t>社區服務管理事宜執行。</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rPr>
                        <a:t>2.</a:t>
                      </a:r>
                      <a:r>
                        <a:rPr kumimoji="0" lang="zh-TW" altLang="en-US" sz="1900" u="none" strike="noStrike" cap="none" normalizeH="0" baseline="0" dirty="0">
                          <a:ln>
                            <a:noFill/>
                          </a:ln>
                          <a:effectLst/>
                        </a:rPr>
                        <a:t>管理委員會業務之執行。</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rPr>
                        <a:t>3.</a:t>
                      </a:r>
                      <a:r>
                        <a:rPr kumimoji="0" lang="zh-TW" altLang="en-US" sz="1900" u="none" strike="noStrike" cap="none" normalizeH="0" baseline="0" dirty="0">
                          <a:ln>
                            <a:noFill/>
                          </a:ln>
                          <a:effectLst/>
                        </a:rPr>
                        <a:t>住戶交辦委託事項執行。</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rPr>
                        <a:t>4.</a:t>
                      </a:r>
                      <a:r>
                        <a:rPr kumimoji="0" lang="zh-TW" altLang="en-US" sz="1900" u="none" strike="noStrike" cap="none" normalizeH="0" baseline="0" dirty="0">
                          <a:ln>
                            <a:noFill/>
                          </a:ln>
                          <a:effectLst/>
                        </a:rPr>
                        <a:t>社區安全維護督導管理。</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rPr>
                        <a:t>5.</a:t>
                      </a:r>
                      <a:r>
                        <a:rPr kumimoji="0" lang="zh-TW" altLang="en-US" sz="1900" u="none" strike="noStrike" cap="none" normalizeH="0" baseline="0" dirty="0">
                          <a:ln>
                            <a:noFill/>
                          </a:ln>
                          <a:effectLst/>
                        </a:rPr>
                        <a:t>各項機電設備維護檢查。</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1900" u="none" strike="noStrike" cap="none" normalizeH="0" baseline="0" dirty="0">
                          <a:ln>
                            <a:noFill/>
                          </a:ln>
                          <a:effectLst/>
                        </a:rPr>
                        <a:t>6.</a:t>
                      </a:r>
                      <a:r>
                        <a:rPr kumimoji="0" lang="zh-TW" altLang="en-US" sz="1900" u="none" strike="noStrike" cap="none" normalizeH="0" baseline="0" dirty="0">
                          <a:ln>
                            <a:noFill/>
                          </a:ln>
                          <a:effectLst/>
                        </a:rPr>
                        <a:t>督導服務人員執勤狀況。</a:t>
                      </a:r>
                      <a:endParaRPr kumimoji="0" lang="zh-TW" altLang="en-US" sz="19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xmlns="" val="10005"/>
                  </a:ext>
                </a:extLst>
              </a:tr>
              <a:tr h="55389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solidFill>
                            <a:srgbClr val="002060"/>
                          </a:solidFill>
                          <a:effectLst/>
                        </a:rPr>
                        <a:t>工作要求</a:t>
                      </a:r>
                      <a:endParaRPr kumimoji="0" lang="zh-TW" altLang="en-US" sz="19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gridSpan="3">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1900" u="none" strike="noStrike" cap="none" normalizeH="0" baseline="0" dirty="0">
                          <a:ln>
                            <a:noFill/>
                          </a:ln>
                          <a:effectLst/>
                        </a:rPr>
                        <a:t>積極負責、有創造力、謙虛有禮、執行貫徹</a:t>
                      </a:r>
                      <a:endParaRPr kumimoji="0" lang="zh-TW" altLang="en-US" sz="19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5073" marR="35073" marT="17536" marB="17536" anchor="ctr" horzOverflow="overflow"/>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xmlns="" val="10006"/>
                  </a:ext>
                </a:extLst>
              </a:tr>
            </a:tbl>
          </a:graphicData>
        </a:graphic>
      </p:graphicFrame>
      <p:pic>
        <p:nvPicPr>
          <p:cNvPr id="13" name="圖片 12" descr="齊家精緻物業logo.tif"/>
          <p:cNvPicPr>
            <a:picLocks noChangeAspect="1"/>
          </p:cNvPicPr>
          <p:nvPr/>
        </p:nvPicPr>
        <p:blipFill>
          <a:blip r:embed="rId2" cstate="print"/>
          <a:stretch>
            <a:fillRect/>
          </a:stretch>
        </p:blipFill>
        <p:spPr>
          <a:xfrm>
            <a:off x="3549905" y="6093296"/>
            <a:ext cx="2030207" cy="576064"/>
          </a:xfrm>
          <a:prstGeom prst="rect">
            <a:avLst/>
          </a:prstGeom>
        </p:spPr>
      </p:pic>
      <p:sp>
        <p:nvSpPr>
          <p:cNvPr id="14" name="矩形 13"/>
          <p:cNvSpPr/>
          <p:nvPr/>
        </p:nvSpPr>
        <p:spPr>
          <a:xfrm>
            <a:off x="1187624" y="260648"/>
            <a:ext cx="615553" cy="3600400"/>
          </a:xfrm>
          <a:prstGeom prst="rect">
            <a:avLst/>
          </a:prstGeom>
        </p:spPr>
        <p:txBody>
          <a:bodyPr vert="eaVert" wrap="square">
            <a:spAutoFit/>
          </a:bodyPr>
          <a:lstStyle/>
          <a:p>
            <a:pPr algn="ctr">
              <a:buNone/>
            </a:pPr>
            <a:r>
              <a:rPr lang="zh-TW" altLang="en-US" sz="2800" b="1" dirty="0">
                <a:solidFill>
                  <a:srgbClr val="C00000"/>
                </a:solidFill>
                <a:latin typeface="微軟正黑體" pitchFamily="34" charset="-120"/>
                <a:ea typeface="微軟正黑體" pitchFamily="34" charset="-120"/>
              </a:rPr>
              <a:t>社區</a:t>
            </a:r>
            <a:r>
              <a:rPr lang="zh-TW" altLang="en-US" sz="2800" b="1" dirty="0" smtClean="0">
                <a:solidFill>
                  <a:srgbClr val="C00000"/>
                </a:solidFill>
                <a:latin typeface="微軟正黑體" pitchFamily="34" charset="-120"/>
                <a:ea typeface="微軟正黑體" pitchFamily="34" charset="-120"/>
              </a:rPr>
              <a:t>秘書  </a:t>
            </a:r>
            <a:r>
              <a:rPr lang="zh-TW" altLang="en-US" sz="2800" b="1" dirty="0">
                <a:solidFill>
                  <a:srgbClr val="C00000"/>
                </a:solidFill>
                <a:latin typeface="微軟正黑體" pitchFamily="34" charset="-120"/>
                <a:ea typeface="微軟正黑體" pitchFamily="34" charset="-120"/>
              </a:rPr>
              <a:t>任職條件</a:t>
            </a:r>
          </a:p>
        </p:txBody>
      </p:sp>
      <p:pic>
        <p:nvPicPr>
          <p:cNvPr id="20" name="Picture 2" descr="C:\Users\User\Desktop\業務入圍簡報2015\秘書-13.jpg"/>
          <p:cNvPicPr>
            <a:picLocks noChangeAspect="1" noChangeArrowheads="1"/>
          </p:cNvPicPr>
          <p:nvPr/>
        </p:nvPicPr>
        <p:blipFill>
          <a:blip r:embed="rId3" cstate="print"/>
          <a:srcRect/>
          <a:stretch>
            <a:fillRect/>
          </a:stretch>
        </p:blipFill>
        <p:spPr bwMode="auto">
          <a:xfrm flipH="1">
            <a:off x="683568" y="3717032"/>
            <a:ext cx="1584176" cy="2263144"/>
          </a:xfrm>
          <a:prstGeom prst="rect">
            <a:avLst/>
          </a:prstGeom>
          <a:ln>
            <a:noFill/>
          </a:ln>
          <a:effectLst>
            <a:softEdge rad="112500"/>
          </a:effectLst>
        </p:spPr>
      </p:pic>
    </p:spTree>
  </p:cSld>
  <p:clrMapOvr>
    <a:masterClrMapping/>
  </p:clrMapOvr>
  <p:transition spd="med">
    <p:randomBar dir="vert"/>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 name="標題 1"/>
          <p:cNvSpPr txBox="1">
            <a:spLocks/>
          </p:cNvSpPr>
          <p:nvPr/>
        </p:nvSpPr>
        <p:spPr>
          <a:xfrm>
            <a:off x="2643174" y="214291"/>
            <a:ext cx="6143636" cy="1143000"/>
          </a:xfrm>
          <a:prstGeom prst="rect">
            <a:avLst/>
          </a:prstGeom>
        </p:spPr>
        <p:txBody>
          <a:bodyPr>
            <a:noAutofit/>
          </a:bodyPr>
          <a:lstStyle/>
          <a:p>
            <a:pPr algn="r">
              <a:spcBef>
                <a:spcPct val="0"/>
              </a:spcBef>
              <a:defRPr/>
            </a:pPr>
            <a:endParaRPr lang="zh-TW" altLang="en-US" sz="3200" dirty="0">
              <a:solidFill>
                <a:prstClr val="black"/>
              </a:solidFill>
              <a:effectLst>
                <a:glow rad="101600">
                  <a:prstClr val="black">
                    <a:alpha val="60000"/>
                  </a:prstClr>
                </a:glow>
                <a:outerShdw blurRad="50800" dist="38100" dir="2700000" algn="tl" rotWithShape="0">
                  <a:prstClr val="black">
                    <a:alpha val="40000"/>
                  </a:prstClr>
                </a:outerShdw>
              </a:effectLst>
              <a:latin typeface="Adobe 黑体 Std R" pitchFamily="34" charset="-128"/>
              <a:ea typeface="Adobe 黑体 Std R" pitchFamily="34" charset="-128"/>
            </a:endParaRPr>
          </a:p>
        </p:txBody>
      </p:sp>
      <p:sp>
        <p:nvSpPr>
          <p:cNvPr id="53" name="矩形 52"/>
          <p:cNvSpPr/>
          <p:nvPr/>
        </p:nvSpPr>
        <p:spPr>
          <a:xfrm>
            <a:off x="2699792" y="0"/>
            <a:ext cx="6215106" cy="307777"/>
          </a:xfrm>
          <a:prstGeom prst="rect">
            <a:avLst/>
          </a:prstGeom>
        </p:spPr>
        <p:txBody>
          <a:bodyPr wrap="square">
            <a:spAutoFit/>
          </a:bodyPr>
          <a:lstStyle/>
          <a:p>
            <a:pPr algn="r">
              <a:defRPr/>
            </a:pPr>
            <a:r>
              <a:rPr lang="zh-TW" altLang="en-US" sz="1400" dirty="0">
                <a:solidFill>
                  <a:srgbClr val="464653">
                    <a:lumMod val="75000"/>
                  </a:srgbClr>
                </a:solidFill>
              </a:rPr>
              <a:t>您家園安全的第一關卡，我們已為您嚴格把關。</a:t>
            </a:r>
          </a:p>
        </p:txBody>
      </p:sp>
      <p:graphicFrame>
        <p:nvGraphicFramePr>
          <p:cNvPr id="11" name="資料庫圖表 10"/>
          <p:cNvGraphicFramePr/>
          <p:nvPr/>
        </p:nvGraphicFramePr>
        <p:xfrm>
          <a:off x="2699792" y="404664"/>
          <a:ext cx="6120680" cy="5648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矩形 13"/>
          <p:cNvSpPr/>
          <p:nvPr/>
        </p:nvSpPr>
        <p:spPr>
          <a:xfrm>
            <a:off x="2195736" y="6566610"/>
            <a:ext cx="5616624" cy="307777"/>
          </a:xfrm>
          <a:prstGeom prst="rect">
            <a:avLst/>
          </a:prstGeom>
        </p:spPr>
        <p:txBody>
          <a:bodyPr wrap="square">
            <a:spAutoFit/>
          </a:bodyPr>
          <a:lstStyle/>
          <a:p>
            <a:pPr>
              <a:defRPr/>
            </a:pPr>
            <a:r>
              <a:rPr lang="zh-TW" altLang="en-US" sz="1400" dirty="0">
                <a:solidFill>
                  <a:prstClr val="black">
                    <a:lumMod val="85000"/>
                    <a:lumOff val="15000"/>
                  </a:prstClr>
                </a:solidFill>
                <a:latin typeface="微軟正黑體" pitchFamily="34" charset="-120"/>
              </a:rPr>
              <a:t>「居處恭、執事敬，與人忠、用意誠，至於四方不可棄也。」</a:t>
            </a:r>
            <a:r>
              <a:rPr lang="en-US" altLang="zh-TW" sz="1400" dirty="0">
                <a:solidFill>
                  <a:prstClr val="black">
                    <a:lumMod val="85000"/>
                    <a:lumOff val="15000"/>
                  </a:prstClr>
                </a:solidFill>
                <a:latin typeface="微軟正黑體" pitchFamily="34" charset="-120"/>
              </a:rPr>
              <a:t>- </a:t>
            </a:r>
            <a:r>
              <a:rPr lang="zh-TW" altLang="en-US" sz="1400" dirty="0">
                <a:solidFill>
                  <a:prstClr val="black">
                    <a:lumMod val="85000"/>
                    <a:lumOff val="15000"/>
                  </a:prstClr>
                </a:solidFill>
                <a:latin typeface="微軟正黑體" pitchFamily="34" charset="-120"/>
              </a:rPr>
              <a:t>論語</a:t>
            </a:r>
          </a:p>
        </p:txBody>
      </p:sp>
      <p:pic>
        <p:nvPicPr>
          <p:cNvPr id="15" name="圖片 14" descr="簡報封面-1-02.png"/>
          <p:cNvPicPr>
            <a:picLocks noChangeAspect="1"/>
          </p:cNvPicPr>
          <p:nvPr/>
        </p:nvPicPr>
        <p:blipFill>
          <a:blip r:embed="rId6" cstate="print"/>
          <a:stretch>
            <a:fillRect/>
          </a:stretch>
        </p:blipFill>
        <p:spPr>
          <a:xfrm>
            <a:off x="467545" y="6309320"/>
            <a:ext cx="1348484" cy="396000"/>
          </a:xfrm>
          <a:prstGeom prst="rect">
            <a:avLst/>
          </a:prstGeom>
        </p:spPr>
      </p:pic>
      <p:sp>
        <p:nvSpPr>
          <p:cNvPr id="3" name="文字方塊 2"/>
          <p:cNvSpPr txBox="1"/>
          <p:nvPr/>
        </p:nvSpPr>
        <p:spPr>
          <a:xfrm>
            <a:off x="2483768" y="176827"/>
            <a:ext cx="6192688" cy="6247864"/>
          </a:xfrm>
          <a:prstGeom prst="rect">
            <a:avLst/>
          </a:prstGeom>
          <a:noFill/>
        </p:spPr>
        <p:txBody>
          <a:bodyPr wrap="square" rtlCol="0">
            <a:spAutoFit/>
          </a:bodyPr>
          <a:lstStyle/>
          <a:p>
            <a:pPr>
              <a:lnSpc>
                <a:spcPts val="2000"/>
              </a:lnSpc>
              <a:defRPr/>
            </a:pPr>
            <a:r>
              <a:rPr lang="zh-TW" altLang="en-US" sz="2400" b="1"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社區</a:t>
            </a:r>
            <a:r>
              <a:rPr lang="zh-TW" altLang="zh-TW" sz="2400" b="1" kern="100" dirty="0" smtClean="0">
                <a:solidFill>
                  <a:prstClr val="black"/>
                </a:solidFill>
                <a:latin typeface="Calibri" panose="020F0502020204030204" pitchFamily="34" charset="0"/>
                <a:ea typeface="標楷體" panose="03000509000000000000" pitchFamily="65" charset="-120"/>
                <a:cs typeface="Times New Roman" panose="02020603050405020304" pitchFamily="18" charset="0"/>
              </a:rPr>
              <a:t>秘書</a:t>
            </a:r>
            <a:r>
              <a:rPr lang="zh-TW" altLang="en-US" sz="2400" b="1" kern="100" dirty="0" smtClean="0">
                <a:solidFill>
                  <a:prstClr val="black"/>
                </a:solidFill>
                <a:latin typeface="Calibri" panose="020F0502020204030204" pitchFamily="34" charset="0"/>
                <a:ea typeface="標楷體" panose="03000509000000000000" pitchFamily="65" charset="-120"/>
                <a:cs typeface="Times New Roman" panose="02020603050405020304" pitchFamily="18" charset="0"/>
              </a:rPr>
              <a:t>組</a:t>
            </a:r>
            <a:r>
              <a:rPr lang="en-US" altLang="zh-TW" sz="2400" b="1" kern="100" dirty="0" smtClean="0">
                <a:solidFill>
                  <a:prstClr val="black"/>
                </a:solidFill>
                <a:latin typeface="Calibri" panose="020F0502020204030204" pitchFamily="34" charset="0"/>
                <a:ea typeface="標楷體" panose="03000509000000000000" pitchFamily="65" charset="-120"/>
                <a:cs typeface="Times New Roman" panose="02020603050405020304" pitchFamily="18" charset="0"/>
              </a:rPr>
              <a:t>  </a:t>
            </a:r>
            <a:r>
              <a:rPr lang="zh-TW" altLang="zh-TW" sz="2000"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工作職掌：</a:t>
            </a:r>
            <a:endParaRPr lang="zh-TW" altLang="zh-TW" sz="2000"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熟悉文書事務會計、電腦操作及</a:t>
            </a:r>
            <a:r>
              <a:rPr lang="en-US"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MS-Word</a:t>
            </a: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a:t>
            </a:r>
            <a:r>
              <a:rPr lang="en-US"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Excel</a:t>
            </a: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等文書作業處理。</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應面帶微笑、儀表端莊有禮，嚴禁不雅站姿、態度輕浮。</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服裝儀容及禮貌特別注意，訪客應親切招呼、禮貌點頭或敬禮式問好。</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服務台相關諮詢服務及住戶遷入服務。</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訪客登記及傳達並告知欲拜訪的樓層。</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行政文書（如公告、文件表單之製作及檔案建立）。</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社區財務管理費收繳及會計帳目核算作業與郵務處理。</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彙整、查核每月管理費及車位清潔費月報表。</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辦理繳費與催收通知。</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辦理退費、補繳單製作、登帳歸檔、沖帳。</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管制繕打各項管理辦法、服務通報、公告等事務文書彙整處理。</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編列次年年度預算。</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管制各種報表之整理與呈報。</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協助門禁卡及停車證申請、增購、遺失辦理。</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設施預約管理。</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郵件寄放登錄電腦管理。</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突發狀況之處置及連絡，發現突發事變盡速通報</a:t>
            </a:r>
            <a:r>
              <a:rPr lang="en-US"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110</a:t>
            </a: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或</a:t>
            </a:r>
            <a:r>
              <a:rPr lang="en-US"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119</a:t>
            </a: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並回報管制中心及總幹事協助處理。</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社區財產建帳／清點事宜。</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a:p>
            <a:pPr marL="342900" indent="-342900">
              <a:lnSpc>
                <a:spcPts val="2000"/>
              </a:lnSpc>
              <a:buFont typeface="+mj-lt"/>
              <a:buAutoNum type="arabicPeriod"/>
              <a:defRPr/>
            </a:pP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協助社區</a:t>
            </a:r>
            <a:r>
              <a:rPr lang="zh-TW" altLang="en-US"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經理</a:t>
            </a:r>
            <a:r>
              <a:rPr lang="zh-TW" altLang="zh-TW" kern="100" dirty="0">
                <a:solidFill>
                  <a:prstClr val="black"/>
                </a:solidFill>
                <a:latin typeface="Calibri" panose="020F0502020204030204" pitchFamily="34" charset="0"/>
                <a:ea typeface="標楷體" panose="03000509000000000000" pitchFamily="65" charset="-120"/>
                <a:cs typeface="Times New Roman" panose="02020603050405020304" pitchFamily="18" charset="0"/>
              </a:rPr>
              <a:t>交辦之各項事項處理。</a:t>
            </a:r>
            <a:endParaRPr lang="zh-TW" altLang="zh-TW" kern="100" dirty="0">
              <a:solidFill>
                <a:prstClr val="black"/>
              </a:solidFill>
              <a:latin typeface="Calibri" panose="020F0502020204030204" pitchFamily="34" charset="0"/>
              <a:ea typeface="新細明體" panose="02020500000000000000" pitchFamily="18" charset="-120"/>
              <a:cs typeface="Times New Roman" panose="02020603050405020304" pitchFamily="18" charset="0"/>
            </a:endParaRPr>
          </a:p>
        </p:txBody>
      </p:sp>
      <p:pic>
        <p:nvPicPr>
          <p:cNvPr id="2" name="圖片 1"/>
          <p:cNvPicPr>
            <a:picLocks noChangeAspect="1"/>
          </p:cNvPicPr>
          <p:nvPr/>
        </p:nvPicPr>
        <p:blipFill>
          <a:blip r:embed="rId7"/>
          <a:stretch>
            <a:fillRect/>
          </a:stretch>
        </p:blipFill>
        <p:spPr>
          <a:xfrm>
            <a:off x="395536" y="692696"/>
            <a:ext cx="1585097" cy="2261812"/>
          </a:xfrm>
          <a:prstGeom prst="rect">
            <a:avLst/>
          </a:prstGeom>
        </p:spPr>
      </p:pic>
    </p:spTree>
    <p:extLst>
      <p:ext uri="{BB962C8B-B14F-4D97-AF65-F5344CB8AC3E}">
        <p14:creationId xmlns="" xmlns:p14="http://schemas.microsoft.com/office/powerpoint/2010/main" val="1721405951"/>
      </p:ext>
    </p:extLst>
  </p:cSld>
  <p:clrMapOvr>
    <a:masterClrMapping/>
  </p:clrMapOvr>
  <p:transition advTm="300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1172" name="Group 52"/>
          <p:cNvGraphicFramePr>
            <a:graphicFrameLocks noGrp="1"/>
          </p:cNvGraphicFramePr>
          <p:nvPr>
            <p:extLst>
              <p:ext uri="{D42A27DB-BD31-4B8C-83A1-F6EECF244321}">
                <p14:modId xmlns="" xmlns:p14="http://schemas.microsoft.com/office/powerpoint/2010/main" val="405406513"/>
              </p:ext>
            </p:extLst>
          </p:nvPr>
        </p:nvGraphicFramePr>
        <p:xfrm>
          <a:off x="2266919" y="548680"/>
          <a:ext cx="6121505" cy="5400601"/>
        </p:xfrm>
        <a:graphic>
          <a:graphicData uri="http://schemas.openxmlformats.org/drawingml/2006/table">
            <a:tbl>
              <a:tblPr>
                <a:tableStyleId>{775DCB02-9BB8-47FD-8907-85C794F793BA}</a:tableStyleId>
              </a:tblPr>
              <a:tblGrid>
                <a:gridCol w="1152953">
                  <a:extLst>
                    <a:ext uri="{9D8B030D-6E8A-4147-A177-3AD203B41FA5}">
                      <a16:colId xmlns:a16="http://schemas.microsoft.com/office/drawing/2014/main" xmlns="" val="20000"/>
                    </a:ext>
                  </a:extLst>
                </a:gridCol>
                <a:gridCol w="796155">
                  <a:extLst>
                    <a:ext uri="{9D8B030D-6E8A-4147-A177-3AD203B41FA5}">
                      <a16:colId xmlns:a16="http://schemas.microsoft.com/office/drawing/2014/main" xmlns="" val="20001"/>
                    </a:ext>
                  </a:extLst>
                </a:gridCol>
                <a:gridCol w="1159236">
                  <a:extLst>
                    <a:ext uri="{9D8B030D-6E8A-4147-A177-3AD203B41FA5}">
                      <a16:colId xmlns:a16="http://schemas.microsoft.com/office/drawing/2014/main" xmlns="" val="20002"/>
                    </a:ext>
                  </a:extLst>
                </a:gridCol>
                <a:gridCol w="3013161">
                  <a:extLst>
                    <a:ext uri="{9D8B030D-6E8A-4147-A177-3AD203B41FA5}">
                      <a16:colId xmlns:a16="http://schemas.microsoft.com/office/drawing/2014/main" xmlns="" val="20003"/>
                    </a:ext>
                  </a:extLst>
                </a:gridCol>
              </a:tblGrid>
              <a:tr h="830451">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職  稱</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effectLst/>
                        </a:rPr>
                        <a:t>社區警衛</a:t>
                      </a:r>
                      <a:endParaRPr kumimoji="0" lang="zh-TW" altLang="en-US" sz="20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體位要求</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a:ln>
                            <a:noFill/>
                          </a:ln>
                          <a:effectLst/>
                        </a:rPr>
                        <a:t>健康正常</a:t>
                      </a:r>
                      <a:endParaRPr kumimoji="0" lang="zh-TW" altLang="en-US" sz="2000" b="0" i="0" u="none" strike="noStrike" cap="none" normalizeH="0" baseline="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extLst>
                  <a:ext uri="{0D108BD9-81ED-4DB2-BD59-A6C34878D82A}">
                    <a16:rowId xmlns:a16="http://schemas.microsoft.com/office/drawing/2014/main" xmlns="" val="10000"/>
                  </a:ext>
                </a:extLst>
              </a:tr>
              <a:tr h="64732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人  力</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2000" u="none" strike="noStrike" cap="none" normalizeH="0" baseline="0" dirty="0" smtClean="0">
                          <a:ln>
                            <a:noFill/>
                          </a:ln>
                          <a:effectLst/>
                        </a:rPr>
                        <a:t>18  </a:t>
                      </a:r>
                      <a:r>
                        <a:rPr kumimoji="0" lang="zh-TW" altLang="en-US" sz="2000" u="none" strike="noStrike" cap="none" normalizeH="0" baseline="0" dirty="0" smtClean="0">
                          <a:ln>
                            <a:noFill/>
                          </a:ln>
                          <a:effectLst/>
                        </a:rPr>
                        <a:t>人力</a:t>
                      </a:r>
                      <a:endParaRPr kumimoji="0" lang="zh-TW" altLang="en-US" sz="20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工作時間</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2000" u="none" strike="noStrike" cap="none" normalizeH="0" baseline="0" dirty="0">
                          <a:ln>
                            <a:noFill/>
                          </a:ln>
                          <a:effectLst/>
                        </a:rPr>
                        <a:t>24H</a:t>
                      </a:r>
                      <a:r>
                        <a:rPr kumimoji="0" lang="zh-TW" altLang="en-US" sz="2000" u="none" strike="noStrike" cap="none" normalizeH="0" baseline="0" dirty="0">
                          <a:ln>
                            <a:noFill/>
                          </a:ln>
                          <a:effectLst/>
                        </a:rPr>
                        <a:t>全年無休 </a:t>
                      </a:r>
                      <a:endParaRPr kumimoji="0" lang="zh-TW" altLang="en-US" sz="20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extLst>
                  <a:ext uri="{0D108BD9-81ED-4DB2-BD59-A6C34878D82A}">
                    <a16:rowId xmlns:a16="http://schemas.microsoft.com/office/drawing/2014/main" xmlns="" val="10001"/>
                  </a:ext>
                </a:extLst>
              </a:tr>
              <a:tr h="830451">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年齡限制</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2000" u="none" strike="noStrike" cap="none" normalizeH="0" baseline="0" dirty="0" smtClean="0">
                          <a:ln>
                            <a:noFill/>
                          </a:ln>
                          <a:solidFill>
                            <a:srgbClr val="FF0000"/>
                          </a:solidFill>
                          <a:effectLst/>
                        </a:rPr>
                        <a:t>55</a:t>
                      </a:r>
                      <a:r>
                        <a:rPr kumimoji="0" lang="zh-TW" altLang="en-US" sz="2000" u="none" strike="noStrike" cap="none" normalizeH="0" baseline="0" dirty="0" smtClean="0">
                          <a:ln>
                            <a:noFill/>
                          </a:ln>
                          <a:solidFill>
                            <a:srgbClr val="FF0000"/>
                          </a:solidFill>
                          <a:effectLst/>
                        </a:rPr>
                        <a:t>歲</a:t>
                      </a:r>
                      <a:r>
                        <a:rPr kumimoji="0" lang="zh-TW" altLang="en-US" sz="2000" u="none" strike="noStrike" cap="none" normalizeH="0" baseline="0" dirty="0">
                          <a:ln>
                            <a:noFill/>
                          </a:ln>
                          <a:solidFill>
                            <a:srgbClr val="FF0000"/>
                          </a:solidFill>
                          <a:effectLst/>
                        </a:rPr>
                        <a:t>以下</a:t>
                      </a:r>
                      <a:endParaRPr kumimoji="0" lang="zh-TW" altLang="en-US" sz="2000" b="0" i="0" u="none" strike="noStrike" cap="none" normalizeH="0" baseline="0" dirty="0">
                        <a:ln>
                          <a:noFill/>
                        </a:ln>
                        <a:solidFill>
                          <a:srgbClr val="FF000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休     假</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effectLst/>
                        </a:rPr>
                        <a:t>月休</a:t>
                      </a:r>
                      <a:r>
                        <a:rPr kumimoji="0" lang="zh-TW" altLang="en-US" sz="2000" u="none" strike="noStrike" cap="none" normalizeH="0" baseline="0" dirty="0" smtClean="0">
                          <a:ln>
                            <a:noFill/>
                          </a:ln>
                          <a:effectLst/>
                        </a:rPr>
                        <a:t>六</a:t>
                      </a:r>
                      <a:r>
                        <a:rPr kumimoji="0" lang="en-US" altLang="zh-TW" sz="2000" u="none" strike="noStrike" cap="none" normalizeH="0" baseline="0" dirty="0" smtClean="0">
                          <a:ln>
                            <a:noFill/>
                          </a:ln>
                          <a:effectLst/>
                        </a:rPr>
                        <a:t>~</a:t>
                      </a:r>
                      <a:r>
                        <a:rPr kumimoji="0" lang="zh-TW" altLang="en-US" sz="2000" u="none" strike="noStrike" cap="none" normalizeH="0" baseline="0" dirty="0" smtClean="0">
                          <a:ln>
                            <a:noFill/>
                          </a:ln>
                          <a:effectLst/>
                        </a:rPr>
                        <a:t>七日                </a:t>
                      </a:r>
                      <a:r>
                        <a:rPr kumimoji="0" lang="en-US" altLang="zh-TW" sz="2000" u="none" strike="noStrike" cap="none" normalizeH="0" baseline="0" dirty="0" smtClean="0">
                          <a:ln>
                            <a:noFill/>
                          </a:ln>
                          <a:effectLst/>
                        </a:rPr>
                        <a:t>(</a:t>
                      </a:r>
                      <a:r>
                        <a:rPr kumimoji="0" lang="zh-TW" altLang="en-US" sz="2000" u="none" strike="noStrike" cap="none" normalizeH="0" baseline="0" dirty="0">
                          <a:ln>
                            <a:noFill/>
                          </a:ln>
                          <a:effectLst/>
                        </a:rPr>
                        <a:t>機動安管補班</a:t>
                      </a:r>
                      <a:r>
                        <a:rPr kumimoji="0" lang="en-US" altLang="zh-TW" sz="2000" u="none" strike="noStrike" cap="none" normalizeH="0" baseline="0" dirty="0">
                          <a:ln>
                            <a:noFill/>
                          </a:ln>
                          <a:effectLst/>
                        </a:rPr>
                        <a:t>)</a:t>
                      </a:r>
                      <a:endParaRPr kumimoji="0" lang="en-US" altLang="zh-TW" sz="20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extLst>
                  <a:ext uri="{0D108BD9-81ED-4DB2-BD59-A6C34878D82A}">
                    <a16:rowId xmlns:a16="http://schemas.microsoft.com/office/drawing/2014/main" xmlns="" val="10002"/>
                  </a:ext>
                </a:extLst>
              </a:tr>
              <a:tr h="64732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性  別</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a:ln>
                            <a:noFill/>
                          </a:ln>
                          <a:effectLst/>
                        </a:rPr>
                        <a:t>限男性</a:t>
                      </a:r>
                      <a:endParaRPr kumimoji="0" lang="zh-TW" altLang="en-US" sz="2000" b="0" i="0" u="none" strike="noStrike" cap="none" normalizeH="0" baseline="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a:ln>
                            <a:noFill/>
                          </a:ln>
                          <a:effectLst/>
                        </a:rPr>
                        <a:t>教育程度</a:t>
                      </a:r>
                      <a:endParaRPr kumimoji="0" lang="zh-TW" altLang="en-US" sz="2000" b="1" i="0" u="none" strike="noStrike" cap="none" normalizeH="0" baseline="0">
                        <a:ln>
                          <a:noFill/>
                        </a:ln>
                        <a:solidFill>
                          <a:srgbClr val="0000FF"/>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FF0000"/>
                          </a:solidFill>
                          <a:effectLst/>
                        </a:rPr>
                        <a:t>高中以上程度畢業</a:t>
                      </a:r>
                      <a:endParaRPr kumimoji="0" lang="zh-TW" altLang="en-US" sz="2000" b="0" i="0" u="none" strike="noStrike" cap="none" normalizeH="0" baseline="0" dirty="0">
                        <a:ln>
                          <a:noFill/>
                        </a:ln>
                        <a:solidFill>
                          <a:srgbClr val="FF000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extLst>
                  <a:ext uri="{0D108BD9-81ED-4DB2-BD59-A6C34878D82A}">
                    <a16:rowId xmlns:a16="http://schemas.microsoft.com/office/drawing/2014/main" xmlns="" val="10003"/>
                  </a:ext>
                </a:extLst>
              </a:tr>
              <a:tr h="1614594">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工作職責</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gridSpan="3">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2000" u="none" strike="noStrike" cap="none" normalizeH="0" baseline="0" dirty="0">
                          <a:ln>
                            <a:noFill/>
                          </a:ln>
                          <a:effectLst/>
                        </a:rPr>
                        <a:t>1.</a:t>
                      </a:r>
                      <a:r>
                        <a:rPr kumimoji="0" lang="zh-TW" altLang="en-US" sz="2000" u="none" strike="noStrike" cap="none" normalizeH="0" baseline="0" dirty="0">
                          <a:ln>
                            <a:noFill/>
                          </a:ln>
                          <a:effectLst/>
                        </a:rPr>
                        <a:t>安全維護  </a:t>
                      </a:r>
                      <a:r>
                        <a:rPr kumimoji="0" lang="en-US" altLang="zh-TW" sz="2000" u="none" strike="noStrike" cap="none" normalizeH="0" baseline="0" dirty="0">
                          <a:ln>
                            <a:noFill/>
                          </a:ln>
                          <a:effectLst/>
                        </a:rPr>
                        <a:t>2.</a:t>
                      </a:r>
                      <a:r>
                        <a:rPr kumimoji="0" lang="zh-TW" altLang="en-US" sz="2000" u="none" strike="noStrike" cap="none" normalizeH="0" baseline="0" dirty="0">
                          <a:ln>
                            <a:noFill/>
                          </a:ln>
                          <a:effectLst/>
                        </a:rPr>
                        <a:t>門禁管理  </a:t>
                      </a:r>
                      <a:r>
                        <a:rPr kumimoji="0" lang="en-US" altLang="zh-TW" sz="2000" u="none" strike="noStrike" cap="none" normalizeH="0" baseline="0" dirty="0">
                          <a:ln>
                            <a:noFill/>
                          </a:ln>
                          <a:effectLst/>
                        </a:rPr>
                        <a:t>3.</a:t>
                      </a:r>
                      <a:r>
                        <a:rPr kumimoji="0" lang="zh-TW" altLang="en-US" sz="2000" u="none" strike="noStrike" cap="none" normalizeH="0" baseline="0" dirty="0">
                          <a:ln>
                            <a:noFill/>
                          </a:ln>
                          <a:effectLst/>
                        </a:rPr>
                        <a:t>社區巡邏 </a:t>
                      </a:r>
                      <a:endParaRPr kumimoji="0" lang="en-US" altLang="zh-TW" sz="200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2000" u="none" strike="noStrike" cap="none" normalizeH="0" baseline="0" dirty="0">
                          <a:ln>
                            <a:noFill/>
                          </a:ln>
                          <a:effectLst/>
                        </a:rPr>
                        <a:t>4.</a:t>
                      </a:r>
                      <a:r>
                        <a:rPr kumimoji="0" lang="zh-TW" altLang="en-US" sz="2000" u="none" strike="noStrike" cap="none" normalizeH="0" baseline="0" dirty="0">
                          <a:ln>
                            <a:noFill/>
                          </a:ln>
                          <a:effectLst/>
                        </a:rPr>
                        <a:t>防災準備  </a:t>
                      </a:r>
                      <a:r>
                        <a:rPr kumimoji="0" lang="en-US" altLang="zh-TW" sz="2000" u="none" strike="noStrike" cap="none" normalizeH="0" baseline="0" dirty="0">
                          <a:ln>
                            <a:noFill/>
                          </a:ln>
                          <a:effectLst/>
                        </a:rPr>
                        <a:t>5.</a:t>
                      </a:r>
                      <a:r>
                        <a:rPr kumimoji="0" lang="zh-TW" altLang="en-US" sz="2000" u="none" strike="noStrike" cap="none" normalizeH="0" baseline="0" dirty="0">
                          <a:ln>
                            <a:noFill/>
                          </a:ln>
                          <a:effectLst/>
                        </a:rPr>
                        <a:t>車場管理  </a:t>
                      </a:r>
                      <a:r>
                        <a:rPr kumimoji="0" lang="en-US" altLang="zh-TW" sz="2000" u="none" strike="noStrike" cap="none" normalizeH="0" baseline="0" dirty="0">
                          <a:ln>
                            <a:noFill/>
                          </a:ln>
                          <a:effectLst/>
                        </a:rPr>
                        <a:t>6.</a:t>
                      </a:r>
                      <a:r>
                        <a:rPr kumimoji="0" lang="zh-TW" altLang="en-US" sz="2000" u="none" strike="noStrike" cap="none" normalizeH="0" baseline="0" dirty="0">
                          <a:ln>
                            <a:noFill/>
                          </a:ln>
                          <a:effectLst/>
                        </a:rPr>
                        <a:t>燈火管理</a:t>
                      </a:r>
                      <a:endParaRPr kumimoji="0" lang="en-US" altLang="zh-TW" sz="200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2000" u="none" strike="noStrike" cap="none" normalizeH="0" baseline="0" dirty="0">
                          <a:ln>
                            <a:noFill/>
                          </a:ln>
                          <a:effectLst/>
                        </a:rPr>
                        <a:t>7.</a:t>
                      </a:r>
                      <a:r>
                        <a:rPr kumimoji="0" lang="zh-TW" altLang="en-US" sz="2000" u="none" strike="noStrike" cap="none" normalizeH="0" baseline="0" dirty="0">
                          <a:ln>
                            <a:noFill/>
                          </a:ln>
                          <a:effectLst/>
                        </a:rPr>
                        <a:t>庶務作業  </a:t>
                      </a:r>
                      <a:r>
                        <a:rPr kumimoji="0" lang="en-US" altLang="zh-TW" sz="2000" u="none" strike="noStrike" cap="none" normalizeH="0" baseline="0" dirty="0">
                          <a:ln>
                            <a:noFill/>
                          </a:ln>
                          <a:effectLst/>
                        </a:rPr>
                        <a:t>8.</a:t>
                      </a:r>
                      <a:r>
                        <a:rPr kumimoji="0" lang="zh-TW" altLang="en-US" sz="2000" u="none" strike="noStrike" cap="none" normalizeH="0" baseline="0" dirty="0">
                          <a:ln>
                            <a:noFill/>
                          </a:ln>
                          <a:effectLst/>
                        </a:rPr>
                        <a:t>緊急應變</a:t>
                      </a:r>
                      <a:endParaRPr kumimoji="0" lang="zh-TW" altLang="en-US" sz="20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xmlns="" val="10004"/>
                  </a:ext>
                </a:extLst>
              </a:tr>
              <a:tr h="830451">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儀態要求</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gridSpan="3">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2000" u="none" strike="noStrike" cap="none" normalizeH="0" baseline="0" dirty="0">
                          <a:ln>
                            <a:noFill/>
                          </a:ln>
                          <a:effectLst/>
                        </a:rPr>
                        <a:t>1.</a:t>
                      </a:r>
                      <a:r>
                        <a:rPr kumimoji="0" lang="zh-TW" altLang="en-US" sz="2000" u="none" strike="noStrike" cap="none" normalizeH="0" baseline="0" dirty="0">
                          <a:ln>
                            <a:noFill/>
                          </a:ln>
                          <a:effectLst/>
                        </a:rPr>
                        <a:t>溫和有禮、機警、靈敏、配合度佳。</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2000" u="none" strike="noStrike" cap="none" normalizeH="0" baseline="0" dirty="0">
                          <a:ln>
                            <a:noFill/>
                          </a:ln>
                          <a:solidFill>
                            <a:srgbClr val="FF0000"/>
                          </a:solidFill>
                          <a:effectLst/>
                        </a:rPr>
                        <a:t>2.</a:t>
                      </a:r>
                      <a:r>
                        <a:rPr kumimoji="0" lang="zh-TW" altLang="en-US" sz="2000" u="none" strike="noStrike" cap="none" normalizeH="0" baseline="0" dirty="0">
                          <a:ln>
                            <a:noFill/>
                          </a:ln>
                          <a:solidFill>
                            <a:srgbClr val="FF0000"/>
                          </a:solidFill>
                          <a:effectLst/>
                        </a:rPr>
                        <a:t>身高</a:t>
                      </a:r>
                      <a:r>
                        <a:rPr kumimoji="0" lang="en-US" altLang="zh-TW" sz="2000" u="none" strike="noStrike" cap="none" normalizeH="0" baseline="0" dirty="0" smtClean="0">
                          <a:ln>
                            <a:noFill/>
                          </a:ln>
                          <a:solidFill>
                            <a:srgbClr val="FF0000"/>
                          </a:solidFill>
                          <a:effectLst/>
                        </a:rPr>
                        <a:t>165</a:t>
                      </a:r>
                      <a:r>
                        <a:rPr kumimoji="0" lang="zh-TW" altLang="en-US" sz="2000" u="none" strike="noStrike" cap="none" normalizeH="0" baseline="0" dirty="0" smtClean="0">
                          <a:ln>
                            <a:noFill/>
                          </a:ln>
                          <a:solidFill>
                            <a:srgbClr val="FF0000"/>
                          </a:solidFill>
                          <a:effectLst/>
                        </a:rPr>
                        <a:t>公分</a:t>
                      </a:r>
                      <a:r>
                        <a:rPr kumimoji="0" lang="zh-TW" altLang="en-US" sz="2000" u="none" strike="noStrike" cap="none" normalizeH="0" baseline="0" dirty="0">
                          <a:ln>
                            <a:noFill/>
                          </a:ln>
                          <a:solidFill>
                            <a:srgbClr val="FF0000"/>
                          </a:solidFill>
                          <a:effectLst/>
                        </a:rPr>
                        <a:t>以上。</a:t>
                      </a:r>
                      <a:endParaRPr kumimoji="0" lang="zh-TW" altLang="en-US" sz="2000" b="0" i="0" u="none" strike="noStrike" cap="none" normalizeH="0" baseline="0" dirty="0">
                        <a:ln>
                          <a:noFill/>
                        </a:ln>
                        <a:solidFill>
                          <a:srgbClr val="FF000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xmlns="" val="10005"/>
                  </a:ext>
                </a:extLst>
              </a:tr>
            </a:tbl>
          </a:graphicData>
        </a:graphic>
      </p:graphicFrame>
      <p:pic>
        <p:nvPicPr>
          <p:cNvPr id="111655" name="Picture 42" descr="\\A-s6jw4x7y9lv85\E\企劃\齊家物業\齊家製作物\簡報企劃書用\業務簡報2012版\DSCF0398.JPG"/>
          <p:cNvPicPr>
            <a:picLocks noChangeAspect="1" noChangeArrowheads="1"/>
          </p:cNvPicPr>
          <p:nvPr/>
        </p:nvPicPr>
        <p:blipFill>
          <a:blip r:embed="rId2" cstate="print"/>
          <a:srcRect/>
          <a:stretch>
            <a:fillRect/>
          </a:stretch>
        </p:blipFill>
        <p:spPr bwMode="auto">
          <a:xfrm>
            <a:off x="323528" y="4149080"/>
            <a:ext cx="1836752" cy="1224136"/>
          </a:xfrm>
          <a:prstGeom prst="rect">
            <a:avLst/>
          </a:prstGeom>
          <a:ln>
            <a:noFill/>
          </a:ln>
          <a:effectLst>
            <a:softEdge rad="112500"/>
          </a:effectLst>
        </p:spPr>
      </p:pic>
      <p:pic>
        <p:nvPicPr>
          <p:cNvPr id="10" name="圖片 9" descr="齊家精緻物業logo.tif"/>
          <p:cNvPicPr>
            <a:picLocks noChangeAspect="1"/>
          </p:cNvPicPr>
          <p:nvPr/>
        </p:nvPicPr>
        <p:blipFill>
          <a:blip r:embed="rId3" cstate="print"/>
          <a:stretch>
            <a:fillRect/>
          </a:stretch>
        </p:blipFill>
        <p:spPr>
          <a:xfrm>
            <a:off x="3549905" y="6093296"/>
            <a:ext cx="2030207" cy="576064"/>
          </a:xfrm>
          <a:prstGeom prst="rect">
            <a:avLst/>
          </a:prstGeom>
        </p:spPr>
      </p:pic>
      <p:sp>
        <p:nvSpPr>
          <p:cNvPr id="12" name="矩形 11"/>
          <p:cNvSpPr/>
          <p:nvPr/>
        </p:nvSpPr>
        <p:spPr>
          <a:xfrm>
            <a:off x="1187624" y="548680"/>
            <a:ext cx="615553" cy="3600400"/>
          </a:xfrm>
          <a:prstGeom prst="rect">
            <a:avLst/>
          </a:prstGeom>
        </p:spPr>
        <p:txBody>
          <a:bodyPr vert="eaVert" wrap="square">
            <a:spAutoFit/>
          </a:bodyPr>
          <a:lstStyle/>
          <a:p>
            <a:pPr algn="ctr">
              <a:buNone/>
            </a:pPr>
            <a:r>
              <a:rPr lang="zh-TW" altLang="en-US" sz="2800" b="1" dirty="0">
                <a:solidFill>
                  <a:srgbClr val="224624"/>
                </a:solidFill>
                <a:latin typeface="微軟正黑體" pitchFamily="34" charset="-120"/>
                <a:ea typeface="微軟正黑體" pitchFamily="34" charset="-120"/>
              </a:rPr>
              <a:t>社區安</a:t>
            </a:r>
            <a:r>
              <a:rPr lang="zh-TW" altLang="en-US" sz="2800" b="1" dirty="0" smtClean="0">
                <a:solidFill>
                  <a:srgbClr val="224624"/>
                </a:solidFill>
                <a:latin typeface="微軟正黑體" pitchFamily="34" charset="-120"/>
                <a:ea typeface="微軟正黑體" pitchFamily="34" charset="-120"/>
              </a:rPr>
              <a:t>管組  </a:t>
            </a:r>
            <a:r>
              <a:rPr lang="zh-TW" altLang="en-US" sz="2800" b="1" dirty="0">
                <a:solidFill>
                  <a:srgbClr val="224624"/>
                </a:solidFill>
                <a:latin typeface="微軟正黑體" pitchFamily="34" charset="-120"/>
                <a:ea typeface="微軟正黑體" pitchFamily="34" charset="-120"/>
              </a:rPr>
              <a:t>任職條件</a:t>
            </a:r>
          </a:p>
        </p:txBody>
      </p:sp>
    </p:spTree>
  </p:cSld>
  <p:clrMapOvr>
    <a:masterClrMapping/>
  </p:clrMapOvr>
  <p:transition spd="med">
    <p:randomBar dir="vert"/>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標題 1">
            <a:extLst>
              <a:ext uri="{FF2B5EF4-FFF2-40B4-BE49-F238E27FC236}">
                <a16:creationId xmlns:a16="http://schemas.microsoft.com/office/drawing/2014/main" xmlns="" id="{85AB7B70-A744-4E6C-8A9A-E04797655939}"/>
              </a:ext>
            </a:extLst>
          </p:cNvPr>
          <p:cNvSpPr txBox="1">
            <a:spLocks/>
          </p:cNvSpPr>
          <p:nvPr/>
        </p:nvSpPr>
        <p:spPr>
          <a:xfrm>
            <a:off x="2643174" y="214291"/>
            <a:ext cx="6143636" cy="1143000"/>
          </a:xfrm>
          <a:prstGeom prst="rect">
            <a:avLst/>
          </a:prstGeom>
        </p:spPr>
        <p:txBody>
          <a:bodyPr>
            <a:noAutofit/>
          </a:bodyPr>
          <a:lstStyle/>
          <a:p>
            <a:pPr lvl="0" algn="r">
              <a:spcBef>
                <a:spcPct val="0"/>
              </a:spcBef>
              <a:defRPr/>
            </a:pPr>
            <a:endParaRPr kumimoji="0" lang="zh-TW" altLang="en-US" sz="3200" b="0" i="0" u="none" strike="noStrike" kern="1200" cap="none" spc="0" normalizeH="0" baseline="0" noProof="0" dirty="0">
              <a:ln>
                <a:noFill/>
              </a:ln>
              <a:solidFill>
                <a:schemeClr val="tx1"/>
              </a:solidFill>
              <a:effectLst>
                <a:glow rad="101600">
                  <a:schemeClr val="tx1">
                    <a:alpha val="60000"/>
                  </a:schemeClr>
                </a:glow>
                <a:outerShdw blurRad="50800" dist="38100" dir="2700000" algn="tl" rotWithShape="0">
                  <a:prstClr val="black">
                    <a:alpha val="40000"/>
                  </a:prstClr>
                </a:outerShdw>
              </a:effectLst>
              <a:uLnTx/>
              <a:uFillTx/>
              <a:latin typeface="Adobe 黑体 Std R" pitchFamily="34" charset="-128"/>
              <a:ea typeface="Adobe 黑体 Std R" pitchFamily="34" charset="-128"/>
              <a:cs typeface="+mj-cs"/>
            </a:endParaRPr>
          </a:p>
        </p:txBody>
      </p:sp>
      <p:sp>
        <p:nvSpPr>
          <p:cNvPr id="10" name="矩形 9">
            <a:extLst>
              <a:ext uri="{FF2B5EF4-FFF2-40B4-BE49-F238E27FC236}">
                <a16:creationId xmlns:a16="http://schemas.microsoft.com/office/drawing/2014/main" xmlns="" id="{8C9F726F-A957-4602-8C15-79669BCDB70C}"/>
              </a:ext>
            </a:extLst>
          </p:cNvPr>
          <p:cNvSpPr/>
          <p:nvPr/>
        </p:nvSpPr>
        <p:spPr>
          <a:xfrm>
            <a:off x="2699792" y="0"/>
            <a:ext cx="6215106" cy="307777"/>
          </a:xfrm>
          <a:prstGeom prst="rect">
            <a:avLst/>
          </a:prstGeom>
        </p:spPr>
        <p:txBody>
          <a:bodyPr wrap="square">
            <a:spAutoFit/>
          </a:bodyPr>
          <a:lstStyle/>
          <a:p>
            <a:pPr algn="r"/>
            <a:r>
              <a:rPr lang="zh-TW" altLang="en-US" sz="1400" dirty="0">
                <a:solidFill>
                  <a:schemeClr val="tx2">
                    <a:lumMod val="75000"/>
                  </a:schemeClr>
                </a:solidFill>
              </a:rPr>
              <a:t>您家園安全的第一關卡，我們已為您嚴格把關。</a:t>
            </a:r>
          </a:p>
        </p:txBody>
      </p:sp>
      <p:graphicFrame>
        <p:nvGraphicFramePr>
          <p:cNvPr id="12" name="資料庫圖表 11">
            <a:extLst>
              <a:ext uri="{FF2B5EF4-FFF2-40B4-BE49-F238E27FC236}">
                <a16:creationId xmlns:a16="http://schemas.microsoft.com/office/drawing/2014/main" xmlns="" id="{BDA68A95-8106-436B-BD82-BC6F872DFD16}"/>
              </a:ext>
            </a:extLst>
          </p:cNvPr>
          <p:cNvGraphicFramePr/>
          <p:nvPr/>
        </p:nvGraphicFramePr>
        <p:xfrm>
          <a:off x="2699792" y="404664"/>
          <a:ext cx="6120680" cy="5648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矩形 12">
            <a:extLst>
              <a:ext uri="{FF2B5EF4-FFF2-40B4-BE49-F238E27FC236}">
                <a16:creationId xmlns:a16="http://schemas.microsoft.com/office/drawing/2014/main" xmlns="" id="{1D194E3A-F13B-413A-BF2A-B4E0400291E8}"/>
              </a:ext>
            </a:extLst>
          </p:cNvPr>
          <p:cNvSpPr/>
          <p:nvPr/>
        </p:nvSpPr>
        <p:spPr>
          <a:xfrm>
            <a:off x="2195736" y="6566610"/>
            <a:ext cx="5616624" cy="307777"/>
          </a:xfrm>
          <a:prstGeom prst="rect">
            <a:avLst/>
          </a:prstGeom>
        </p:spPr>
        <p:txBody>
          <a:bodyPr wrap="square">
            <a:spAutoFit/>
          </a:bodyPr>
          <a:lstStyle/>
          <a:p>
            <a:pPr fontAlgn="auto">
              <a:spcBef>
                <a:spcPts val="0"/>
              </a:spcBef>
              <a:spcAft>
                <a:spcPts val="0"/>
              </a:spcAft>
              <a:defRPr/>
            </a:pPr>
            <a:r>
              <a:rPr lang="zh-TW" altLang="en-US" sz="1400" dirty="0">
                <a:solidFill>
                  <a:schemeClr val="tx1">
                    <a:lumMod val="85000"/>
                    <a:lumOff val="15000"/>
                  </a:schemeClr>
                </a:solidFill>
                <a:latin typeface="微軟正黑體" pitchFamily="34" charset="-120"/>
                <a:ea typeface="微軟正黑體" pitchFamily="34" charset="-120"/>
              </a:rPr>
              <a:t>「居處恭、執事敬，與人忠、用意誠，至於四方不可棄也。」</a:t>
            </a:r>
            <a:r>
              <a:rPr lang="en-US" altLang="zh-TW" sz="1400" dirty="0">
                <a:solidFill>
                  <a:schemeClr val="tx1">
                    <a:lumMod val="85000"/>
                    <a:lumOff val="15000"/>
                  </a:schemeClr>
                </a:solidFill>
                <a:latin typeface="微軟正黑體" pitchFamily="34" charset="-120"/>
                <a:ea typeface="微軟正黑體" pitchFamily="34" charset="-120"/>
              </a:rPr>
              <a:t>- </a:t>
            </a:r>
            <a:r>
              <a:rPr lang="zh-TW" altLang="en-US" sz="1400" dirty="0">
                <a:solidFill>
                  <a:schemeClr val="tx1">
                    <a:lumMod val="85000"/>
                    <a:lumOff val="15000"/>
                  </a:schemeClr>
                </a:solidFill>
                <a:latin typeface="微軟正黑體" pitchFamily="34" charset="-120"/>
                <a:ea typeface="微軟正黑體" pitchFamily="34" charset="-120"/>
              </a:rPr>
              <a:t>論語</a:t>
            </a:r>
          </a:p>
        </p:txBody>
      </p:sp>
      <p:pic>
        <p:nvPicPr>
          <p:cNvPr id="16" name="圖片 15" descr="簡報封面-1-02.png">
            <a:extLst>
              <a:ext uri="{FF2B5EF4-FFF2-40B4-BE49-F238E27FC236}">
                <a16:creationId xmlns:a16="http://schemas.microsoft.com/office/drawing/2014/main" xmlns="" id="{994EA402-9395-4115-8F0F-D25E74CA0010}"/>
              </a:ext>
            </a:extLst>
          </p:cNvPr>
          <p:cNvPicPr>
            <a:picLocks noChangeAspect="1"/>
          </p:cNvPicPr>
          <p:nvPr/>
        </p:nvPicPr>
        <p:blipFill>
          <a:blip r:embed="rId6" cstate="print"/>
          <a:stretch>
            <a:fillRect/>
          </a:stretch>
        </p:blipFill>
        <p:spPr>
          <a:xfrm>
            <a:off x="467545" y="6309320"/>
            <a:ext cx="1348484" cy="396000"/>
          </a:xfrm>
          <a:prstGeom prst="rect">
            <a:avLst/>
          </a:prstGeom>
        </p:spPr>
      </p:pic>
      <p:sp>
        <p:nvSpPr>
          <p:cNvPr id="17" name="文字方塊 16">
            <a:extLst>
              <a:ext uri="{FF2B5EF4-FFF2-40B4-BE49-F238E27FC236}">
                <a16:creationId xmlns:a16="http://schemas.microsoft.com/office/drawing/2014/main" xmlns="" id="{B912E117-09D5-4DAD-8F78-E4860D401AF1}"/>
              </a:ext>
            </a:extLst>
          </p:cNvPr>
          <p:cNvSpPr txBox="1"/>
          <p:nvPr/>
        </p:nvSpPr>
        <p:spPr>
          <a:xfrm>
            <a:off x="2483768" y="428604"/>
            <a:ext cx="6192688" cy="5991384"/>
          </a:xfrm>
          <a:prstGeom prst="rect">
            <a:avLst/>
          </a:prstGeom>
          <a:noFill/>
        </p:spPr>
        <p:txBody>
          <a:bodyPr wrap="square" rtlCol="0">
            <a:spAutoFit/>
          </a:bodyPr>
          <a:lstStyle/>
          <a:p>
            <a:pPr>
              <a:lnSpc>
                <a:spcPts val="2000"/>
              </a:lnSpc>
              <a:spcAft>
                <a:spcPts val="0"/>
              </a:spcAft>
            </a:pPr>
            <a:r>
              <a:rPr lang="zh-TW" altLang="en-US" sz="2800" b="1" kern="100" dirty="0">
                <a:latin typeface="Calibri" panose="020F0502020204030204" pitchFamily="34" charset="0"/>
                <a:ea typeface="標楷體" panose="03000509000000000000" pitchFamily="65" charset="-120"/>
                <a:cs typeface="Times New Roman" panose="02020603050405020304" pitchFamily="18" charset="0"/>
              </a:rPr>
              <a:t>社區警衛</a:t>
            </a:r>
            <a:r>
              <a:rPr lang="zh-TW" altLang="zh-TW" sz="2800" b="1" kern="100" dirty="0" smtClean="0">
                <a:latin typeface="Calibri" panose="020F0502020204030204" pitchFamily="34" charset="0"/>
                <a:ea typeface="標楷體" panose="03000509000000000000" pitchFamily="65" charset="-120"/>
                <a:cs typeface="Times New Roman" panose="02020603050405020304" pitchFamily="18" charset="0"/>
              </a:rPr>
              <a:t>保全</a:t>
            </a:r>
            <a:r>
              <a:rPr lang="zh-TW" altLang="en-US" sz="2800" b="1" kern="100" dirty="0" smtClean="0">
                <a:latin typeface="Calibri" panose="020F0502020204030204" pitchFamily="34" charset="0"/>
                <a:ea typeface="標楷體" panose="03000509000000000000" pitchFamily="65" charset="-120"/>
                <a:cs typeface="Times New Roman" panose="02020603050405020304" pitchFamily="18" charset="0"/>
              </a:rPr>
              <a:t>組</a:t>
            </a:r>
            <a:endParaRPr lang="en-US" altLang="zh-TW" sz="2800" b="1" kern="100" dirty="0">
              <a:latin typeface="Calibri" panose="020F0502020204030204" pitchFamily="34" charset="0"/>
              <a:ea typeface="標楷體" panose="03000509000000000000" pitchFamily="65" charset="-120"/>
              <a:cs typeface="Times New Roman" panose="02020603050405020304" pitchFamily="18" charset="0"/>
            </a:endParaRPr>
          </a:p>
          <a:p>
            <a:pPr>
              <a:lnSpc>
                <a:spcPts val="2000"/>
              </a:lnSpc>
              <a:spcAft>
                <a:spcPts val="0"/>
              </a:spcAft>
            </a:pPr>
            <a:endParaRPr lang="zh-TW" altLang="zh-TW" sz="2000" kern="100" dirty="0">
              <a:latin typeface="Calibri" panose="020F0502020204030204" pitchFamily="34" charset="0"/>
              <a:ea typeface="新細明體" panose="02020500000000000000" pitchFamily="18" charset="-120"/>
              <a:cs typeface="Times New Roman" panose="02020603050405020304" pitchFamily="18" charset="0"/>
            </a:endParaRPr>
          </a:p>
          <a:p>
            <a:pPr>
              <a:lnSpc>
                <a:spcPts val="2000"/>
              </a:lnSpc>
              <a:spcAft>
                <a:spcPts val="0"/>
              </a:spcAft>
            </a:pPr>
            <a:r>
              <a:rPr lang="zh-TW" altLang="zh-TW" sz="2400" kern="100" dirty="0">
                <a:latin typeface="標楷體" panose="03000509000000000000" pitchFamily="65" charset="-120"/>
                <a:ea typeface="標楷體" panose="03000509000000000000" pitchFamily="65" charset="-120"/>
                <a:cs typeface="Times New Roman" panose="02020603050405020304" pitchFamily="18" charset="0"/>
              </a:rPr>
              <a:t>工作職掌：</a:t>
            </a:r>
          </a:p>
          <a:p>
            <a:pPr marL="342900" lvl="0" indent="-342900">
              <a:lnSpc>
                <a:spcPts val="2000"/>
              </a:lnSpc>
              <a:spcAft>
                <a:spcPts val="0"/>
              </a:spcAft>
              <a:buFont typeface="+mj-lt"/>
              <a:buAutoNum type="arabicPeriod"/>
            </a:pPr>
            <a:r>
              <a:rPr lang="zh-TW" altLang="zh-TW" sz="2400" kern="100" dirty="0">
                <a:latin typeface="標楷體" panose="03000509000000000000" pitchFamily="65" charset="-120"/>
                <a:ea typeface="標楷體" panose="03000509000000000000" pitchFamily="65" charset="-120"/>
                <a:cs typeface="Times New Roman" panose="02020603050405020304" pitchFamily="18" charset="0"/>
              </a:rPr>
              <a:t>保持態度良好並注意禮貌。</a:t>
            </a:r>
          </a:p>
          <a:p>
            <a:pPr marL="342900" lvl="0" indent="-342900">
              <a:lnSpc>
                <a:spcPts val="2000"/>
              </a:lnSpc>
              <a:spcAft>
                <a:spcPts val="0"/>
              </a:spcAft>
              <a:buFont typeface="+mj-lt"/>
              <a:buAutoNum type="arabicPeriod"/>
            </a:pPr>
            <a:r>
              <a:rPr lang="zh-TW" altLang="zh-TW" sz="2400" kern="100" dirty="0">
                <a:latin typeface="標楷體" panose="03000509000000000000" pitchFamily="65" charset="-120"/>
                <a:ea typeface="標楷體" panose="03000509000000000000" pitchFamily="65" charset="-120"/>
                <a:cs typeface="Times New Roman" panose="02020603050405020304" pitchFamily="18" charset="0"/>
              </a:rPr>
              <a:t>來賓換證。</a:t>
            </a:r>
          </a:p>
          <a:p>
            <a:pPr marL="342900" lvl="0" indent="-342900">
              <a:lnSpc>
                <a:spcPts val="2000"/>
              </a:lnSpc>
              <a:spcAft>
                <a:spcPts val="0"/>
              </a:spcAft>
              <a:buFont typeface="+mj-lt"/>
              <a:buAutoNum type="arabicPeriod"/>
            </a:pPr>
            <a:r>
              <a:rPr lang="zh-TW" altLang="zh-TW" sz="2400" kern="100" dirty="0">
                <a:latin typeface="標楷體" panose="03000509000000000000" pitchFamily="65" charset="-120"/>
                <a:ea typeface="標楷體" panose="03000509000000000000" pitchFamily="65" charset="-120"/>
                <a:cs typeface="Times New Roman" panose="02020603050405020304" pitchFamily="18" charset="0"/>
              </a:rPr>
              <a:t>車輛進出時需執行交管工作，維持交通安全。</a:t>
            </a:r>
          </a:p>
          <a:p>
            <a:pPr marL="342900" lvl="0" indent="-342900">
              <a:lnSpc>
                <a:spcPts val="2000"/>
              </a:lnSpc>
              <a:spcAft>
                <a:spcPts val="0"/>
              </a:spcAft>
              <a:buFont typeface="+mj-lt"/>
              <a:buAutoNum type="arabicPeriod"/>
            </a:pPr>
            <a:r>
              <a:rPr lang="zh-TW" altLang="zh-TW" sz="2400" kern="100" dirty="0">
                <a:latin typeface="標楷體" panose="03000509000000000000" pitchFamily="65" charset="-120"/>
                <a:ea typeface="標楷體" panose="03000509000000000000" pitchFamily="65" charset="-120"/>
                <a:cs typeface="Times New Roman" panose="02020603050405020304" pitchFamily="18" charset="0"/>
              </a:rPr>
              <a:t>上下班時間於車道口交通指揮及疏導行車秩序維持。</a:t>
            </a:r>
          </a:p>
          <a:p>
            <a:pPr marL="342900" lvl="0" indent="-342900">
              <a:lnSpc>
                <a:spcPts val="2000"/>
              </a:lnSpc>
              <a:spcAft>
                <a:spcPts val="0"/>
              </a:spcAft>
              <a:buFont typeface="+mj-lt"/>
              <a:buAutoNum type="arabicPeriod"/>
            </a:pPr>
            <a:r>
              <a:rPr lang="zh-TW" altLang="zh-TW" sz="2400" kern="100" dirty="0">
                <a:latin typeface="標楷體" panose="03000509000000000000" pitchFamily="65" charset="-120"/>
                <a:ea typeface="標楷體" panose="03000509000000000000" pitchFamily="65" charset="-120"/>
                <a:cs typeface="Times New Roman" panose="02020603050405020304" pitchFamily="18" charset="0"/>
              </a:rPr>
              <a:t>往地下停車場斜坡車道嚴禁行人通行。</a:t>
            </a:r>
          </a:p>
          <a:p>
            <a:pPr marL="342900" lvl="0" indent="-342900">
              <a:lnSpc>
                <a:spcPts val="2000"/>
              </a:lnSpc>
              <a:spcAft>
                <a:spcPts val="0"/>
              </a:spcAft>
              <a:buFont typeface="+mj-lt"/>
              <a:buAutoNum type="arabicPeriod"/>
            </a:pPr>
            <a:r>
              <a:rPr lang="zh-TW" altLang="zh-TW" sz="2400" kern="100" dirty="0">
                <a:latin typeface="標楷體" panose="03000509000000000000" pitchFamily="65" charset="-120"/>
                <a:ea typeface="標楷體" panose="03000509000000000000" pitchFamily="65" charset="-120"/>
                <a:cs typeface="Times New Roman" panose="02020603050405020304" pitchFamily="18" charset="0"/>
              </a:rPr>
              <a:t>車輛通道嚴禁任意推放雜物或停放車輛。</a:t>
            </a:r>
          </a:p>
          <a:p>
            <a:pPr marL="342900" lvl="0" indent="-342900">
              <a:lnSpc>
                <a:spcPts val="2000"/>
              </a:lnSpc>
              <a:spcAft>
                <a:spcPts val="0"/>
              </a:spcAft>
              <a:buFont typeface="+mj-lt"/>
              <a:buAutoNum type="arabicPeriod"/>
            </a:pPr>
            <a:r>
              <a:rPr lang="zh-TW" altLang="zh-TW" sz="2400" kern="100" dirty="0">
                <a:latin typeface="標楷體" panose="03000509000000000000" pitchFamily="65" charset="-120"/>
                <a:ea typeface="標楷體" panose="03000509000000000000" pitchFamily="65" charset="-120"/>
                <a:cs typeface="Times New Roman" panose="02020603050405020304" pitchFamily="18" charset="0"/>
              </a:rPr>
              <a:t>嚴禁車輛載運危險物品及易燃物等進入停車場。</a:t>
            </a:r>
          </a:p>
          <a:p>
            <a:pPr marL="342900" lvl="0" indent="-342900">
              <a:lnSpc>
                <a:spcPts val="2000"/>
              </a:lnSpc>
              <a:spcAft>
                <a:spcPts val="0"/>
              </a:spcAft>
              <a:buFont typeface="+mj-lt"/>
              <a:buAutoNum type="arabicPeriod"/>
            </a:pPr>
            <a:r>
              <a:rPr lang="zh-TW" altLang="zh-TW" sz="2400" kern="100" dirty="0">
                <a:latin typeface="標楷體" panose="03000509000000000000" pitchFamily="65" charset="-120"/>
                <a:ea typeface="標楷體" panose="03000509000000000000" pitchFamily="65" charset="-120"/>
                <a:cs typeface="Times New Roman" panose="02020603050405020304" pitchFamily="18" charset="0"/>
              </a:rPr>
              <a:t>注意車輛高度，避免超高車輛進入破壞硬體設備。</a:t>
            </a:r>
          </a:p>
          <a:p>
            <a:pPr marL="342900" lvl="0" indent="-342900">
              <a:lnSpc>
                <a:spcPts val="2000"/>
              </a:lnSpc>
              <a:spcAft>
                <a:spcPts val="0"/>
              </a:spcAft>
              <a:buFont typeface="+mj-lt"/>
              <a:buAutoNum type="arabicPeriod"/>
            </a:pPr>
            <a:r>
              <a:rPr lang="zh-TW" altLang="zh-TW" sz="2400" kern="100" dirty="0">
                <a:latin typeface="標楷體" panose="03000509000000000000" pitchFamily="65" charset="-120"/>
                <a:ea typeface="標楷體" panose="03000509000000000000" pitchFamily="65" charset="-120"/>
                <a:cs typeface="Times New Roman" panose="02020603050405020304" pitchFamily="18" charset="0"/>
              </a:rPr>
              <a:t>隨時注意停車場入口是否有可疑人事物及車輛，必要時應詳加檢查。</a:t>
            </a:r>
          </a:p>
          <a:p>
            <a:pPr marL="342900" lvl="0" indent="-342900">
              <a:lnSpc>
                <a:spcPts val="2000"/>
              </a:lnSpc>
              <a:spcAft>
                <a:spcPts val="0"/>
              </a:spcAft>
              <a:buFont typeface="+mj-lt"/>
              <a:buAutoNum type="arabicPeriod"/>
            </a:pPr>
            <a:r>
              <a:rPr lang="zh-TW" altLang="zh-TW" sz="2400" kern="100" dirty="0">
                <a:latin typeface="標楷體" panose="03000509000000000000" pitchFamily="65" charset="-120"/>
                <a:ea typeface="標楷體" panose="03000509000000000000" pitchFamily="65" charset="-120"/>
                <a:cs typeface="Times New Roman" panose="02020603050405020304" pitchFamily="18" charset="0"/>
              </a:rPr>
              <a:t>突發狀況之處置及連絡，發現突發事變盡速通報</a:t>
            </a:r>
            <a:r>
              <a:rPr lang="en-US" altLang="zh-TW" sz="2400" kern="100" dirty="0">
                <a:latin typeface="標楷體" panose="03000509000000000000" pitchFamily="65" charset="-120"/>
                <a:ea typeface="標楷體" panose="03000509000000000000" pitchFamily="65" charset="-120"/>
                <a:cs typeface="Times New Roman" panose="02020603050405020304" pitchFamily="18" charset="0"/>
              </a:rPr>
              <a:t>110</a:t>
            </a:r>
            <a:r>
              <a:rPr lang="zh-TW" altLang="zh-TW" sz="2400" kern="100" dirty="0">
                <a:latin typeface="標楷體" panose="03000509000000000000" pitchFamily="65" charset="-120"/>
                <a:ea typeface="標楷體" panose="03000509000000000000" pitchFamily="65" charset="-120"/>
                <a:cs typeface="Times New Roman" panose="02020603050405020304" pitchFamily="18" charset="0"/>
              </a:rPr>
              <a:t>或</a:t>
            </a:r>
            <a:r>
              <a:rPr lang="en-US" altLang="zh-TW" sz="2400" kern="100" dirty="0">
                <a:latin typeface="標楷體" panose="03000509000000000000" pitchFamily="65" charset="-120"/>
                <a:ea typeface="標楷體" panose="03000509000000000000" pitchFamily="65" charset="-120"/>
                <a:cs typeface="Times New Roman" panose="02020603050405020304" pitchFamily="18" charset="0"/>
              </a:rPr>
              <a:t>119</a:t>
            </a:r>
            <a:r>
              <a:rPr lang="zh-TW" altLang="zh-TW" sz="2400" kern="100" dirty="0">
                <a:latin typeface="標楷體" panose="03000509000000000000" pitchFamily="65" charset="-120"/>
                <a:ea typeface="標楷體" panose="03000509000000000000" pitchFamily="65" charset="-120"/>
                <a:cs typeface="Times New Roman" panose="02020603050405020304" pitchFamily="18" charset="0"/>
              </a:rPr>
              <a:t>並回報管制中心及總幹事協助處理。</a:t>
            </a:r>
          </a:p>
          <a:p>
            <a:pPr marL="342900" lvl="0" indent="-342900">
              <a:lnSpc>
                <a:spcPts val="2000"/>
              </a:lnSpc>
              <a:spcAft>
                <a:spcPts val="0"/>
              </a:spcAft>
              <a:buFont typeface="+mj-lt"/>
              <a:buAutoNum type="arabicPeriod"/>
            </a:pPr>
            <a:r>
              <a:rPr lang="zh-TW" altLang="zh-TW" sz="2400" kern="100" dirty="0">
                <a:latin typeface="標楷體" panose="03000509000000000000" pitchFamily="65" charset="-120"/>
                <a:ea typeface="標楷體" panose="03000509000000000000" pitchFamily="65" charset="-120"/>
                <a:cs typeface="Times New Roman" panose="02020603050405020304" pitchFamily="18" charset="0"/>
              </a:rPr>
              <a:t>訪客登記及傳達並告知欲拜訪的樓層。</a:t>
            </a:r>
            <a:endParaRPr lang="en-US" altLang="zh-TW" sz="2400" kern="100" dirty="0">
              <a:latin typeface="標楷體" panose="03000509000000000000" pitchFamily="65" charset="-120"/>
              <a:ea typeface="標楷體" panose="03000509000000000000" pitchFamily="65" charset="-120"/>
              <a:cs typeface="Times New Roman" panose="02020603050405020304" pitchFamily="18" charset="0"/>
            </a:endParaRPr>
          </a:p>
          <a:p>
            <a:pPr marL="342900" lvl="0" indent="-342900">
              <a:lnSpc>
                <a:spcPts val="2000"/>
              </a:lnSpc>
              <a:spcAft>
                <a:spcPts val="0"/>
              </a:spcAft>
              <a:buFont typeface="+mj-lt"/>
              <a:buAutoNum type="arabicPeriod"/>
            </a:pPr>
            <a:r>
              <a:rPr lang="zh-TW" altLang="en-US" sz="2400" kern="100" dirty="0">
                <a:latin typeface="標楷體" panose="03000509000000000000" pitchFamily="65" charset="-120"/>
                <a:ea typeface="標楷體" panose="03000509000000000000" pitchFamily="65" charset="-120"/>
                <a:cs typeface="Times New Roman" panose="02020603050405020304" pitchFamily="18" charset="0"/>
              </a:rPr>
              <a:t>信件及包裏處理。</a:t>
            </a:r>
            <a:endParaRPr lang="zh-TW" altLang="zh-TW" sz="2400" kern="100" dirty="0">
              <a:latin typeface="標楷體" panose="03000509000000000000" pitchFamily="65" charset="-120"/>
              <a:ea typeface="標楷體" panose="03000509000000000000" pitchFamily="65" charset="-120"/>
              <a:cs typeface="Times New Roman" panose="02020603050405020304" pitchFamily="18" charset="0"/>
            </a:endParaRPr>
          </a:p>
          <a:p>
            <a:pPr marL="342900" lvl="0" indent="-342900">
              <a:lnSpc>
                <a:spcPts val="2000"/>
              </a:lnSpc>
              <a:spcAft>
                <a:spcPts val="0"/>
              </a:spcAft>
              <a:buFont typeface="+mj-lt"/>
              <a:buAutoNum type="arabicPeriod"/>
            </a:pPr>
            <a:r>
              <a:rPr lang="zh-TW" altLang="zh-TW" sz="2400" kern="100" dirty="0">
                <a:latin typeface="標楷體" panose="03000509000000000000" pitchFamily="65" charset="-120"/>
                <a:ea typeface="標楷體" panose="03000509000000000000" pitchFamily="65" charset="-120"/>
                <a:cs typeface="Times New Roman" panose="02020603050405020304" pitchFamily="18" charset="0"/>
              </a:rPr>
              <a:t>配合業主交辦事項之處理。</a:t>
            </a:r>
            <a:endParaRPr lang="zh-TW" altLang="zh-TW" sz="2400" kern="100" dirty="0">
              <a:effectLst/>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14" name="Picture 2" descr="C:\Users\User\AppData\Local\LINE\Cache\tmp\1554880017697.jpg">
            <a:extLst>
              <a:ext uri="{FF2B5EF4-FFF2-40B4-BE49-F238E27FC236}">
                <a16:creationId xmlns:a16="http://schemas.microsoft.com/office/drawing/2014/main" xmlns="" id="{A995E97D-79A1-4407-9967-66D0CDE94EFA}"/>
              </a:ext>
            </a:extLst>
          </p:cNvPr>
          <p:cNvPicPr>
            <a:picLocks noChangeAspect="1" noChangeArrowheads="1"/>
          </p:cNvPicPr>
          <p:nvPr/>
        </p:nvPicPr>
        <p:blipFill>
          <a:blip r:embed="rId7" cstate="print">
            <a:extLst>
              <a:ext uri="{28A0092B-C50C-407E-A947-70E740481C1C}">
                <a14:useLocalDpi xmlns="" xmlns:a14="http://schemas.microsoft.com/office/drawing/2010/main" val="0"/>
              </a:ext>
            </a:extLst>
          </a:blip>
          <a:srcRect/>
          <a:stretch>
            <a:fillRect/>
          </a:stretch>
        </p:blipFill>
        <p:spPr bwMode="auto">
          <a:xfrm>
            <a:off x="159776" y="236587"/>
            <a:ext cx="2179976" cy="1650874"/>
          </a:xfrm>
          <a:prstGeom prst="rect">
            <a:avLst/>
          </a:prstGeom>
          <a:ln>
            <a:noFill/>
          </a:ln>
          <a:effectLst>
            <a:softEdge rad="112500"/>
          </a:effectLst>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360840252"/>
      </p:ext>
    </p:extLst>
  </p:cSld>
  <p:clrMapOvr>
    <a:masterClrMapping/>
  </p:clrMapOvr>
  <p:transition advTm="300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2195" name="Group 51"/>
          <p:cNvGraphicFramePr>
            <a:graphicFrameLocks noGrp="1"/>
          </p:cNvGraphicFramePr>
          <p:nvPr>
            <p:extLst>
              <p:ext uri="{D42A27DB-BD31-4B8C-83A1-F6EECF244321}">
                <p14:modId xmlns="" xmlns:p14="http://schemas.microsoft.com/office/powerpoint/2010/main" val="1057348528"/>
              </p:ext>
            </p:extLst>
          </p:nvPr>
        </p:nvGraphicFramePr>
        <p:xfrm>
          <a:off x="2339753" y="548680"/>
          <a:ext cx="6048671" cy="5448334"/>
        </p:xfrm>
        <a:graphic>
          <a:graphicData uri="http://schemas.openxmlformats.org/drawingml/2006/table">
            <a:tbl>
              <a:tblPr>
                <a:tableStyleId>{3C2FFA5D-87B4-456A-9821-1D502468CF0F}</a:tableStyleId>
              </a:tblPr>
              <a:tblGrid>
                <a:gridCol w="1152127">
                  <a:extLst>
                    <a:ext uri="{9D8B030D-6E8A-4147-A177-3AD203B41FA5}">
                      <a16:colId xmlns:a16="http://schemas.microsoft.com/office/drawing/2014/main" xmlns="" val="20000"/>
                    </a:ext>
                  </a:extLst>
                </a:gridCol>
                <a:gridCol w="1224136">
                  <a:extLst>
                    <a:ext uri="{9D8B030D-6E8A-4147-A177-3AD203B41FA5}">
                      <a16:colId xmlns:a16="http://schemas.microsoft.com/office/drawing/2014/main" xmlns="" val="20001"/>
                    </a:ext>
                  </a:extLst>
                </a:gridCol>
                <a:gridCol w="1368152">
                  <a:extLst>
                    <a:ext uri="{9D8B030D-6E8A-4147-A177-3AD203B41FA5}">
                      <a16:colId xmlns:a16="http://schemas.microsoft.com/office/drawing/2014/main" xmlns="" val="20002"/>
                    </a:ext>
                  </a:extLst>
                </a:gridCol>
                <a:gridCol w="2304256">
                  <a:extLst>
                    <a:ext uri="{9D8B030D-6E8A-4147-A177-3AD203B41FA5}">
                      <a16:colId xmlns:a16="http://schemas.microsoft.com/office/drawing/2014/main" xmlns="" val="20003"/>
                    </a:ext>
                  </a:extLst>
                </a:gridCol>
              </a:tblGrid>
              <a:tr h="59786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職  稱</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a:ln>
                            <a:noFill/>
                          </a:ln>
                          <a:effectLst/>
                        </a:rPr>
                        <a:t>清潔人員</a:t>
                      </a:r>
                      <a:endParaRPr kumimoji="0" lang="zh-TW" altLang="en-US" sz="2000" b="0" i="0" u="none" strike="noStrike" cap="none" normalizeH="0" baseline="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體位要求</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effectLst/>
                        </a:rPr>
                        <a:t>健康正常</a:t>
                      </a:r>
                      <a:endParaRPr kumimoji="0" lang="zh-TW" altLang="en-US" sz="20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extLst>
                  <a:ext uri="{0D108BD9-81ED-4DB2-BD59-A6C34878D82A}">
                    <a16:rowId xmlns:a16="http://schemas.microsoft.com/office/drawing/2014/main" xmlns="" val="10000"/>
                  </a:ext>
                </a:extLst>
              </a:tr>
              <a:tr h="59786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人  力</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2000" u="none" strike="noStrike" cap="none" normalizeH="0" baseline="0" dirty="0" smtClean="0">
                          <a:ln>
                            <a:noFill/>
                          </a:ln>
                          <a:effectLst/>
                        </a:rPr>
                        <a:t>14</a:t>
                      </a:r>
                      <a:r>
                        <a:rPr kumimoji="0" lang="zh-TW" altLang="en-US" sz="2000" u="none" strike="noStrike" cap="none" normalizeH="0" baseline="0" dirty="0" smtClean="0">
                          <a:ln>
                            <a:noFill/>
                          </a:ln>
                          <a:effectLst/>
                        </a:rPr>
                        <a:t>人力</a:t>
                      </a:r>
                      <a:endParaRPr kumimoji="0" lang="zh-TW" altLang="en-US" sz="20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工作時間</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2000" u="none" strike="noStrike" cap="none" normalizeH="0" baseline="0" dirty="0" smtClean="0">
                          <a:ln>
                            <a:noFill/>
                          </a:ln>
                          <a:effectLst/>
                        </a:rPr>
                        <a:t>08:00~17:00/ 13:00~22:00</a:t>
                      </a:r>
                      <a:endParaRPr kumimoji="0" lang="zh-TW" altLang="en-US" sz="20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extLst>
                  <a:ext uri="{0D108BD9-81ED-4DB2-BD59-A6C34878D82A}">
                    <a16:rowId xmlns:a16="http://schemas.microsoft.com/office/drawing/2014/main" xmlns="" val="10001"/>
                  </a:ext>
                </a:extLst>
              </a:tr>
              <a:tr h="928009">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年齡限制</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2000" u="none" strike="noStrike" cap="none" normalizeH="0" baseline="0" dirty="0">
                          <a:ln>
                            <a:noFill/>
                          </a:ln>
                          <a:solidFill>
                            <a:srgbClr val="FF0000"/>
                          </a:solidFill>
                          <a:effectLst/>
                        </a:rPr>
                        <a:t>55</a:t>
                      </a:r>
                      <a:r>
                        <a:rPr kumimoji="0" lang="zh-TW" altLang="en-US" sz="2000" u="none" strike="noStrike" cap="none" normalizeH="0" baseline="0" dirty="0">
                          <a:ln>
                            <a:noFill/>
                          </a:ln>
                          <a:solidFill>
                            <a:srgbClr val="FF0000"/>
                          </a:solidFill>
                          <a:effectLst/>
                        </a:rPr>
                        <a:t>歲以下</a:t>
                      </a:r>
                      <a:endParaRPr kumimoji="0" lang="zh-TW" altLang="en-US" sz="2000" b="0" i="0" u="none" strike="noStrike" cap="none" normalizeH="0" baseline="0" dirty="0">
                        <a:ln>
                          <a:noFill/>
                        </a:ln>
                        <a:solidFill>
                          <a:srgbClr val="FF000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休     假</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effectLst/>
                        </a:rPr>
                        <a:t>月休八日</a:t>
                      </a:r>
                      <a:endParaRPr kumimoji="0" lang="en-US" altLang="zh-TW" sz="20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endParaRPr>
                    </a:p>
                  </a:txBody>
                  <a:tcPr marL="36000" marR="36000" marT="18000" marB="18000" anchor="ctr" horzOverflow="overflow"/>
                </a:tc>
                <a:extLst>
                  <a:ext uri="{0D108BD9-81ED-4DB2-BD59-A6C34878D82A}">
                    <a16:rowId xmlns:a16="http://schemas.microsoft.com/office/drawing/2014/main" xmlns="" val="10002"/>
                  </a:ext>
                </a:extLst>
              </a:tr>
              <a:tr h="597867">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性  別</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a:ln>
                            <a:noFill/>
                          </a:ln>
                          <a:effectLst/>
                        </a:rPr>
                        <a:t>不限</a:t>
                      </a:r>
                      <a:endParaRPr kumimoji="0" lang="zh-TW" altLang="en-US" sz="2000" b="0" i="0" u="none" strike="noStrike" cap="none" normalizeH="0" baseline="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教育程度</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FF0000"/>
                          </a:solidFill>
                          <a:effectLst/>
                        </a:rPr>
                        <a:t>國中以上</a:t>
                      </a:r>
                      <a:endParaRPr kumimoji="0" lang="zh-TW" altLang="en-US" sz="2000" b="0" i="0" u="none" strike="noStrike" cap="none" normalizeH="0" baseline="0" dirty="0">
                        <a:ln>
                          <a:noFill/>
                        </a:ln>
                        <a:solidFill>
                          <a:srgbClr val="FF000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extLst>
                  <a:ext uri="{0D108BD9-81ED-4DB2-BD59-A6C34878D82A}">
                    <a16:rowId xmlns:a16="http://schemas.microsoft.com/office/drawing/2014/main" xmlns="" val="10003"/>
                  </a:ext>
                </a:extLst>
              </a:tr>
              <a:tr h="1645275">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工作職責</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gridSpan="3">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effectLst/>
                        </a:rPr>
                        <a:t>大廳、梯廳、公共廊道、公廁、中庭、頂樓、地下停車場、車道、宴會廳、視聽中心等公共區域清潔維護</a:t>
                      </a:r>
                      <a:endParaRPr kumimoji="0" lang="zh-TW" altLang="en-US" sz="20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xmlns="" val="10004"/>
                  </a:ext>
                </a:extLst>
              </a:tr>
              <a:tr h="1033716">
                <a:tc>
                  <a: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TW" altLang="en-US" sz="2000" u="none" strike="noStrike" cap="none" normalizeH="0" baseline="0" dirty="0">
                          <a:ln>
                            <a:noFill/>
                          </a:ln>
                          <a:solidFill>
                            <a:srgbClr val="002060"/>
                          </a:solidFill>
                          <a:effectLst/>
                        </a:rPr>
                        <a:t>儀態要求</a:t>
                      </a:r>
                      <a:endParaRPr kumimoji="0" lang="zh-TW" altLang="en-US" sz="2000" b="1" i="0" u="none" strike="noStrike" cap="none" normalizeH="0" baseline="0" dirty="0">
                        <a:ln>
                          <a:noFill/>
                        </a:ln>
                        <a:solidFill>
                          <a:srgbClr val="002060"/>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gridSpan="3">
                  <a: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2000" u="none" strike="noStrike" cap="none" normalizeH="0" baseline="0" dirty="0">
                          <a:ln>
                            <a:noFill/>
                          </a:ln>
                          <a:effectLst/>
                        </a:rPr>
                        <a:t>1.</a:t>
                      </a:r>
                      <a:r>
                        <a:rPr kumimoji="0" lang="zh-TW" altLang="en-US" sz="2000" u="none" strike="noStrike" cap="none" normalizeH="0" baseline="0" dirty="0">
                          <a:ln>
                            <a:noFill/>
                          </a:ln>
                          <a:effectLst/>
                        </a:rPr>
                        <a:t>溫和有禮、機警、靈敏、配合度佳。</a:t>
                      </a: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en-US" altLang="zh-TW" sz="2000" u="none" strike="noStrike" cap="none" normalizeH="0" baseline="0" dirty="0">
                          <a:ln>
                            <a:noFill/>
                          </a:ln>
                          <a:effectLst/>
                        </a:rPr>
                        <a:t>2.</a:t>
                      </a:r>
                      <a:r>
                        <a:rPr kumimoji="0" lang="zh-TW" altLang="en-US" sz="2000" u="none" strike="noStrike" cap="none" normalizeH="0" baseline="0" dirty="0">
                          <a:ln>
                            <a:noFill/>
                          </a:ln>
                          <a:effectLst/>
                        </a:rPr>
                        <a:t>不多話、不參予住戶意見。</a:t>
                      </a:r>
                      <a:endParaRPr kumimoji="0" lang="zh-TW" altLang="en-US" sz="2000" b="0" i="0" u="none" strike="noStrike" cap="none" normalizeH="0" baseline="0" dirty="0">
                        <a:ln>
                          <a:noFill/>
                        </a:ln>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36000" marR="36000" marT="18000" marB="18000" anchor="ctr" horzOverflow="overflow"/>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xmlns="" val="10005"/>
                  </a:ext>
                </a:extLst>
              </a:tr>
            </a:tbl>
          </a:graphicData>
        </a:graphic>
      </p:graphicFrame>
      <p:pic>
        <p:nvPicPr>
          <p:cNvPr id="16" name="圖片 15" descr="清潔-4.jpg"/>
          <p:cNvPicPr>
            <a:picLocks noChangeAspect="1"/>
          </p:cNvPicPr>
          <p:nvPr/>
        </p:nvPicPr>
        <p:blipFill>
          <a:blip r:embed="rId2" cstate="print"/>
          <a:stretch>
            <a:fillRect/>
          </a:stretch>
        </p:blipFill>
        <p:spPr>
          <a:xfrm>
            <a:off x="755576" y="3940186"/>
            <a:ext cx="1440160" cy="2210146"/>
          </a:xfrm>
          <a:prstGeom prst="rect">
            <a:avLst/>
          </a:prstGeom>
          <a:ln>
            <a:noFill/>
          </a:ln>
          <a:effectLst>
            <a:softEdge rad="112500"/>
          </a:effectLst>
        </p:spPr>
      </p:pic>
      <p:pic>
        <p:nvPicPr>
          <p:cNvPr id="17" name="圖片 16" descr="齊家精緻物業logo.tif"/>
          <p:cNvPicPr>
            <a:picLocks noChangeAspect="1"/>
          </p:cNvPicPr>
          <p:nvPr/>
        </p:nvPicPr>
        <p:blipFill>
          <a:blip r:embed="rId3" cstate="print"/>
          <a:stretch>
            <a:fillRect/>
          </a:stretch>
        </p:blipFill>
        <p:spPr>
          <a:xfrm>
            <a:off x="3549905" y="6093296"/>
            <a:ext cx="2030207" cy="576064"/>
          </a:xfrm>
          <a:prstGeom prst="rect">
            <a:avLst/>
          </a:prstGeom>
        </p:spPr>
      </p:pic>
      <p:sp>
        <p:nvSpPr>
          <p:cNvPr id="20" name="矩形 19"/>
          <p:cNvSpPr/>
          <p:nvPr/>
        </p:nvSpPr>
        <p:spPr>
          <a:xfrm>
            <a:off x="1187624" y="548680"/>
            <a:ext cx="615553" cy="3600400"/>
          </a:xfrm>
          <a:prstGeom prst="rect">
            <a:avLst/>
          </a:prstGeom>
        </p:spPr>
        <p:txBody>
          <a:bodyPr vert="eaVert" wrap="square">
            <a:spAutoFit/>
          </a:bodyPr>
          <a:lstStyle/>
          <a:p>
            <a:pPr algn="ctr">
              <a:buNone/>
            </a:pPr>
            <a:r>
              <a:rPr lang="zh-TW" altLang="en-US" sz="2800" b="1" dirty="0">
                <a:solidFill>
                  <a:schemeClr val="accent5">
                    <a:lumMod val="75000"/>
                  </a:schemeClr>
                </a:solidFill>
                <a:latin typeface="微軟正黑體" pitchFamily="34" charset="-120"/>
                <a:ea typeface="微軟正黑體" pitchFamily="34" charset="-120"/>
              </a:rPr>
              <a:t>社區</a:t>
            </a:r>
            <a:r>
              <a:rPr lang="zh-TW" altLang="en-US" sz="2800" b="1" dirty="0" smtClean="0">
                <a:solidFill>
                  <a:schemeClr val="accent5">
                    <a:lumMod val="75000"/>
                  </a:schemeClr>
                </a:solidFill>
                <a:latin typeface="微軟正黑體" pitchFamily="34" charset="-120"/>
                <a:ea typeface="微軟正黑體" pitchFamily="34" charset="-120"/>
              </a:rPr>
              <a:t>環保組  </a:t>
            </a:r>
            <a:r>
              <a:rPr lang="zh-TW" altLang="en-US" sz="2800" b="1" dirty="0">
                <a:solidFill>
                  <a:schemeClr val="accent5">
                    <a:lumMod val="75000"/>
                  </a:schemeClr>
                </a:solidFill>
                <a:latin typeface="微軟正黑體" pitchFamily="34" charset="-120"/>
                <a:ea typeface="微軟正黑體" pitchFamily="34" charset="-120"/>
              </a:rPr>
              <a:t>任職條件</a:t>
            </a:r>
          </a:p>
        </p:txBody>
      </p:sp>
    </p:spTree>
  </p:cSld>
  <p:clrMapOvr>
    <a:masterClrMapping/>
  </p:clrMapOvr>
  <p:transition spd="med">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p:nvPr>
        </p:nvSpPr>
        <p:spPr>
          <a:xfrm>
            <a:off x="500034" y="714356"/>
            <a:ext cx="8229600" cy="1714512"/>
          </a:xfrm>
        </p:spPr>
        <p:txBody>
          <a:bodyPr anchor="ctr"/>
          <a:lstStyle/>
          <a:p>
            <a:pPr algn="ctr">
              <a:buNone/>
            </a:pPr>
            <a:r>
              <a:rPr lang="zh-TW" altLang="en-US" sz="6600" b="1" dirty="0">
                <a:solidFill>
                  <a:srgbClr val="002060"/>
                </a:solidFill>
                <a:latin typeface="微軟正黑體" pitchFamily="34" charset="-120"/>
                <a:ea typeface="微軟正黑體" pitchFamily="34" charset="-120"/>
              </a:rPr>
              <a:t>財務報價規劃</a:t>
            </a:r>
          </a:p>
        </p:txBody>
      </p:sp>
      <p:cxnSp>
        <p:nvCxnSpPr>
          <p:cNvPr id="4" name="直線接點 3"/>
          <p:cNvCxnSpPr/>
          <p:nvPr/>
        </p:nvCxnSpPr>
        <p:spPr>
          <a:xfrm>
            <a:off x="2428860" y="2071678"/>
            <a:ext cx="4286280" cy="1588"/>
          </a:xfrm>
          <a:prstGeom prst="line">
            <a:avLst/>
          </a:prstGeom>
          <a:effectLst>
            <a:glow rad="101600">
              <a:schemeClr val="accent3">
                <a:satMod val="175000"/>
                <a:alpha val="40000"/>
              </a:schemeClr>
            </a:glow>
            <a:outerShdw blurRad="190500" dist="228600" dir="2700000" sy="90000" rotWithShape="0">
              <a:srgbClr val="000000">
                <a:alpha val="25500"/>
              </a:srgbClr>
            </a:outerShdw>
          </a:effectLst>
        </p:spPr>
        <p:style>
          <a:lnRef idx="3">
            <a:schemeClr val="accent6"/>
          </a:lnRef>
          <a:fillRef idx="0">
            <a:schemeClr val="accent6"/>
          </a:fillRef>
          <a:effectRef idx="2">
            <a:schemeClr val="accent6"/>
          </a:effectRef>
          <a:fontRef idx="minor">
            <a:schemeClr val="tx1"/>
          </a:fontRef>
        </p:style>
      </p:cxnSp>
      <p:pic>
        <p:nvPicPr>
          <p:cNvPr id="7" name="圖片 6" descr="齊家精緻物業logo.tif"/>
          <p:cNvPicPr>
            <a:picLocks noChangeAspect="1"/>
          </p:cNvPicPr>
          <p:nvPr/>
        </p:nvPicPr>
        <p:blipFill>
          <a:blip r:embed="rId2" cstate="print"/>
          <a:stretch>
            <a:fillRect/>
          </a:stretch>
        </p:blipFill>
        <p:spPr>
          <a:xfrm>
            <a:off x="3474720" y="5992639"/>
            <a:ext cx="2131174" cy="604713"/>
          </a:xfrm>
          <a:prstGeom prst="rect">
            <a:avLst/>
          </a:prstGeom>
        </p:spPr>
      </p:pic>
    </p:spTree>
  </p:cSld>
  <p:clrMapOvr>
    <a:masterClrMapping/>
  </p:clrMapOvr>
  <p:transition spd="med">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齊家精緻物業logo.tif"/>
          <p:cNvPicPr>
            <a:picLocks noChangeAspect="1"/>
          </p:cNvPicPr>
          <p:nvPr/>
        </p:nvPicPr>
        <p:blipFill>
          <a:blip r:embed="rId2" cstate="print"/>
          <a:stretch>
            <a:fillRect/>
          </a:stretch>
        </p:blipFill>
        <p:spPr>
          <a:xfrm>
            <a:off x="3474720" y="5992639"/>
            <a:ext cx="2131174" cy="604713"/>
          </a:xfrm>
          <a:prstGeom prst="rect">
            <a:avLst/>
          </a:prstGeom>
        </p:spPr>
      </p:pic>
      <p:graphicFrame>
        <p:nvGraphicFramePr>
          <p:cNvPr id="4" name="表格 3"/>
          <p:cNvGraphicFramePr>
            <a:graphicFrameLocks noGrp="1"/>
          </p:cNvGraphicFramePr>
          <p:nvPr/>
        </p:nvGraphicFramePr>
        <p:xfrm>
          <a:off x="714348" y="785793"/>
          <a:ext cx="7643866" cy="4786347"/>
        </p:xfrm>
        <a:graphic>
          <a:graphicData uri="http://schemas.openxmlformats.org/drawingml/2006/table">
            <a:tbl>
              <a:tblPr/>
              <a:tblGrid>
                <a:gridCol w="773624"/>
                <a:gridCol w="1662713"/>
                <a:gridCol w="1420235"/>
                <a:gridCol w="1893647"/>
                <a:gridCol w="1893647"/>
              </a:tblGrid>
              <a:tr h="880605">
                <a:tc gridSpan="5">
                  <a:txBody>
                    <a:bodyPr/>
                    <a:lstStyle/>
                    <a:p>
                      <a:pPr algn="ctr" rtl="0" fontAlgn="ctr"/>
                      <a:r>
                        <a:rPr lang="zh-TW" altLang="en-US" sz="2800" b="0" i="0" u="none" strike="noStrike">
                          <a:solidFill>
                            <a:srgbClr val="000099"/>
                          </a:solidFill>
                          <a:latin typeface="標楷體"/>
                        </a:rPr>
                        <a:t>收費建議常駐型管理成本分析</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r>
              <a:tr h="483469">
                <a:tc gridSpan="2">
                  <a:txBody>
                    <a:bodyPr/>
                    <a:lstStyle/>
                    <a:p>
                      <a:pPr algn="ctr" rtl="0" fontAlgn="ctr"/>
                      <a:r>
                        <a:rPr lang="zh-TW" altLang="en-US" sz="2000" b="0" i="0" u="none" strike="noStrike" dirty="0">
                          <a:solidFill>
                            <a:srgbClr val="000000"/>
                          </a:solidFill>
                          <a:latin typeface="標楷體"/>
                        </a:rPr>
                        <a:t>項        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CCFF"/>
                    </a:solidFill>
                  </a:tcPr>
                </a:tc>
                <a:tc hMerge="1">
                  <a:txBody>
                    <a:bodyPr/>
                    <a:lstStyle/>
                    <a:p>
                      <a:endParaRPr lang="zh-TW" altLang="en-US"/>
                    </a:p>
                  </a:txBody>
                  <a:tcPr/>
                </a:tc>
                <a:tc>
                  <a:txBody>
                    <a:bodyPr/>
                    <a:lstStyle/>
                    <a:p>
                      <a:pPr algn="ctr" rtl="0" fontAlgn="ctr"/>
                      <a:r>
                        <a:rPr lang="zh-TW" altLang="en-US" sz="2000" b="0" i="0" u="none" strike="noStrike" dirty="0">
                          <a:solidFill>
                            <a:srgbClr val="000000"/>
                          </a:solidFill>
                          <a:latin typeface="標楷體"/>
                        </a:rPr>
                        <a:t>坪  數</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CCFF"/>
                    </a:solidFill>
                  </a:tcPr>
                </a:tc>
                <a:tc>
                  <a:txBody>
                    <a:bodyPr/>
                    <a:lstStyle/>
                    <a:p>
                      <a:pPr algn="ctr" rtl="0" fontAlgn="ctr"/>
                      <a:r>
                        <a:rPr lang="zh-TW" altLang="en-US" sz="2000" b="0" i="0" u="none" strike="noStrike" dirty="0">
                          <a:solidFill>
                            <a:srgbClr val="000000"/>
                          </a:solidFill>
                          <a:latin typeface="標楷體"/>
                        </a:rPr>
                        <a:t>管 理 費</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CCFF"/>
                    </a:solidFill>
                  </a:tcPr>
                </a:tc>
                <a:tc>
                  <a:txBody>
                    <a:bodyPr/>
                    <a:lstStyle/>
                    <a:p>
                      <a:pPr algn="ctr" rtl="0" fontAlgn="ctr"/>
                      <a:r>
                        <a:rPr lang="zh-TW" altLang="en-US" sz="2000" b="0" i="0" u="none" strike="noStrike" dirty="0">
                          <a:solidFill>
                            <a:srgbClr val="000000"/>
                          </a:solidFill>
                          <a:latin typeface="標楷體"/>
                        </a:rPr>
                        <a:t>小   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CCFF"/>
                    </a:solidFill>
                  </a:tcPr>
                </a:tc>
              </a:tr>
              <a:tr h="448936">
                <a:tc gridSpan="2">
                  <a:txBody>
                    <a:bodyPr/>
                    <a:lstStyle/>
                    <a:p>
                      <a:pPr algn="ctr" rtl="0" fontAlgn="ctr"/>
                      <a:r>
                        <a:rPr lang="zh-TW" altLang="en-US" sz="2000" b="0" i="0" u="none" strike="noStrike" dirty="0">
                          <a:solidFill>
                            <a:srgbClr val="000000"/>
                          </a:solidFill>
                          <a:latin typeface="標楷體"/>
                        </a:rPr>
                        <a:t>住  家</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tc>
                  <a:txBody>
                    <a:bodyPr/>
                    <a:lstStyle/>
                    <a:p>
                      <a:pPr algn="r" fontAlgn="ctr"/>
                      <a:r>
                        <a:rPr lang="en-US" altLang="zh-TW" sz="2000" b="0" i="0" u="none" strike="noStrike">
                          <a:latin typeface="標楷體"/>
                        </a:rPr>
                        <a:t>59,198.40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zh-TW" sz="2000" b="0" i="0" u="none" strike="noStrike">
                          <a:latin typeface="標楷體"/>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zh-TW" sz="2000" b="0" i="0" u="none" strike="noStrike">
                          <a:solidFill>
                            <a:srgbClr val="000000"/>
                          </a:solidFill>
                          <a:latin typeface="標楷體"/>
                        </a:rPr>
                        <a:t>$2,959,920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8936">
                <a:tc gridSpan="2">
                  <a:txBody>
                    <a:bodyPr/>
                    <a:lstStyle/>
                    <a:p>
                      <a:pPr algn="ctr" rtl="0" fontAlgn="ctr"/>
                      <a:r>
                        <a:rPr lang="zh-TW" altLang="en-US" sz="2000" b="0" i="0" u="none" strike="noStrike" dirty="0">
                          <a:solidFill>
                            <a:srgbClr val="000000"/>
                          </a:solidFill>
                          <a:latin typeface="標楷體"/>
                        </a:rPr>
                        <a:t>店  面</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tc>
                  <a:txBody>
                    <a:bodyPr/>
                    <a:lstStyle/>
                    <a:p>
                      <a:pPr algn="r" fontAlgn="ctr"/>
                      <a:r>
                        <a:rPr lang="en-US" altLang="zh-TW" sz="2000" b="0" i="0" u="none" strike="noStrike" dirty="0">
                          <a:latin typeface="標楷體"/>
                        </a:rPr>
                        <a:t>1,737.35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zh-TW" sz="2000" b="0" i="0" u="none" strike="noStrike">
                          <a:latin typeface="標楷體"/>
                        </a:rPr>
                        <a:t>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zh-TW" sz="2000" b="0" i="0" u="none" strike="noStrike">
                          <a:solidFill>
                            <a:srgbClr val="000000"/>
                          </a:solidFill>
                          <a:latin typeface="標楷體"/>
                        </a:rPr>
                        <a:t>$121,615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8936">
                <a:tc rowSpan="2">
                  <a:txBody>
                    <a:bodyPr/>
                    <a:lstStyle/>
                    <a:p>
                      <a:pPr algn="ctr" rtl="0" fontAlgn="ctr"/>
                      <a:r>
                        <a:rPr lang="zh-TW" altLang="en-US" sz="2000" b="0" i="0" u="none" strike="noStrike">
                          <a:solidFill>
                            <a:srgbClr val="000000"/>
                          </a:solidFill>
                          <a:latin typeface="標楷體"/>
                        </a:rPr>
                        <a:t>停</a:t>
                      </a:r>
                      <a:br>
                        <a:rPr lang="zh-TW" altLang="en-US" sz="2000" b="0" i="0" u="none" strike="noStrike">
                          <a:solidFill>
                            <a:srgbClr val="000000"/>
                          </a:solidFill>
                          <a:latin typeface="標楷體"/>
                        </a:rPr>
                      </a:br>
                      <a:r>
                        <a:rPr lang="zh-TW" altLang="en-US" sz="2000" b="0" i="0" u="none" strike="noStrike">
                          <a:solidFill>
                            <a:srgbClr val="000000"/>
                          </a:solidFill>
                          <a:latin typeface="標楷體"/>
                        </a:rPr>
                        <a:t>車</a:t>
                      </a:r>
                      <a:br>
                        <a:rPr lang="zh-TW" altLang="en-US" sz="2000" b="0" i="0" u="none" strike="noStrike">
                          <a:solidFill>
                            <a:srgbClr val="000000"/>
                          </a:solidFill>
                          <a:latin typeface="標楷體"/>
                        </a:rPr>
                      </a:br>
                      <a:r>
                        <a:rPr lang="zh-TW" altLang="en-US" sz="2000" b="0" i="0" u="none" strike="noStrike">
                          <a:solidFill>
                            <a:srgbClr val="000000"/>
                          </a:solidFill>
                          <a:latin typeface="標楷體"/>
                        </a:rPr>
                        <a:t>位</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zh-TW" altLang="en-US" sz="2000" b="0" i="0" u="none" strike="noStrike">
                          <a:solidFill>
                            <a:srgbClr val="000000"/>
                          </a:solidFill>
                          <a:latin typeface="標楷體"/>
                        </a:rPr>
                        <a:t>汽車位</a:t>
                      </a:r>
                      <a:r>
                        <a:rPr lang="en-US" altLang="zh-TW" sz="2000" b="0" i="0" u="none" strike="noStrike">
                          <a:solidFill>
                            <a:srgbClr val="000000"/>
                          </a:solidFill>
                          <a:latin typeface="標楷體"/>
                        </a:rPr>
                        <a:t>(</a:t>
                      </a:r>
                      <a:r>
                        <a:rPr lang="zh-TW" altLang="en-US" sz="2000" b="0" i="0" u="none" strike="noStrike">
                          <a:solidFill>
                            <a:srgbClr val="000000"/>
                          </a:solidFill>
                          <a:latin typeface="標楷體"/>
                        </a:rPr>
                        <a:t>平面</a:t>
                      </a:r>
                      <a:r>
                        <a:rPr lang="en-US" altLang="zh-TW" sz="2000" b="0" i="0" u="none" strike="noStrike">
                          <a:solidFill>
                            <a:srgbClr val="000000"/>
                          </a:solidFill>
                          <a:latin typeface="標楷體"/>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TW" sz="2000" b="0" i="0" u="none" strike="noStrike" dirty="0">
                          <a:latin typeface="標楷體"/>
                        </a:rPr>
                        <a:t>1,800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zh-TW" sz="2000" b="0" i="0" u="none" strike="noStrike">
                          <a:solidFill>
                            <a:srgbClr val="000000"/>
                          </a:solidFill>
                          <a:latin typeface="標楷體"/>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zh-TW" sz="2000" b="0" i="0" u="none" strike="noStrike">
                          <a:solidFill>
                            <a:srgbClr val="000000"/>
                          </a:solidFill>
                          <a:latin typeface="標楷體"/>
                        </a:rPr>
                        <a:t>$540,000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728657">
                <a:tc vMerge="1">
                  <a:txBody>
                    <a:bodyPr/>
                    <a:lstStyle/>
                    <a:p>
                      <a:endParaRPr lang="zh-TW" altLang="en-US"/>
                    </a:p>
                  </a:txBody>
                  <a:tcPr/>
                </a:tc>
                <a:tc>
                  <a:txBody>
                    <a:bodyPr/>
                    <a:lstStyle/>
                    <a:p>
                      <a:pPr algn="l" rtl="0" fontAlgn="ctr"/>
                      <a:r>
                        <a:rPr lang="zh-TW" altLang="en-US" sz="2000" b="0" i="0" u="none" strike="noStrike">
                          <a:solidFill>
                            <a:srgbClr val="000000"/>
                          </a:solidFill>
                          <a:latin typeface="標楷體"/>
                        </a:rPr>
                        <a:t>機車位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TW" sz="2000" b="0" i="0" u="none" strike="noStrike">
                          <a:latin typeface="標楷體"/>
                        </a:rPr>
                        <a:t>2,235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zh-TW" sz="2000" b="0" i="0" u="none" strike="noStrike" dirty="0">
                          <a:solidFill>
                            <a:srgbClr val="000000"/>
                          </a:solidFill>
                          <a:latin typeface="標楷體"/>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0" fontAlgn="ctr"/>
                      <a:r>
                        <a:rPr lang="en-US" altLang="zh-TW" sz="2000" b="0" i="0" u="none" strike="noStrike">
                          <a:solidFill>
                            <a:srgbClr val="000000"/>
                          </a:solidFill>
                          <a:latin typeface="標楷體"/>
                        </a:rPr>
                        <a:t>$223,500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48936">
                <a:tc gridSpan="3">
                  <a:txBody>
                    <a:bodyPr/>
                    <a:lstStyle/>
                    <a:p>
                      <a:pPr algn="ctr" rtl="0" fontAlgn="ctr"/>
                      <a:r>
                        <a:rPr lang="zh-TW" altLang="en-US" sz="2000" b="0" i="0" u="none" strike="noStrike">
                          <a:solidFill>
                            <a:srgbClr val="000000"/>
                          </a:solidFill>
                          <a:latin typeface="標楷體"/>
                        </a:rPr>
                        <a:t>合        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gridSpan="2">
                  <a:txBody>
                    <a:bodyPr/>
                    <a:lstStyle/>
                    <a:p>
                      <a:pPr algn="r" rtl="0" fontAlgn="ctr"/>
                      <a:r>
                        <a:rPr lang="en-US" altLang="zh-TW" sz="2000" b="0" i="0" u="none" strike="noStrike" dirty="0">
                          <a:solidFill>
                            <a:srgbClr val="000000"/>
                          </a:solidFill>
                          <a:latin typeface="標楷體"/>
                        </a:rPr>
                        <a:t>$3,845,035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tr>
              <a:tr h="448936">
                <a:tc gridSpan="3">
                  <a:txBody>
                    <a:bodyPr/>
                    <a:lstStyle/>
                    <a:p>
                      <a:pPr algn="ctr" rtl="0" fontAlgn="ctr"/>
                      <a:r>
                        <a:rPr lang="zh-TW" altLang="en-US" sz="2000" b="0" i="0" u="none" strike="noStrike">
                          <a:solidFill>
                            <a:srgbClr val="000000"/>
                          </a:solidFill>
                          <a:latin typeface="標楷體"/>
                        </a:rPr>
                        <a:t>預 估 支 出</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gridSpan="2">
                  <a:txBody>
                    <a:bodyPr/>
                    <a:lstStyle/>
                    <a:p>
                      <a:pPr algn="r" rtl="0" fontAlgn="ctr"/>
                      <a:r>
                        <a:rPr lang="en-US" altLang="zh-TW" sz="2000" b="0" i="0" u="none" strike="noStrike" dirty="0">
                          <a:solidFill>
                            <a:srgbClr val="000000"/>
                          </a:solidFill>
                          <a:latin typeface="標楷體"/>
                        </a:rPr>
                        <a:t>$2,931,792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tr>
              <a:tr h="448936">
                <a:tc gridSpan="3">
                  <a:txBody>
                    <a:bodyPr/>
                    <a:lstStyle/>
                    <a:p>
                      <a:pPr algn="ctr" rtl="0" fontAlgn="ctr"/>
                      <a:r>
                        <a:rPr lang="zh-TW" altLang="en-US" sz="2000" b="0" i="0" u="none" strike="noStrike">
                          <a:solidFill>
                            <a:srgbClr val="0000FF"/>
                          </a:solidFill>
                          <a:latin typeface="標楷體"/>
                        </a:rPr>
                        <a:t>差額</a:t>
                      </a:r>
                      <a:r>
                        <a:rPr lang="en-US" altLang="zh-TW" sz="2000" b="0" i="0" u="none" strike="noStrike">
                          <a:solidFill>
                            <a:srgbClr val="0000FF"/>
                          </a:solidFill>
                          <a:latin typeface="標楷體"/>
                        </a:rPr>
                        <a:t>(</a:t>
                      </a:r>
                      <a:r>
                        <a:rPr lang="zh-TW" altLang="en-US" sz="2000" b="0" i="0" u="none" strike="noStrike">
                          <a:solidFill>
                            <a:srgbClr val="0000FF"/>
                          </a:solidFill>
                          <a:latin typeface="標楷體"/>
                        </a:rPr>
                        <a:t>每月盈餘</a:t>
                      </a:r>
                      <a:r>
                        <a:rPr lang="en-US" altLang="zh-TW" sz="2000" b="0" i="0" u="none" strike="noStrike">
                          <a:solidFill>
                            <a:srgbClr val="0000FF"/>
                          </a:solidFill>
                          <a:latin typeface="標楷體"/>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tc hMerge="1">
                  <a:txBody>
                    <a:bodyPr/>
                    <a:lstStyle/>
                    <a:p>
                      <a:endParaRPr lang="zh-TW" altLang="en-US"/>
                    </a:p>
                  </a:txBody>
                  <a:tcPr/>
                </a:tc>
                <a:tc gridSpan="2">
                  <a:txBody>
                    <a:bodyPr/>
                    <a:lstStyle/>
                    <a:p>
                      <a:pPr algn="r" rtl="0" fontAlgn="ctr"/>
                      <a:r>
                        <a:rPr lang="en-US" altLang="zh-TW" sz="2000" b="0" i="0" u="none" strike="noStrike" dirty="0">
                          <a:solidFill>
                            <a:srgbClr val="0000FF"/>
                          </a:solidFill>
                          <a:latin typeface="標楷體"/>
                        </a:rPr>
                        <a:t>$913,243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tr>
            </a:tbl>
          </a:graphicData>
        </a:graphic>
      </p:graphicFrame>
    </p:spTree>
  </p:cSld>
  <p:clrMapOvr>
    <a:masterClrMapping/>
  </p:clrMapOvr>
  <p:transition spd="med">
    <p:randomBar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descr="齊家精緻物業logo.tif"/>
          <p:cNvPicPr>
            <a:picLocks noChangeAspect="1"/>
          </p:cNvPicPr>
          <p:nvPr/>
        </p:nvPicPr>
        <p:blipFill>
          <a:blip r:embed="rId2" cstate="print"/>
          <a:stretch>
            <a:fillRect/>
          </a:stretch>
        </p:blipFill>
        <p:spPr>
          <a:xfrm>
            <a:off x="3474720" y="5992639"/>
            <a:ext cx="2131174" cy="604713"/>
          </a:xfrm>
          <a:prstGeom prst="rect">
            <a:avLst/>
          </a:prstGeom>
        </p:spPr>
      </p:pic>
      <p:graphicFrame>
        <p:nvGraphicFramePr>
          <p:cNvPr id="4" name="表格 3"/>
          <p:cNvGraphicFramePr>
            <a:graphicFrameLocks noGrp="1"/>
          </p:cNvGraphicFramePr>
          <p:nvPr/>
        </p:nvGraphicFramePr>
        <p:xfrm>
          <a:off x="428596" y="428606"/>
          <a:ext cx="8215370" cy="5357850"/>
        </p:xfrm>
        <a:graphic>
          <a:graphicData uri="http://schemas.openxmlformats.org/drawingml/2006/table">
            <a:tbl>
              <a:tblPr/>
              <a:tblGrid>
                <a:gridCol w="573165"/>
                <a:gridCol w="1337386"/>
                <a:gridCol w="1759719"/>
                <a:gridCol w="834609"/>
                <a:gridCol w="834609"/>
                <a:gridCol w="1397719"/>
                <a:gridCol w="1478163"/>
              </a:tblGrid>
              <a:tr h="895671">
                <a:tc gridSpan="7">
                  <a:txBody>
                    <a:bodyPr/>
                    <a:lstStyle/>
                    <a:p>
                      <a:pPr algn="ctr" rtl="0" fontAlgn="ctr"/>
                      <a:r>
                        <a:rPr lang="zh-TW" altLang="en-US" sz="2800" b="0" i="0" u="none" strike="noStrike" dirty="0">
                          <a:latin typeface="微軟正黑體"/>
                        </a:rPr>
                        <a:t>管理人力成本分析</a:t>
                      </a:r>
                    </a:p>
                  </a:txBody>
                  <a:tcPr marL="7471" marR="7471" marT="7471"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r>
              <a:tr h="534513">
                <a:tc>
                  <a:txBody>
                    <a:bodyPr/>
                    <a:lstStyle/>
                    <a:p>
                      <a:pPr algn="l" rtl="0" fontAlgn="ctr"/>
                      <a:r>
                        <a:rPr lang="zh-TW" altLang="en-US" sz="1800" b="0" i="0" u="none" strike="noStrike" dirty="0">
                          <a:solidFill>
                            <a:srgbClr val="000000"/>
                          </a:solidFill>
                          <a:latin typeface="微軟正黑體"/>
                        </a:rPr>
                        <a:t>　</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800" b="0" i="0" u="none" strike="noStrike" dirty="0">
                          <a:solidFill>
                            <a:srgbClr val="000000"/>
                          </a:solidFill>
                          <a:latin typeface="微軟正黑體"/>
                        </a:rPr>
                        <a:t>職   稱</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800" b="0" i="0" u="none" strike="noStrike" dirty="0">
                          <a:solidFill>
                            <a:srgbClr val="000000"/>
                          </a:solidFill>
                          <a:latin typeface="微軟正黑體"/>
                        </a:rPr>
                        <a:t>執行工作</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800" b="0" i="0" u="none" strike="noStrike" dirty="0">
                          <a:solidFill>
                            <a:srgbClr val="000000"/>
                          </a:solidFill>
                          <a:latin typeface="微軟正黑體"/>
                        </a:rPr>
                        <a:t>人 次</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800" b="0" i="0" u="none" strike="noStrike" dirty="0">
                          <a:solidFill>
                            <a:srgbClr val="000000"/>
                          </a:solidFill>
                          <a:latin typeface="微軟正黑體"/>
                        </a:rPr>
                        <a:t> 單價</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800" b="0" i="0" u="none" strike="noStrike" dirty="0">
                          <a:solidFill>
                            <a:srgbClr val="000000"/>
                          </a:solidFill>
                          <a:latin typeface="微軟正黑體"/>
                        </a:rPr>
                        <a:t>單項總計</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800" b="0" i="0" u="none" strike="noStrike" dirty="0">
                          <a:solidFill>
                            <a:srgbClr val="000000"/>
                          </a:solidFill>
                          <a:latin typeface="微軟正黑體"/>
                        </a:rPr>
                        <a:t>備 註</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361158">
                <a:tc rowSpan="8">
                  <a:txBody>
                    <a:bodyPr/>
                    <a:lstStyle/>
                    <a:p>
                      <a:pPr algn="ctr" rtl="0" fontAlgn="ctr"/>
                      <a:r>
                        <a:rPr lang="zh-TW" altLang="en-US" sz="2400" b="0" i="0" u="none" strike="noStrike" dirty="0" smtClean="0">
                          <a:solidFill>
                            <a:srgbClr val="000000"/>
                          </a:solidFill>
                          <a:latin typeface="微軟正黑體"/>
                        </a:rPr>
                        <a:t>物業服務人員</a:t>
                      </a:r>
                      <a:endParaRPr lang="zh-TW" altLang="en-US" sz="2400" b="0" i="0" u="none" strike="noStrike" dirty="0">
                        <a:solidFill>
                          <a:srgbClr val="000000"/>
                        </a:solidFill>
                        <a:latin typeface="微軟正黑體"/>
                      </a:endParaRP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600" b="0" i="0" u="none" strike="noStrike" dirty="0">
                          <a:latin typeface="微軟正黑體"/>
                        </a:rPr>
                        <a:t>社區經理</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600" b="0" i="0" u="none" strike="noStrike" dirty="0">
                          <a:solidFill>
                            <a:srgbClr val="000000"/>
                          </a:solidFill>
                          <a:latin typeface="微軟正黑體"/>
                        </a:rPr>
                        <a:t>社區綜合事務督導</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dirty="0">
                          <a:latin typeface="微軟正黑體"/>
                        </a:rPr>
                        <a:t>1</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a:latin typeface="微軟正黑體"/>
                        </a:rPr>
                        <a:t>70000</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a:solidFill>
                            <a:srgbClr val="000000"/>
                          </a:solidFill>
                          <a:latin typeface="微軟正黑體"/>
                        </a:rPr>
                        <a:t>70000 </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8">
                  <a:txBody>
                    <a:bodyPr/>
                    <a:lstStyle/>
                    <a:p>
                      <a:pPr algn="ctr" rtl="0" fontAlgn="ctr"/>
                      <a:r>
                        <a:rPr lang="en-US" altLang="zh-TW" sz="1600" b="0" i="0" u="none" strike="noStrike">
                          <a:solidFill>
                            <a:srgbClr val="000000"/>
                          </a:solidFill>
                          <a:latin typeface="微軟正黑體"/>
                        </a:rPr>
                        <a:t>2,170,120</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338622">
                <a:tc vMerge="1">
                  <a:txBody>
                    <a:bodyPr/>
                    <a:lstStyle/>
                    <a:p>
                      <a:endParaRPr lang="zh-TW" altLang="en-US"/>
                    </a:p>
                  </a:txBody>
                  <a:tcPr/>
                </a:tc>
                <a:tc>
                  <a:txBody>
                    <a:bodyPr/>
                    <a:lstStyle/>
                    <a:p>
                      <a:pPr algn="ctr" rtl="0" fontAlgn="ctr"/>
                      <a:r>
                        <a:rPr lang="zh-TW" altLang="en-US" sz="1600" b="0" i="0" u="none" strike="noStrike" dirty="0">
                          <a:latin typeface="微軟正黑體"/>
                        </a:rPr>
                        <a:t>社區副理</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600" b="0" i="0" u="none" strike="noStrike" dirty="0">
                          <a:solidFill>
                            <a:srgbClr val="000000"/>
                          </a:solidFill>
                          <a:latin typeface="微軟正黑體"/>
                        </a:rPr>
                        <a:t>社區綜合事務管理</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dirty="0">
                          <a:latin typeface="微軟正黑體"/>
                        </a:rPr>
                        <a:t>2</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a:latin typeface="微軟正黑體"/>
                        </a:rPr>
                        <a:t>62560</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a:solidFill>
                            <a:srgbClr val="000000"/>
                          </a:solidFill>
                          <a:latin typeface="微軟正黑體"/>
                        </a:rPr>
                        <a:t>125120 </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zh-TW" altLang="en-US"/>
                    </a:p>
                  </a:txBody>
                  <a:tcPr/>
                </a:tc>
              </a:tr>
              <a:tr h="361158">
                <a:tc vMerge="1">
                  <a:txBody>
                    <a:bodyPr/>
                    <a:lstStyle/>
                    <a:p>
                      <a:endParaRPr lang="zh-TW" altLang="en-US"/>
                    </a:p>
                  </a:txBody>
                  <a:tcPr/>
                </a:tc>
                <a:tc>
                  <a:txBody>
                    <a:bodyPr/>
                    <a:lstStyle/>
                    <a:p>
                      <a:pPr algn="ctr" rtl="0" fontAlgn="ctr"/>
                      <a:r>
                        <a:rPr lang="zh-TW" altLang="en-US" sz="1600" b="0" i="0" u="none" strike="noStrike" dirty="0">
                          <a:latin typeface="微軟正黑體"/>
                        </a:rPr>
                        <a:t>秘書長</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600" b="0" i="0" u="none" strike="noStrike" dirty="0">
                          <a:solidFill>
                            <a:srgbClr val="000000"/>
                          </a:solidFill>
                          <a:latin typeface="微軟正黑體"/>
                        </a:rPr>
                        <a:t>社區秘書事務管理</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dirty="0">
                          <a:latin typeface="微軟正黑體"/>
                        </a:rPr>
                        <a:t>1</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dirty="0">
                          <a:latin typeface="微軟正黑體"/>
                        </a:rPr>
                        <a:t>55000</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a:solidFill>
                            <a:srgbClr val="000000"/>
                          </a:solidFill>
                          <a:latin typeface="微軟正黑體"/>
                        </a:rPr>
                        <a:t>55000 </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zh-TW" altLang="en-US"/>
                    </a:p>
                  </a:txBody>
                  <a:tcPr/>
                </a:tc>
              </a:tr>
              <a:tr h="361158">
                <a:tc vMerge="1">
                  <a:txBody>
                    <a:bodyPr/>
                    <a:lstStyle/>
                    <a:p>
                      <a:endParaRPr lang="zh-TW" altLang="en-US"/>
                    </a:p>
                  </a:txBody>
                  <a:tcPr/>
                </a:tc>
                <a:tc>
                  <a:txBody>
                    <a:bodyPr/>
                    <a:lstStyle/>
                    <a:p>
                      <a:pPr algn="ctr" rtl="0" fontAlgn="ctr"/>
                      <a:r>
                        <a:rPr lang="zh-TW" altLang="en-US" sz="1600" b="0" i="0" u="none" strike="noStrike" dirty="0">
                          <a:latin typeface="微軟正黑體"/>
                        </a:rPr>
                        <a:t>早班秘書</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600" b="0" i="0" u="none" strike="noStrike" dirty="0">
                          <a:solidFill>
                            <a:srgbClr val="000000"/>
                          </a:solidFill>
                          <a:latin typeface="微軟正黑體"/>
                        </a:rPr>
                        <a:t>社區行政生活服務</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a:latin typeface="微軟正黑體"/>
                        </a:rPr>
                        <a:t>4</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dirty="0">
                          <a:latin typeface="微軟正黑體"/>
                        </a:rPr>
                        <a:t>48000</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a:solidFill>
                            <a:srgbClr val="000000"/>
                          </a:solidFill>
                          <a:latin typeface="微軟正黑體"/>
                        </a:rPr>
                        <a:t>192000 </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zh-TW" altLang="en-US"/>
                    </a:p>
                  </a:txBody>
                  <a:tcPr/>
                </a:tc>
              </a:tr>
              <a:tr h="338622">
                <a:tc vMerge="1">
                  <a:txBody>
                    <a:bodyPr/>
                    <a:lstStyle/>
                    <a:p>
                      <a:endParaRPr lang="zh-TW" altLang="en-US"/>
                    </a:p>
                  </a:txBody>
                  <a:tcPr/>
                </a:tc>
                <a:tc>
                  <a:txBody>
                    <a:bodyPr/>
                    <a:lstStyle/>
                    <a:p>
                      <a:pPr algn="ctr" rtl="0" fontAlgn="ctr"/>
                      <a:r>
                        <a:rPr lang="zh-TW" altLang="en-US" sz="1600" b="0" i="0" u="none" strike="noStrike" dirty="0">
                          <a:latin typeface="微軟正黑體"/>
                        </a:rPr>
                        <a:t>中班秘書</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600" b="0" i="0" u="none" strike="noStrike" dirty="0">
                          <a:solidFill>
                            <a:srgbClr val="000000"/>
                          </a:solidFill>
                          <a:latin typeface="微軟正黑體"/>
                        </a:rPr>
                        <a:t>社區行政生活服務</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a:latin typeface="微軟正黑體"/>
                        </a:rPr>
                        <a:t>3</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dirty="0">
                          <a:latin typeface="微軟正黑體"/>
                        </a:rPr>
                        <a:t>48000</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a:solidFill>
                            <a:srgbClr val="000000"/>
                          </a:solidFill>
                          <a:latin typeface="微軟正黑體"/>
                        </a:rPr>
                        <a:t>144000 </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zh-TW" altLang="en-US"/>
                    </a:p>
                  </a:txBody>
                  <a:tcPr/>
                </a:tc>
              </a:tr>
              <a:tr h="361158">
                <a:tc vMerge="1">
                  <a:txBody>
                    <a:bodyPr/>
                    <a:lstStyle/>
                    <a:p>
                      <a:endParaRPr lang="zh-TW" altLang="en-US"/>
                    </a:p>
                  </a:txBody>
                  <a:tcPr/>
                </a:tc>
                <a:tc>
                  <a:txBody>
                    <a:bodyPr/>
                    <a:lstStyle/>
                    <a:p>
                      <a:pPr algn="ctr" rtl="0" fontAlgn="ctr"/>
                      <a:r>
                        <a:rPr lang="zh-TW" altLang="en-US" sz="1600" b="0" i="0" u="none" strike="noStrike" dirty="0">
                          <a:latin typeface="微軟正黑體"/>
                        </a:rPr>
                        <a:t>清潔員</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600" b="0" i="0" u="none" strike="noStrike" dirty="0">
                          <a:solidFill>
                            <a:srgbClr val="000000"/>
                          </a:solidFill>
                          <a:latin typeface="微軟正黑體"/>
                        </a:rPr>
                        <a:t>案場環境清潔維護</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a:latin typeface="微軟正黑體"/>
                        </a:rPr>
                        <a:t>14</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dirty="0">
                          <a:latin typeface="微軟正黑體"/>
                        </a:rPr>
                        <a:t>38000</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dirty="0">
                          <a:solidFill>
                            <a:srgbClr val="000000"/>
                          </a:solidFill>
                          <a:latin typeface="微軟正黑體"/>
                        </a:rPr>
                        <a:t>532000 </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zh-TW" altLang="en-US"/>
                    </a:p>
                  </a:txBody>
                  <a:tcPr/>
                </a:tc>
              </a:tr>
              <a:tr h="361158">
                <a:tc vMerge="1">
                  <a:txBody>
                    <a:bodyPr/>
                    <a:lstStyle/>
                    <a:p>
                      <a:endParaRPr lang="zh-TW" altLang="en-US"/>
                    </a:p>
                  </a:txBody>
                  <a:tcPr/>
                </a:tc>
                <a:tc>
                  <a:txBody>
                    <a:bodyPr/>
                    <a:lstStyle/>
                    <a:p>
                      <a:pPr algn="ctr" rtl="0" fontAlgn="ctr"/>
                      <a:r>
                        <a:rPr lang="zh-TW" altLang="en-US" sz="1600" b="0" i="0" u="none" strike="noStrike" dirty="0">
                          <a:latin typeface="微軟正黑體"/>
                        </a:rPr>
                        <a:t>保全員</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600" b="0" i="0" u="none" strike="noStrike" dirty="0">
                          <a:solidFill>
                            <a:srgbClr val="000000"/>
                          </a:solidFill>
                          <a:latin typeface="微軟正黑體"/>
                        </a:rPr>
                        <a:t>安全維護</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a:latin typeface="微軟正黑體"/>
                        </a:rPr>
                        <a:t>18</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a:latin typeface="微軟正黑體"/>
                        </a:rPr>
                        <a:t>46000</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dirty="0">
                          <a:solidFill>
                            <a:srgbClr val="000000"/>
                          </a:solidFill>
                          <a:latin typeface="微軟正黑體"/>
                        </a:rPr>
                        <a:t>828000 </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zh-TW" altLang="en-US"/>
                    </a:p>
                  </a:txBody>
                  <a:tcPr/>
                </a:tc>
              </a:tr>
              <a:tr h="361158">
                <a:tc vMerge="1">
                  <a:txBody>
                    <a:bodyPr/>
                    <a:lstStyle/>
                    <a:p>
                      <a:endParaRPr lang="zh-TW" altLang="en-US"/>
                    </a:p>
                  </a:txBody>
                  <a:tcPr/>
                </a:tc>
                <a:tc>
                  <a:txBody>
                    <a:bodyPr/>
                    <a:lstStyle/>
                    <a:p>
                      <a:pPr algn="ctr" rtl="0" fontAlgn="ctr"/>
                      <a:r>
                        <a:rPr lang="zh-TW" altLang="en-US" sz="1600" b="0" i="0" u="none" strike="noStrike" dirty="0">
                          <a:latin typeface="微軟正黑體"/>
                        </a:rPr>
                        <a:t>機電員</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600" b="0" i="0" u="none" strike="noStrike" dirty="0">
                          <a:solidFill>
                            <a:srgbClr val="000000"/>
                          </a:solidFill>
                          <a:latin typeface="微軟正黑體"/>
                        </a:rPr>
                        <a:t>機電維護</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a:latin typeface="微軟正黑體"/>
                        </a:rPr>
                        <a:t>4</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a:latin typeface="微軟正黑體"/>
                        </a:rPr>
                        <a:t>56000</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dirty="0">
                          <a:solidFill>
                            <a:srgbClr val="000000"/>
                          </a:solidFill>
                          <a:latin typeface="微軟正黑體"/>
                        </a:rPr>
                        <a:t>224000 </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zh-TW" altLang="en-US"/>
                    </a:p>
                  </a:txBody>
                  <a:tcPr/>
                </a:tc>
              </a:tr>
              <a:tr h="361158">
                <a:tc>
                  <a:txBody>
                    <a:bodyPr/>
                    <a:lstStyle/>
                    <a:p>
                      <a:pPr algn="l" rtl="0" fontAlgn="ctr"/>
                      <a:r>
                        <a:rPr lang="zh-TW" altLang="en-US" sz="1600" b="0" i="0" u="none" strike="noStrike">
                          <a:solidFill>
                            <a:srgbClr val="000000"/>
                          </a:solidFill>
                          <a:latin typeface="微軟正黑體"/>
                        </a:rPr>
                        <a:t>　</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600" b="0" i="0" u="none" strike="noStrike" dirty="0">
                          <a:solidFill>
                            <a:srgbClr val="000000"/>
                          </a:solidFill>
                          <a:latin typeface="微軟正黑體"/>
                        </a:rPr>
                        <a:t>小    計</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4">
                  <a:txBody>
                    <a:bodyPr/>
                    <a:lstStyle/>
                    <a:p>
                      <a:pPr algn="r" rtl="0" fontAlgn="ctr"/>
                      <a:r>
                        <a:rPr lang="en-US" altLang="zh-TW" sz="1600" b="1" i="0" u="none" strike="noStrike" dirty="0">
                          <a:solidFill>
                            <a:srgbClr val="000000"/>
                          </a:solidFill>
                          <a:latin typeface="微軟正黑體"/>
                        </a:rPr>
                        <a:t>$2,170,120 </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rowSpan="3">
                  <a:txBody>
                    <a:bodyPr/>
                    <a:lstStyle/>
                    <a:p>
                      <a:pPr algn="ctr" rtl="0" fontAlgn="ctr"/>
                      <a:r>
                        <a:rPr lang="zh-TW" altLang="en-US" sz="1600" b="1" i="0" u="none" strike="noStrike">
                          <a:solidFill>
                            <a:srgbClr val="FF0000"/>
                          </a:solidFill>
                          <a:latin typeface="微軟正黑體"/>
                        </a:rPr>
                        <a:t>單位</a:t>
                      </a:r>
                      <a:r>
                        <a:rPr lang="en-US" altLang="zh-TW" sz="1600" b="1" i="0" u="none" strike="noStrike">
                          <a:solidFill>
                            <a:srgbClr val="FF0000"/>
                          </a:solidFill>
                          <a:latin typeface="微軟正黑體"/>
                        </a:rPr>
                        <a:t>:</a:t>
                      </a:r>
                      <a:r>
                        <a:rPr lang="zh-TW" altLang="en-US" sz="1600" b="1" i="0" u="none" strike="noStrike">
                          <a:solidFill>
                            <a:srgbClr val="FF0000"/>
                          </a:solidFill>
                          <a:latin typeface="微軟正黑體"/>
                        </a:rPr>
                        <a:t>新台幣</a:t>
                      </a:r>
                      <a:r>
                        <a:rPr lang="en-US" altLang="zh-TW" sz="1600" b="1" i="0" u="none" strike="noStrike">
                          <a:solidFill>
                            <a:srgbClr val="FF0000"/>
                          </a:solidFill>
                          <a:latin typeface="微軟正黑體"/>
                        </a:rPr>
                        <a:t>/</a:t>
                      </a:r>
                      <a:r>
                        <a:rPr lang="zh-TW" altLang="en-US" sz="1600" b="1" i="0" u="none" strike="noStrike">
                          <a:solidFill>
                            <a:srgbClr val="FF0000"/>
                          </a:solidFill>
                          <a:latin typeface="微軟正黑體"/>
                        </a:rPr>
                        <a:t>元</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r>
              <a:tr h="361158">
                <a:tc>
                  <a:txBody>
                    <a:bodyPr/>
                    <a:lstStyle/>
                    <a:p>
                      <a:pPr algn="l" rtl="0" fontAlgn="ctr"/>
                      <a:r>
                        <a:rPr lang="zh-TW" altLang="en-US" sz="1600" b="0" i="0" u="none" strike="noStrike">
                          <a:solidFill>
                            <a:srgbClr val="000000"/>
                          </a:solidFill>
                          <a:latin typeface="微軟正黑體"/>
                        </a:rPr>
                        <a:t>　</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TW" sz="1600" b="0" i="0" u="none" strike="noStrike" dirty="0">
                          <a:solidFill>
                            <a:srgbClr val="000000"/>
                          </a:solidFill>
                          <a:latin typeface="微軟正黑體"/>
                        </a:rPr>
                        <a:t>5% </a:t>
                      </a:r>
                      <a:r>
                        <a:rPr lang="zh-TW" altLang="en-US" sz="1600" b="0" i="0" u="none" strike="noStrike" dirty="0">
                          <a:solidFill>
                            <a:srgbClr val="000000"/>
                          </a:solidFill>
                          <a:latin typeface="微軟正黑體"/>
                        </a:rPr>
                        <a:t>稅額</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4">
                  <a:txBody>
                    <a:bodyPr/>
                    <a:lstStyle/>
                    <a:p>
                      <a:pPr algn="r" rtl="0" fontAlgn="ctr"/>
                      <a:r>
                        <a:rPr lang="en-US" altLang="zh-TW" sz="1600" b="1" i="0" u="none" strike="noStrike" dirty="0">
                          <a:solidFill>
                            <a:srgbClr val="000000"/>
                          </a:solidFill>
                          <a:latin typeface="微軟正黑體"/>
                        </a:rPr>
                        <a:t>$108,506 </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vMerge="1">
                  <a:txBody>
                    <a:bodyPr/>
                    <a:lstStyle/>
                    <a:p>
                      <a:endParaRPr lang="zh-TW" altLang="en-US"/>
                    </a:p>
                  </a:txBody>
                  <a:tcPr/>
                </a:tc>
              </a:tr>
              <a:tr h="361158">
                <a:tc>
                  <a:txBody>
                    <a:bodyPr/>
                    <a:lstStyle/>
                    <a:p>
                      <a:pPr algn="l" rtl="0" fontAlgn="ctr"/>
                      <a:r>
                        <a:rPr lang="zh-TW" altLang="en-US" sz="1600" b="0" i="0" u="none" strike="noStrike">
                          <a:solidFill>
                            <a:srgbClr val="000000"/>
                          </a:solidFill>
                          <a:latin typeface="微軟正黑體"/>
                        </a:rPr>
                        <a:t>　</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TW" altLang="en-US" sz="1600" b="1" i="0" u="none" strike="noStrike" dirty="0">
                          <a:solidFill>
                            <a:srgbClr val="FF0000"/>
                          </a:solidFill>
                          <a:latin typeface="微軟正黑體"/>
                        </a:rPr>
                        <a:t>總計</a:t>
                      </a:r>
                      <a:r>
                        <a:rPr lang="en-US" altLang="zh-TW" sz="1600" b="1" i="0" u="none" strike="noStrike" dirty="0">
                          <a:solidFill>
                            <a:srgbClr val="FF0000"/>
                          </a:solidFill>
                          <a:latin typeface="微軟正黑體"/>
                        </a:rPr>
                        <a:t>(</a:t>
                      </a:r>
                      <a:r>
                        <a:rPr lang="zh-TW" altLang="en-US" sz="1600" b="1" i="0" u="none" strike="noStrike" dirty="0">
                          <a:solidFill>
                            <a:srgbClr val="FF0000"/>
                          </a:solidFill>
                          <a:latin typeface="微軟正黑體"/>
                        </a:rPr>
                        <a:t>月</a:t>
                      </a:r>
                      <a:r>
                        <a:rPr lang="en-US" altLang="zh-TW" sz="1600" b="1" i="0" u="none" strike="noStrike" dirty="0">
                          <a:solidFill>
                            <a:srgbClr val="FF0000"/>
                          </a:solidFill>
                          <a:latin typeface="微軟正黑體"/>
                        </a:rPr>
                        <a:t>)</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4">
                  <a:txBody>
                    <a:bodyPr/>
                    <a:lstStyle/>
                    <a:p>
                      <a:pPr algn="ctr" rtl="0" fontAlgn="ctr"/>
                      <a:r>
                        <a:rPr lang="en-US" sz="1600" b="1" i="0" u="none" strike="noStrike" dirty="0">
                          <a:solidFill>
                            <a:srgbClr val="FF0000"/>
                          </a:solidFill>
                          <a:latin typeface="微軟正黑體"/>
                        </a:rPr>
                        <a:t>NT$2,278,626 </a:t>
                      </a:r>
                    </a:p>
                  </a:txBody>
                  <a:tcPr marL="7471" marR="7471" marT="74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vMerge="1">
                  <a:txBody>
                    <a:bodyPr/>
                    <a:lstStyle/>
                    <a:p>
                      <a:endParaRPr lang="zh-TW" altLang="en-US"/>
                    </a:p>
                  </a:txBody>
                  <a:tcPr/>
                </a:tc>
              </a:tr>
            </a:tbl>
          </a:graphicData>
        </a:graphic>
      </p:graphicFrame>
    </p:spTree>
  </p:cSld>
  <p:clrMapOvr>
    <a:masterClrMapping/>
  </p:clrMapOvr>
  <p:transition spd="med">
    <p:randomBar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626" name="Picture 2" descr="\\192.168.1.26\Scan\20190731114135023_0001.jpg"/>
          <p:cNvPicPr>
            <a:picLocks noGrp="1" noChangeAspect="1" noChangeArrowheads="1"/>
          </p:cNvPicPr>
          <p:nvPr>
            <p:ph/>
          </p:nvPr>
        </p:nvPicPr>
        <p:blipFill>
          <a:blip r:embed="rId2"/>
          <a:srcRect/>
          <a:stretch>
            <a:fillRect/>
          </a:stretch>
        </p:blipFill>
        <p:spPr bwMode="auto">
          <a:xfrm>
            <a:off x="138143" y="285728"/>
            <a:ext cx="8791576" cy="6215253"/>
          </a:xfrm>
          <a:prstGeom prst="rect">
            <a:avLst/>
          </a:prstGeom>
          <a:noFill/>
        </p:spPr>
      </p:pic>
    </p:spTree>
    <p:extLst>
      <p:ext uri="{BB962C8B-B14F-4D97-AF65-F5344CB8AC3E}">
        <p14:creationId xmlns="" xmlns:p14="http://schemas.microsoft.com/office/powerpoint/2010/main" val="185743574"/>
      </p:ext>
    </p:extLst>
  </p:cSld>
  <p:clrMapOvr>
    <a:masterClrMapping/>
  </p:clrMapOvr>
  <p:transition spd="med">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6" name="Picture 2" descr="C:\Users\User\Desktop\近期洽談新案(儲備人力)\麗寶建設三新案(淡水新莊桃園)\淡海\20190731麗寶淡海案報價單.jpg"/>
          <p:cNvPicPr>
            <a:picLocks noGrp="1" noChangeAspect="1" noChangeArrowheads="1"/>
          </p:cNvPicPr>
          <p:nvPr>
            <p:ph/>
          </p:nvPr>
        </p:nvPicPr>
        <p:blipFill>
          <a:blip r:embed="rId2"/>
          <a:srcRect/>
          <a:stretch>
            <a:fillRect/>
          </a:stretch>
        </p:blipFill>
        <p:spPr bwMode="auto">
          <a:xfrm>
            <a:off x="1857356" y="142852"/>
            <a:ext cx="5929354" cy="6545803"/>
          </a:xfrm>
          <a:prstGeom prst="rect">
            <a:avLst/>
          </a:prstGeom>
          <a:noFill/>
        </p:spPr>
      </p:pic>
    </p:spTree>
    <p:extLst>
      <p:ext uri="{BB962C8B-B14F-4D97-AF65-F5344CB8AC3E}">
        <p14:creationId xmlns="" xmlns:p14="http://schemas.microsoft.com/office/powerpoint/2010/main" val="185743574"/>
      </p:ext>
    </p:extLst>
  </p:cSld>
  <p:clrMapOvr>
    <a:masterClrMapping/>
  </p:clrMapOvr>
  <p:transition spd="med">
    <p:randomBar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p:nvPr>
        </p:nvSpPr>
        <p:spPr>
          <a:xfrm>
            <a:off x="500034" y="714356"/>
            <a:ext cx="8229600" cy="1714512"/>
          </a:xfrm>
        </p:spPr>
        <p:txBody>
          <a:bodyPr anchor="ctr"/>
          <a:lstStyle/>
          <a:p>
            <a:pPr algn="ctr">
              <a:buNone/>
            </a:pPr>
            <a:r>
              <a:rPr lang="zh-TW" altLang="en-US" sz="6600" b="1" dirty="0" smtClean="0">
                <a:solidFill>
                  <a:srgbClr val="002060"/>
                </a:solidFill>
                <a:latin typeface="微軟正黑體" pitchFamily="34" charset="-120"/>
                <a:ea typeface="微軟正黑體" pitchFamily="34" charset="-120"/>
              </a:rPr>
              <a:t>物業建議事項</a:t>
            </a:r>
            <a:endParaRPr lang="zh-TW" altLang="en-US" sz="6600" b="1" dirty="0">
              <a:solidFill>
                <a:srgbClr val="002060"/>
              </a:solidFill>
              <a:latin typeface="微軟正黑體" pitchFamily="34" charset="-120"/>
              <a:ea typeface="微軟正黑體" pitchFamily="34" charset="-120"/>
            </a:endParaRPr>
          </a:p>
        </p:txBody>
      </p:sp>
      <p:cxnSp>
        <p:nvCxnSpPr>
          <p:cNvPr id="4" name="直線接點 3"/>
          <p:cNvCxnSpPr/>
          <p:nvPr/>
        </p:nvCxnSpPr>
        <p:spPr>
          <a:xfrm>
            <a:off x="2428860" y="2071678"/>
            <a:ext cx="4286280" cy="1588"/>
          </a:xfrm>
          <a:prstGeom prst="line">
            <a:avLst/>
          </a:prstGeom>
          <a:effectLst>
            <a:glow rad="101600">
              <a:schemeClr val="accent3">
                <a:satMod val="175000"/>
                <a:alpha val="40000"/>
              </a:schemeClr>
            </a:glow>
            <a:outerShdw blurRad="190500" dist="228600" dir="2700000" sy="90000" rotWithShape="0">
              <a:srgbClr val="000000">
                <a:alpha val="25500"/>
              </a:srgbClr>
            </a:outerShdw>
          </a:effectLst>
        </p:spPr>
        <p:style>
          <a:lnRef idx="3">
            <a:schemeClr val="accent6"/>
          </a:lnRef>
          <a:fillRef idx="0">
            <a:schemeClr val="accent6"/>
          </a:fillRef>
          <a:effectRef idx="2">
            <a:schemeClr val="accent6"/>
          </a:effectRef>
          <a:fontRef idx="minor">
            <a:schemeClr val="tx1"/>
          </a:fontRef>
        </p:style>
      </p:cxnSp>
      <p:pic>
        <p:nvPicPr>
          <p:cNvPr id="7" name="圖片 6" descr="齊家精緻物業logo.tif"/>
          <p:cNvPicPr>
            <a:picLocks noChangeAspect="1"/>
          </p:cNvPicPr>
          <p:nvPr/>
        </p:nvPicPr>
        <p:blipFill>
          <a:blip r:embed="rId2" cstate="print"/>
          <a:stretch>
            <a:fillRect/>
          </a:stretch>
        </p:blipFill>
        <p:spPr>
          <a:xfrm>
            <a:off x="3474720" y="5992639"/>
            <a:ext cx="2131174" cy="604713"/>
          </a:xfrm>
          <a:prstGeom prst="rect">
            <a:avLst/>
          </a:prstGeom>
        </p:spPr>
      </p:pic>
    </p:spTree>
  </p:cSld>
  <p:clrMapOvr>
    <a:masterClrMapping/>
  </p:clrMapOvr>
  <p:transition spd="med">
    <p:randomBar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1071538" y="714356"/>
            <a:ext cx="7072362" cy="5693866"/>
          </a:xfrm>
          <a:prstGeom prst="rect">
            <a:avLst/>
          </a:prstGeom>
          <a:noFill/>
          <a:effectLst>
            <a:glow rad="63500">
              <a:schemeClr val="accent3">
                <a:satMod val="175000"/>
                <a:alpha val="40000"/>
              </a:schemeClr>
            </a:glow>
          </a:effectLst>
        </p:spPr>
        <p:txBody>
          <a:bodyPr wrap="square" rtlCol="0">
            <a:spAutoFit/>
          </a:bodyPr>
          <a:lstStyle/>
          <a:p>
            <a:pPr marL="514350" indent="-514350">
              <a:buFont typeface="+mj-lt"/>
              <a:buAutoNum type="arabicPeriod"/>
            </a:pPr>
            <a:r>
              <a:rPr lang="zh-TW" altLang="en-US"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一樓大廳建議增設副控</a:t>
            </a:r>
            <a:r>
              <a:rPr lang="zh-TW" altLang="en-US"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設施。</a:t>
            </a:r>
            <a:endParaRPr lang="en-US" altLang="zh-TW"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457200" indent="-457200">
              <a:buFont typeface="+mj-lt"/>
              <a:buAutoNum type="arabicPeriod"/>
            </a:pPr>
            <a:r>
              <a:rPr lang="en-US" altLang="zh-TW"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1</a:t>
            </a:r>
            <a:r>
              <a:rPr lang="zh-TW" altLang="en-US"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樓大廳服務櫃台並無適合宅配置放區，建議社區應設置獨立服務中心兼宅配</a:t>
            </a:r>
            <a:r>
              <a:rPr lang="zh-TW" altLang="en-US"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室</a:t>
            </a:r>
            <a:endParaRPr lang="en-US" altLang="zh-TW"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457200" indent="-457200">
              <a:buFont typeface="+mj-lt"/>
              <a:buAutoNum type="arabicPeriod"/>
            </a:pPr>
            <a:r>
              <a:rPr lang="en-US" altLang="zh-TW"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1</a:t>
            </a:r>
            <a:r>
              <a:rPr lang="zh-TW" altLang="en-US"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樓車道崗哨應有冷氣及監控設備</a:t>
            </a:r>
            <a:endParaRPr lang="en-US" altLang="zh-TW"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457200" indent="-457200">
              <a:buFont typeface="+mj-lt"/>
              <a:buAutoNum type="arabicPeriod"/>
            </a:pPr>
            <a:r>
              <a:rPr lang="zh-TW" altLang="en-US"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地下室</a:t>
            </a:r>
            <a:r>
              <a:rPr lang="zh-TW" altLang="en-US"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停車場車輛眾多，車管設備除監控器材設備之外，應有備用通行管制設備輔助以備車輛通行設備臨時故障造成車輛進出問題。</a:t>
            </a:r>
            <a:endParaRPr lang="en-US" altLang="zh-TW"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457200" indent="-457200">
              <a:buFont typeface="+mj-lt"/>
              <a:buAutoNum type="arabicPeriod"/>
            </a:pPr>
            <a:r>
              <a:rPr lang="zh-TW" altLang="en-US"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社區</a:t>
            </a:r>
            <a:r>
              <a:rPr lang="zh-TW" altLang="en-US"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因幅員廣大巡邏哨建議增購設備</a:t>
            </a:r>
            <a:endParaRPr lang="en-US" altLang="zh-TW"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457200" indent="-457200">
              <a:buFont typeface="+mj-lt"/>
              <a:buAutoNum type="arabicPeriod"/>
            </a:pPr>
            <a:r>
              <a:rPr lang="zh-TW" altLang="en-US"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建議增設電子佈告欄。</a:t>
            </a:r>
            <a:endParaRPr lang="en-US" altLang="zh-TW"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457200" indent="-457200">
              <a:buFont typeface="+mj-lt"/>
              <a:buAutoNum type="arabicPeriod"/>
            </a:pPr>
            <a:r>
              <a:rPr lang="zh-TW" altLang="en-US"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建議購置一台洗地</a:t>
            </a:r>
            <a:r>
              <a:rPr lang="zh-TW" altLang="en-US"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車，清潔員自行負責社區地下室停車場全面清理</a:t>
            </a:r>
            <a:endParaRPr lang="en-US" altLang="zh-TW"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endParaRPr lang="zh-TW" altLang="en-US" sz="2800" dirty="0">
              <a:solidFill>
                <a:srgbClr val="800000"/>
              </a:solidFill>
              <a:effectLst>
                <a:glow rad="63500">
                  <a:schemeClr val="accent3">
                    <a:satMod val="175000"/>
                    <a:alpha val="40000"/>
                  </a:schemeClr>
                </a:glow>
              </a:effectLst>
              <a:latin typeface="微軟正黑體" pitchFamily="34" charset="-120"/>
              <a:ea typeface="微軟正黑體" pitchFamily="34" charset="-12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1071538" y="714356"/>
            <a:ext cx="7072362" cy="1815882"/>
          </a:xfrm>
          <a:prstGeom prst="rect">
            <a:avLst/>
          </a:prstGeom>
          <a:noFill/>
          <a:effectLst>
            <a:glow rad="63500">
              <a:schemeClr val="accent3">
                <a:satMod val="175000"/>
                <a:alpha val="40000"/>
              </a:schemeClr>
            </a:glow>
          </a:effectLst>
        </p:spPr>
        <p:txBody>
          <a:bodyPr wrap="square" rtlCol="0">
            <a:spAutoFit/>
          </a:bodyPr>
          <a:lstStyle/>
          <a:p>
            <a:pPr marL="514350" indent="-514350">
              <a:buFont typeface="+mj-lt"/>
              <a:buAutoNum type="arabicPeriod" startAt="8"/>
            </a:pPr>
            <a:r>
              <a:rPr lang="zh-TW" altLang="en-US"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地下室指引標識工程及柱位可採顏色區隔，以利住戶尋車。</a:t>
            </a:r>
            <a:endParaRPr lang="en-US" altLang="zh-TW"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pPr marL="514350" indent="-514350">
              <a:buFont typeface="+mj-lt"/>
              <a:buAutoNum type="arabicPeriod" startAt="8"/>
            </a:pPr>
            <a:endParaRPr lang="en-US" altLang="zh-TW" sz="28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endParaRPr>
          </a:p>
          <a:p>
            <a:endParaRPr lang="zh-TW" altLang="en-US" sz="2800" dirty="0">
              <a:solidFill>
                <a:srgbClr val="800000"/>
              </a:solidFill>
              <a:effectLst>
                <a:glow rad="63500">
                  <a:schemeClr val="accent3">
                    <a:satMod val="175000"/>
                    <a:alpha val="40000"/>
                  </a:schemeClr>
                </a:glow>
              </a:effectLst>
              <a:latin typeface="微軟正黑體" pitchFamily="34" charset="-120"/>
              <a:ea typeface="微軟正黑體" pitchFamily="34" charset="-12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831" name="Picture 7"/>
          <p:cNvPicPr>
            <a:picLocks noChangeAspect="1" noChangeArrowheads="1"/>
          </p:cNvPicPr>
          <p:nvPr/>
        </p:nvPicPr>
        <p:blipFill>
          <a:blip r:embed="rId2"/>
          <a:srcRect/>
          <a:stretch>
            <a:fillRect/>
          </a:stretch>
        </p:blipFill>
        <p:spPr bwMode="auto">
          <a:xfrm>
            <a:off x="5504071" y="3500438"/>
            <a:ext cx="3425647" cy="2786082"/>
          </a:xfrm>
          <a:prstGeom prst="rect">
            <a:avLst/>
          </a:prstGeom>
          <a:noFill/>
          <a:ln w="9525">
            <a:noFill/>
            <a:miter lim="800000"/>
            <a:headEnd/>
            <a:tailEnd/>
          </a:ln>
          <a:effectLst/>
        </p:spPr>
      </p:pic>
      <p:sp>
        <p:nvSpPr>
          <p:cNvPr id="2" name="文字方塊 1"/>
          <p:cNvSpPr txBox="1"/>
          <p:nvPr/>
        </p:nvSpPr>
        <p:spPr>
          <a:xfrm>
            <a:off x="642910" y="142852"/>
            <a:ext cx="7715304" cy="584775"/>
          </a:xfrm>
          <a:prstGeom prst="rect">
            <a:avLst/>
          </a:prstGeom>
          <a:solidFill>
            <a:srgbClr val="92D050"/>
          </a:solidFill>
          <a:effectLst>
            <a:glow rad="63500">
              <a:schemeClr val="accent3">
                <a:satMod val="175000"/>
                <a:alpha val="40000"/>
              </a:schemeClr>
            </a:glow>
          </a:effectLst>
        </p:spPr>
        <p:txBody>
          <a:bodyPr wrap="square" rtlCol="0">
            <a:spAutoFit/>
          </a:bodyPr>
          <a:lstStyle/>
          <a:p>
            <a:pPr algn="ctr"/>
            <a:r>
              <a:rPr lang="zh-TW" altLang="en-US" sz="3200" dirty="0" smtClean="0">
                <a:solidFill>
                  <a:srgbClr val="800000"/>
                </a:solidFill>
                <a:effectLst>
                  <a:glow rad="63500">
                    <a:schemeClr val="accent3">
                      <a:satMod val="175000"/>
                      <a:alpha val="40000"/>
                    </a:schemeClr>
                  </a:glow>
                </a:effectLst>
                <a:latin typeface="標楷體" pitchFamily="65" charset="-120"/>
                <a:ea typeface="標楷體" pitchFamily="65" charset="-120"/>
              </a:rPr>
              <a:t>地下室汽、機車格位停放區以顏色區分</a:t>
            </a:r>
            <a:endParaRPr lang="zh-TW" altLang="en-US" sz="3200" dirty="0">
              <a:solidFill>
                <a:srgbClr val="800000"/>
              </a:solidFill>
              <a:effectLst>
                <a:glow rad="63500">
                  <a:schemeClr val="accent3">
                    <a:satMod val="175000"/>
                    <a:alpha val="40000"/>
                  </a:schemeClr>
                </a:glow>
              </a:effectLst>
              <a:latin typeface="標楷體" pitchFamily="65" charset="-120"/>
              <a:ea typeface="標楷體" pitchFamily="65" charset="-120"/>
            </a:endParaRPr>
          </a:p>
        </p:txBody>
      </p:sp>
      <p:pic>
        <p:nvPicPr>
          <p:cNvPr id="205828" name="Picture 4" descr="C:\Users\User\Desktop\近期洽談新案(儲備人力)\業務簡報參考\S__36946157-1.jpg"/>
          <p:cNvPicPr>
            <a:picLocks noChangeAspect="1" noChangeArrowheads="1"/>
          </p:cNvPicPr>
          <p:nvPr/>
        </p:nvPicPr>
        <p:blipFill>
          <a:blip r:embed="rId3"/>
          <a:srcRect/>
          <a:stretch>
            <a:fillRect/>
          </a:stretch>
        </p:blipFill>
        <p:spPr bwMode="auto">
          <a:xfrm>
            <a:off x="6643702" y="1223966"/>
            <a:ext cx="2269579" cy="1428760"/>
          </a:xfrm>
          <a:prstGeom prst="rect">
            <a:avLst/>
          </a:prstGeom>
          <a:noFill/>
        </p:spPr>
      </p:pic>
      <p:pic>
        <p:nvPicPr>
          <p:cNvPr id="205830" name="Picture 6" descr="C:\Users\User\Desktop\近期洽談新案(儲備人力)\業務簡報參考\S__36946159.jpg"/>
          <p:cNvPicPr>
            <a:picLocks noChangeAspect="1" noChangeArrowheads="1"/>
          </p:cNvPicPr>
          <p:nvPr/>
        </p:nvPicPr>
        <p:blipFill>
          <a:blip r:embed="rId4"/>
          <a:srcRect/>
          <a:stretch>
            <a:fillRect/>
          </a:stretch>
        </p:blipFill>
        <p:spPr bwMode="auto">
          <a:xfrm>
            <a:off x="500034" y="2786058"/>
            <a:ext cx="4786346" cy="3589760"/>
          </a:xfrm>
          <a:prstGeom prst="rect">
            <a:avLst/>
          </a:prstGeom>
          <a:noFill/>
        </p:spPr>
      </p:pic>
      <p:pic>
        <p:nvPicPr>
          <p:cNvPr id="205826" name="Picture 2" descr="C:\Users\User\Desktop\近期洽談新案(儲備人力)\業務簡報參考\S__36946159-1.jpg"/>
          <p:cNvPicPr>
            <a:picLocks noChangeAspect="1" noChangeArrowheads="1"/>
          </p:cNvPicPr>
          <p:nvPr/>
        </p:nvPicPr>
        <p:blipFill>
          <a:blip r:embed="rId5"/>
          <a:srcRect/>
          <a:stretch>
            <a:fillRect/>
          </a:stretch>
        </p:blipFill>
        <p:spPr bwMode="auto">
          <a:xfrm>
            <a:off x="538149" y="805682"/>
            <a:ext cx="2319339" cy="2980508"/>
          </a:xfrm>
          <a:prstGeom prst="rect">
            <a:avLst/>
          </a:prstGeom>
          <a:noFill/>
        </p:spPr>
      </p:pic>
      <p:pic>
        <p:nvPicPr>
          <p:cNvPr id="205827" name="Picture 3" descr="C:\Users\User\Desktop\近期洽談新案(儲備人力)\業務簡報參考\S__36946157.jpg"/>
          <p:cNvPicPr>
            <a:picLocks noChangeAspect="1" noChangeArrowheads="1"/>
          </p:cNvPicPr>
          <p:nvPr/>
        </p:nvPicPr>
        <p:blipFill>
          <a:blip r:embed="rId6"/>
          <a:srcRect/>
          <a:stretch>
            <a:fillRect/>
          </a:stretch>
        </p:blipFill>
        <p:spPr bwMode="auto">
          <a:xfrm>
            <a:off x="3057544" y="866776"/>
            <a:ext cx="3371844" cy="2528883"/>
          </a:xfrm>
          <a:prstGeom prst="rect">
            <a:avLst/>
          </a:prstGeom>
          <a:noFill/>
        </p:spPr>
      </p:pic>
      <p:sp>
        <p:nvSpPr>
          <p:cNvPr id="8" name="文字方塊 7"/>
          <p:cNvSpPr txBox="1"/>
          <p:nvPr/>
        </p:nvSpPr>
        <p:spPr>
          <a:xfrm>
            <a:off x="6643702" y="2857496"/>
            <a:ext cx="2236510" cy="400110"/>
          </a:xfrm>
          <a:prstGeom prst="rect">
            <a:avLst/>
          </a:prstGeom>
          <a:solidFill>
            <a:srgbClr val="FFFF00"/>
          </a:solidFill>
          <a:effectLst>
            <a:glow rad="63500">
              <a:schemeClr val="accent3">
                <a:satMod val="175000"/>
                <a:alpha val="40000"/>
              </a:schemeClr>
            </a:glow>
          </a:effectLst>
        </p:spPr>
        <p:txBody>
          <a:bodyPr wrap="none" rtlCol="0">
            <a:spAutoFit/>
          </a:bodyPr>
          <a:lstStyle/>
          <a:p>
            <a:r>
              <a:rPr lang="zh-TW" altLang="en-US" sz="2000" dirty="0" smtClean="0">
                <a:solidFill>
                  <a:srgbClr val="800000"/>
                </a:solidFill>
                <a:effectLst>
                  <a:glow rad="63500">
                    <a:schemeClr val="accent3">
                      <a:satMod val="175000"/>
                      <a:alpha val="40000"/>
                    </a:schemeClr>
                  </a:glow>
                </a:effectLst>
                <a:latin typeface="微軟正黑體" pitchFamily="34" charset="-120"/>
                <a:ea typeface="微軟正黑體" pitchFamily="34" charset="-120"/>
              </a:rPr>
              <a:t>紅色屬住戶停放區</a:t>
            </a:r>
            <a:endParaRPr lang="zh-TW" altLang="en-US" sz="2000" dirty="0">
              <a:solidFill>
                <a:srgbClr val="800000"/>
              </a:solidFill>
              <a:effectLst>
                <a:glow rad="63500">
                  <a:schemeClr val="accent3">
                    <a:satMod val="175000"/>
                    <a:alpha val="40000"/>
                  </a:schemeClr>
                </a:glow>
              </a:effectLst>
              <a:latin typeface="微軟正黑體" pitchFamily="34" charset="-120"/>
              <a:ea typeface="微軟正黑體" pitchFamily="34" charset="-120"/>
            </a:endParaRPr>
          </a:p>
        </p:txBody>
      </p:sp>
      <p:sp>
        <p:nvSpPr>
          <p:cNvPr id="9" name="文字方塊 8"/>
          <p:cNvSpPr txBox="1"/>
          <p:nvPr/>
        </p:nvSpPr>
        <p:spPr>
          <a:xfrm>
            <a:off x="571472" y="4131238"/>
            <a:ext cx="2031325" cy="369332"/>
          </a:xfrm>
          <a:prstGeom prst="rect">
            <a:avLst/>
          </a:prstGeom>
          <a:solidFill>
            <a:srgbClr val="FFFF00"/>
          </a:solidFill>
          <a:effectLst>
            <a:glow rad="63500">
              <a:schemeClr val="accent3">
                <a:satMod val="175000"/>
                <a:alpha val="40000"/>
              </a:schemeClr>
            </a:glow>
          </a:effectLst>
        </p:spPr>
        <p:txBody>
          <a:bodyPr wrap="none" rtlCol="0">
            <a:spAutoFit/>
          </a:bodyPr>
          <a:lstStyle/>
          <a:p>
            <a:r>
              <a:rPr lang="zh-TW" altLang="en-US" dirty="0" smtClean="0">
                <a:solidFill>
                  <a:srgbClr val="354CF7"/>
                </a:solidFill>
                <a:effectLst>
                  <a:glow rad="63500">
                    <a:schemeClr val="accent3">
                      <a:satMod val="175000"/>
                      <a:alpha val="40000"/>
                    </a:schemeClr>
                  </a:glow>
                </a:effectLst>
                <a:latin typeface="微軟正黑體" pitchFamily="34" charset="-120"/>
                <a:ea typeface="微軟正黑體" pitchFamily="34" charset="-120"/>
              </a:rPr>
              <a:t>藍色屬訪客停放區</a:t>
            </a:r>
            <a:endParaRPr lang="zh-TW" altLang="en-US" dirty="0">
              <a:solidFill>
                <a:srgbClr val="354CF7"/>
              </a:solidFill>
              <a:effectLst>
                <a:glow rad="63500">
                  <a:schemeClr val="accent3">
                    <a:satMod val="175000"/>
                    <a:alpha val="40000"/>
                  </a:schemeClr>
                </a:glow>
              </a:effectLst>
              <a:latin typeface="微軟正黑體" pitchFamily="34" charset="-120"/>
              <a:ea typeface="微軟正黑體" pitchFamily="34" charset="-120"/>
            </a:endParaRPr>
          </a:p>
        </p:txBody>
      </p:sp>
      <p:sp>
        <p:nvSpPr>
          <p:cNvPr id="10" name="文字方塊 9"/>
          <p:cNvSpPr txBox="1"/>
          <p:nvPr/>
        </p:nvSpPr>
        <p:spPr>
          <a:xfrm>
            <a:off x="6357950" y="5364320"/>
            <a:ext cx="1723549" cy="707886"/>
          </a:xfrm>
          <a:prstGeom prst="rect">
            <a:avLst/>
          </a:prstGeom>
          <a:solidFill>
            <a:srgbClr val="FFFF00"/>
          </a:solidFill>
          <a:effectLst>
            <a:glow rad="63500">
              <a:schemeClr val="accent3">
                <a:satMod val="175000"/>
                <a:alpha val="40000"/>
              </a:schemeClr>
            </a:glow>
          </a:effectLst>
        </p:spPr>
        <p:txBody>
          <a:bodyPr wrap="none" rtlCol="0">
            <a:spAutoFit/>
          </a:bodyPr>
          <a:lstStyle/>
          <a:p>
            <a:pPr algn="ctr"/>
            <a:r>
              <a:rPr lang="zh-TW" altLang="en-US" sz="2000" dirty="0" smtClean="0">
                <a:solidFill>
                  <a:srgbClr val="00B050"/>
                </a:solidFill>
                <a:effectLst>
                  <a:glow rad="63500">
                    <a:schemeClr val="accent3">
                      <a:satMod val="175000"/>
                      <a:alpha val="40000"/>
                    </a:schemeClr>
                  </a:glow>
                </a:effectLst>
                <a:latin typeface="微軟正黑體" pitchFamily="34" charset="-120"/>
                <a:ea typeface="微軟正黑體" pitchFamily="34" charset="-120"/>
              </a:rPr>
              <a:t>綠色屬住戶</a:t>
            </a:r>
            <a:endParaRPr lang="en-US" altLang="zh-TW" sz="2000" dirty="0" smtClean="0">
              <a:solidFill>
                <a:srgbClr val="00B050"/>
              </a:solidFill>
              <a:effectLst>
                <a:glow rad="63500">
                  <a:schemeClr val="accent3">
                    <a:satMod val="175000"/>
                    <a:alpha val="40000"/>
                  </a:schemeClr>
                </a:glow>
              </a:effectLst>
              <a:latin typeface="微軟正黑體" pitchFamily="34" charset="-120"/>
              <a:ea typeface="微軟正黑體" pitchFamily="34" charset="-120"/>
            </a:endParaRPr>
          </a:p>
          <a:p>
            <a:pPr algn="ctr"/>
            <a:r>
              <a:rPr lang="zh-TW" altLang="en-US" sz="2000" dirty="0" smtClean="0">
                <a:solidFill>
                  <a:srgbClr val="00B050"/>
                </a:solidFill>
                <a:effectLst>
                  <a:glow rad="63500">
                    <a:schemeClr val="accent3">
                      <a:satMod val="175000"/>
                      <a:alpha val="40000"/>
                    </a:schemeClr>
                  </a:glow>
                </a:effectLst>
                <a:latin typeface="微軟正黑體" pitchFamily="34" charset="-120"/>
                <a:ea typeface="微軟正黑體" pitchFamily="34" charset="-120"/>
              </a:rPr>
              <a:t>自行車停放區</a:t>
            </a:r>
            <a:endParaRPr lang="zh-TW" altLang="en-US" sz="2000" dirty="0">
              <a:solidFill>
                <a:srgbClr val="00B050"/>
              </a:solidFill>
              <a:effectLst>
                <a:glow rad="63500">
                  <a:schemeClr val="accent3">
                    <a:satMod val="175000"/>
                    <a:alpha val="40000"/>
                  </a:schemeClr>
                </a:glow>
              </a:effectLst>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p:cNvSpPr txBox="1"/>
          <p:nvPr/>
        </p:nvSpPr>
        <p:spPr>
          <a:xfrm>
            <a:off x="464694" y="357166"/>
            <a:ext cx="8107834" cy="646331"/>
          </a:xfrm>
          <a:prstGeom prst="rect">
            <a:avLst/>
          </a:prstGeom>
          <a:solidFill>
            <a:srgbClr val="92D050"/>
          </a:solidFill>
        </p:spPr>
        <p:txBody>
          <a:bodyPr wrap="square" rtlCol="0">
            <a:spAutoFit/>
          </a:bodyPr>
          <a:lstStyle/>
          <a:p>
            <a:pPr algn="ctr"/>
            <a:r>
              <a:rPr lang="zh-TW" altLang="en-US" sz="3600" dirty="0" smtClean="0">
                <a:solidFill>
                  <a:srgbClr val="FF0000"/>
                </a:solidFill>
                <a:latin typeface="標楷體" pitchFamily="65" charset="-120"/>
                <a:ea typeface="標楷體" pitchFamily="65" charset="-120"/>
              </a:rPr>
              <a:t>保全巡邏哨配置智能設備</a:t>
            </a:r>
            <a:endParaRPr lang="zh-TW" altLang="en-US" sz="3600" dirty="0">
              <a:solidFill>
                <a:srgbClr val="FF0000"/>
              </a:solidFill>
              <a:latin typeface="標楷體" pitchFamily="65" charset="-120"/>
              <a:ea typeface="標楷體" pitchFamily="65" charset="-120"/>
            </a:endParaRPr>
          </a:p>
        </p:txBody>
      </p:sp>
      <p:pic>
        <p:nvPicPr>
          <p:cNvPr id="44034" name="Picture 2"/>
          <p:cNvPicPr>
            <a:picLocks noChangeAspect="1" noChangeArrowheads="1"/>
          </p:cNvPicPr>
          <p:nvPr/>
        </p:nvPicPr>
        <p:blipFill>
          <a:blip r:embed="rId2" cstate="print"/>
          <a:srcRect/>
          <a:stretch>
            <a:fillRect/>
          </a:stretch>
        </p:blipFill>
        <p:spPr bwMode="auto">
          <a:xfrm>
            <a:off x="6153176" y="4286256"/>
            <a:ext cx="1637486" cy="1738308"/>
          </a:xfrm>
          <a:prstGeom prst="rect">
            <a:avLst/>
          </a:prstGeom>
          <a:noFill/>
          <a:ln w="9525">
            <a:noFill/>
            <a:miter lim="800000"/>
            <a:headEnd/>
            <a:tailEnd/>
          </a:ln>
          <a:effectLst/>
        </p:spPr>
      </p:pic>
      <p:sp>
        <p:nvSpPr>
          <p:cNvPr id="7" name="矩形 6"/>
          <p:cNvSpPr/>
          <p:nvPr/>
        </p:nvSpPr>
        <p:spPr>
          <a:xfrm>
            <a:off x="714348" y="1214422"/>
            <a:ext cx="7643866" cy="646331"/>
          </a:xfrm>
          <a:prstGeom prst="rect">
            <a:avLst/>
          </a:prstGeom>
          <a:solidFill>
            <a:srgbClr val="FFC000"/>
          </a:solidFill>
        </p:spPr>
        <p:txBody>
          <a:bodyPr wrap="square">
            <a:spAutoFit/>
          </a:bodyPr>
          <a:lstStyle/>
          <a:p>
            <a:pPr algn="ctr" latinLnBrk="1"/>
            <a:r>
              <a:rPr lang="en-US" altLang="zh-TW" b="1" dirty="0" smtClean="0"/>
              <a:t>【</a:t>
            </a:r>
            <a:r>
              <a:rPr lang="zh-TW" altLang="en-US" b="1" dirty="0" smtClean="0"/>
              <a:t>小米九號平衡車</a:t>
            </a:r>
            <a:r>
              <a:rPr lang="en-US" altLang="zh-TW" b="1" dirty="0" smtClean="0"/>
              <a:t>Plus】</a:t>
            </a:r>
            <a:r>
              <a:rPr lang="zh-TW" altLang="en-US" b="1" dirty="0" smtClean="0"/>
              <a:t>一個形影不離的新夥伴</a:t>
            </a:r>
            <a:r>
              <a:rPr lang="en-US" altLang="zh-TW" b="1" dirty="0" smtClean="0"/>
              <a:t>,</a:t>
            </a:r>
            <a:r>
              <a:rPr lang="zh-TW" altLang="en-US" b="1" dirty="0" smtClean="0"/>
              <a:t>增強型鎂合金底盤、</a:t>
            </a:r>
            <a:endParaRPr lang="en-US" altLang="zh-TW" b="1" dirty="0" smtClean="0"/>
          </a:p>
          <a:p>
            <a:pPr algn="ctr" latinLnBrk="1"/>
            <a:r>
              <a:rPr lang="en-US" altLang="zh-TW" b="1" dirty="0" smtClean="0"/>
              <a:t> 35km </a:t>
            </a:r>
            <a:r>
              <a:rPr lang="zh-TW" altLang="en-US" b="1" dirty="0" smtClean="0"/>
              <a:t>超長續航力、一鍵自動跟隨、可拓展小米雲台相機</a:t>
            </a:r>
            <a:endParaRPr lang="zh-TW" altLang="en-US" b="1" dirty="0"/>
          </a:p>
        </p:txBody>
      </p:sp>
      <p:graphicFrame>
        <p:nvGraphicFramePr>
          <p:cNvPr id="8" name="表格 7"/>
          <p:cNvGraphicFramePr>
            <a:graphicFrameLocks noGrp="1"/>
          </p:cNvGraphicFramePr>
          <p:nvPr/>
        </p:nvGraphicFramePr>
        <p:xfrm>
          <a:off x="5500694" y="6097926"/>
          <a:ext cx="3429024" cy="331470"/>
        </p:xfrm>
        <a:graphic>
          <a:graphicData uri="http://schemas.openxmlformats.org/drawingml/2006/table">
            <a:tbl>
              <a:tblPr/>
              <a:tblGrid>
                <a:gridCol w="1714512"/>
                <a:gridCol w="1714512"/>
              </a:tblGrid>
              <a:tr h="0">
                <a:tc>
                  <a:txBody>
                    <a:bodyPr/>
                    <a:lstStyle/>
                    <a:p>
                      <a:pPr algn="ctr"/>
                      <a:r>
                        <a:rPr lang="zh-TW" altLang="en-US" dirty="0" smtClean="0"/>
                        <a:t>參考價格</a:t>
                      </a:r>
                      <a:endParaRPr lang="zh-TW" altLang="en-US" dirty="0"/>
                    </a:p>
                  </a:txBody>
                  <a:tcPr marT="28575" marB="28575"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smtClean="0">
                          <a:solidFill>
                            <a:srgbClr val="0066BC"/>
                          </a:solidFill>
                        </a:rPr>
                        <a:t>NT$16,665</a:t>
                      </a:r>
                      <a:endParaRPr lang="en-US" dirty="0" smtClean="0">
                        <a:solidFill>
                          <a:srgbClr val="2F2B20"/>
                        </a:solidFill>
                      </a:endParaRPr>
                    </a:p>
                  </a:txBody>
                  <a:tcPr marT="28575" marB="28575" anchor="ctr">
                    <a:lnL w="9525" cap="flat" cmpd="sng" algn="ctr">
                      <a:solidFill>
                        <a:srgbClr val="DCDCDC"/>
                      </a:solidFill>
                      <a:prstDash val="solid"/>
                      <a:round/>
                      <a:headEnd type="none" w="med" len="med"/>
                      <a:tailEnd type="none" w="med" len="med"/>
                    </a:lnL>
                    <a:lnR w="9525" cap="flat" cmpd="sng" algn="ctr">
                      <a:solidFill>
                        <a:srgbClr val="DCDCDC"/>
                      </a:solidFill>
                      <a:prstDash val="solid"/>
                      <a:round/>
                      <a:headEnd type="none" w="med" len="med"/>
                      <a:tailEnd type="none" w="med" len="med"/>
                    </a:lnR>
                    <a:lnT w="9525" cap="flat" cmpd="sng" algn="ctr">
                      <a:solidFill>
                        <a:srgbClr val="DCDCDC"/>
                      </a:solidFill>
                      <a:prstDash val="solid"/>
                      <a:round/>
                      <a:headEnd type="none" w="med" len="med"/>
                      <a:tailEnd type="none" w="med" len="med"/>
                    </a:lnT>
                    <a:lnB w="9525" cap="flat" cmpd="sng" algn="ctr">
                      <a:solidFill>
                        <a:srgbClr val="DCDCDC"/>
                      </a:solidFill>
                      <a:prstDash val="solid"/>
                      <a:round/>
                      <a:headEnd type="none" w="med" len="med"/>
                      <a:tailEnd type="none" w="med" len="med"/>
                    </a:lnB>
                    <a:solidFill>
                      <a:srgbClr val="F5F5F5"/>
                    </a:solidFill>
                  </a:tcPr>
                </a:tc>
              </a:tr>
            </a:tbl>
          </a:graphicData>
        </a:graphic>
      </p:graphicFrame>
      <p:sp>
        <p:nvSpPr>
          <p:cNvPr id="44035" name="Rectangle 3"/>
          <p:cNvSpPr>
            <a:spLocks noChangeArrowheads="1"/>
          </p:cNvSpPr>
          <p:nvPr/>
        </p:nvSpPr>
        <p:spPr bwMode="auto">
          <a:xfrm>
            <a:off x="0" y="0"/>
            <a:ext cx="9144000" cy="0"/>
          </a:xfrm>
          <a:prstGeom prst="rect">
            <a:avLst/>
          </a:prstGeom>
          <a:solidFill>
            <a:srgbClr val="FFFFFF"/>
          </a:solidFill>
          <a:ln w="9525">
            <a:noFill/>
            <a:miter lim="800000"/>
            <a:headEnd/>
            <a:tailEnd/>
          </a:ln>
          <a:effectLst/>
        </p:spPr>
        <p:txBody>
          <a:bodyPr vert="horz" wrap="non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Arial" pitchFamily="34" charset="0"/>
              <a:ea typeface="新細明體" pitchFamily="18" charset="-120"/>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Arial" pitchFamily="34" charset="0"/>
              <a:ea typeface="新細明體" pitchFamily="18" charset="-120"/>
              <a:cs typeface="新細明體" pitchFamily="18" charset="-120"/>
            </a:endParaRPr>
          </a:p>
        </p:txBody>
      </p:sp>
      <p:pic>
        <p:nvPicPr>
          <p:cNvPr id="44038" name="Picture 6">
            <a:hlinkClick r:id="rId3"/>
          </p:cNvPr>
          <p:cNvPicPr>
            <a:picLocks noChangeAspect="1" noChangeArrowheads="1"/>
          </p:cNvPicPr>
          <p:nvPr/>
        </p:nvPicPr>
        <p:blipFill>
          <a:blip r:embed="rId4" cstate="print"/>
          <a:srcRect/>
          <a:stretch>
            <a:fillRect/>
          </a:stretch>
        </p:blipFill>
        <p:spPr bwMode="auto">
          <a:xfrm>
            <a:off x="500034" y="2071678"/>
            <a:ext cx="4655731" cy="4143404"/>
          </a:xfrm>
          <a:prstGeom prst="rect">
            <a:avLst/>
          </a:prstGeom>
          <a:noFill/>
          <a:ln w="9525">
            <a:noFill/>
            <a:miter lim="800000"/>
            <a:headEnd/>
            <a:tailEnd/>
          </a:ln>
          <a:effectLst/>
        </p:spPr>
      </p:pic>
      <p:pic>
        <p:nvPicPr>
          <p:cNvPr id="44039" name="Picture 7"/>
          <p:cNvPicPr>
            <a:picLocks noChangeAspect="1" noChangeArrowheads="1"/>
          </p:cNvPicPr>
          <p:nvPr/>
        </p:nvPicPr>
        <p:blipFill>
          <a:blip r:embed="rId5" cstate="print"/>
          <a:srcRect/>
          <a:stretch>
            <a:fillRect/>
          </a:stretch>
        </p:blipFill>
        <p:spPr bwMode="auto">
          <a:xfrm>
            <a:off x="5795986" y="2000240"/>
            <a:ext cx="2205038" cy="2347775"/>
          </a:xfrm>
          <a:prstGeom prst="rect">
            <a:avLst/>
          </a:prstGeom>
          <a:noFill/>
          <a:ln w="9525">
            <a:noFill/>
            <a:miter lim="800000"/>
            <a:headEnd/>
            <a:tailEnd/>
          </a:ln>
          <a:effectLst/>
        </p:spPr>
      </p:pic>
    </p:spTree>
    <p:extLst>
      <p:ext uri="{BB962C8B-B14F-4D97-AF65-F5344CB8AC3E}">
        <p14:creationId xmlns:p14="http://schemas.microsoft.com/office/powerpoint/2010/main" xmlns="" val="1257898613"/>
      </p:ext>
    </p:extLst>
  </p:cSld>
  <p:clrMapOvr>
    <a:masterClrMapping/>
  </p:clrMapOvr>
  <p:transition spd="med">
    <p:randomBar dir="ver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3111133" y="714356"/>
            <a:ext cx="492443" cy="1652300"/>
          </a:xfrm>
          <a:prstGeom prst="rect">
            <a:avLst/>
          </a:prstGeom>
          <a:solidFill>
            <a:srgbClr val="33CCCC"/>
          </a:solidFill>
          <a:ln>
            <a:noFill/>
          </a:ln>
        </p:spPr>
        <p:txBody>
          <a:bodyPr vert="eaVert" wrap="square">
            <a:spAutoFit/>
          </a:bodyPr>
          <a:lstStyle/>
          <a:p>
            <a:pPr algn="ctr"/>
            <a:r>
              <a:rPr lang="zh-TW" altLang="en-US" sz="2000" b="1" dirty="0">
                <a:solidFill>
                  <a:srgbClr val="FF0000"/>
                </a:solidFill>
                <a:latin typeface="Microsoft YaHei" pitchFamily="34" charset="-122"/>
                <a:ea typeface="Microsoft YaHei" pitchFamily="34" charset="-122"/>
              </a:rPr>
              <a:t>商務</a:t>
            </a:r>
            <a:r>
              <a:rPr lang="zh-TW" altLang="en-US" b="1" dirty="0">
                <a:solidFill>
                  <a:srgbClr val="FF0000"/>
                </a:solidFill>
                <a:latin typeface="Microsoft YaHei" pitchFamily="34" charset="-122"/>
                <a:ea typeface="Microsoft YaHei" pitchFamily="34" charset="-122"/>
              </a:rPr>
              <a:t>資訊</a:t>
            </a:r>
            <a:endParaRPr lang="zh-TW" altLang="en-US" sz="2000" b="1" dirty="0">
              <a:solidFill>
                <a:srgbClr val="FF0000"/>
              </a:solidFill>
              <a:latin typeface="Microsoft YaHei" pitchFamily="34" charset="-122"/>
              <a:ea typeface="Microsoft YaHei" pitchFamily="34" charset="-122"/>
            </a:endParaRPr>
          </a:p>
        </p:txBody>
      </p:sp>
      <p:pic>
        <p:nvPicPr>
          <p:cNvPr id="19" name="電視牆Artboard-4@2x-100.gif" descr="電視牆Artboard-4@2x-100.gif"/>
          <p:cNvPicPr>
            <a:picLocks/>
          </p:cNvPicPr>
          <p:nvPr/>
        </p:nvPicPr>
        <p:blipFill>
          <a:blip r:embed="rId2" cstate="print">
            <a:extLst/>
          </a:blip>
          <a:stretch>
            <a:fillRect/>
          </a:stretch>
        </p:blipFill>
        <p:spPr>
          <a:xfrm>
            <a:off x="357159" y="0"/>
            <a:ext cx="2940704" cy="7101410"/>
          </a:xfrm>
          <a:prstGeom prst="rect">
            <a:avLst/>
          </a:prstGeom>
          <a:ln w="12700">
            <a:miter lim="400000"/>
          </a:ln>
        </p:spPr>
      </p:pic>
      <p:sp>
        <p:nvSpPr>
          <p:cNvPr id="24" name="矩形圖說文字 23"/>
          <p:cNvSpPr/>
          <p:nvPr/>
        </p:nvSpPr>
        <p:spPr>
          <a:xfrm>
            <a:off x="785786" y="571481"/>
            <a:ext cx="2058023" cy="3805332"/>
          </a:xfrm>
          <a:prstGeom prst="wedgeRectCallout">
            <a:avLst>
              <a:gd name="adj1" fmla="val 60179"/>
              <a:gd name="adj2" fmla="val -23621"/>
            </a:avLst>
          </a:prstGeom>
          <a:noFill/>
          <a:ln w="57150">
            <a:solidFill>
              <a:srgbClr val="33CC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圖說文字 35"/>
          <p:cNvSpPr/>
          <p:nvPr/>
        </p:nvSpPr>
        <p:spPr>
          <a:xfrm>
            <a:off x="857225" y="4357695"/>
            <a:ext cx="1902810" cy="1278094"/>
          </a:xfrm>
          <a:prstGeom prst="wedgeRectCallout">
            <a:avLst>
              <a:gd name="adj1" fmla="val 73849"/>
              <a:gd name="adj2" fmla="val 103"/>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p:cNvSpPr/>
          <p:nvPr/>
        </p:nvSpPr>
        <p:spPr>
          <a:xfrm>
            <a:off x="3203852" y="4135685"/>
            <a:ext cx="461665" cy="1650769"/>
          </a:xfrm>
          <a:prstGeom prst="rect">
            <a:avLst/>
          </a:prstGeom>
          <a:solidFill>
            <a:srgbClr val="FFC000"/>
          </a:solidFill>
          <a:ln>
            <a:noFill/>
          </a:ln>
        </p:spPr>
        <p:txBody>
          <a:bodyPr vert="eaVert" wrap="square">
            <a:spAutoFit/>
          </a:bodyPr>
          <a:lstStyle/>
          <a:p>
            <a:pPr algn="ctr"/>
            <a:r>
              <a:rPr lang="zh-TW" altLang="en-US" b="1" dirty="0">
                <a:solidFill>
                  <a:srgbClr val="FF0000"/>
                </a:solidFill>
                <a:latin typeface="Microsoft YaHei" pitchFamily="34" charset="-122"/>
                <a:ea typeface="Microsoft YaHei" pitchFamily="34" charset="-122"/>
              </a:rPr>
              <a:t>社區公告</a:t>
            </a:r>
          </a:p>
        </p:txBody>
      </p:sp>
      <p:sp>
        <p:nvSpPr>
          <p:cNvPr id="38" name="矩形 37"/>
          <p:cNvSpPr/>
          <p:nvPr/>
        </p:nvSpPr>
        <p:spPr>
          <a:xfrm>
            <a:off x="5038239" y="778073"/>
            <a:ext cx="1980029" cy="523220"/>
          </a:xfrm>
          <a:prstGeom prst="rect">
            <a:avLst/>
          </a:prstGeom>
          <a:solidFill>
            <a:schemeClr val="accent6">
              <a:lumMod val="75000"/>
            </a:schemeClr>
          </a:solidFill>
          <a:ln>
            <a:solidFill>
              <a:schemeClr val="bg1"/>
            </a:solidFill>
          </a:ln>
        </p:spPr>
        <p:txBody>
          <a:bodyPr wrap="none">
            <a:spAutoFit/>
          </a:bodyPr>
          <a:lstStyle/>
          <a:p>
            <a:r>
              <a:rPr lang="zh-TW" altLang="en-US" sz="2800" b="1" dirty="0">
                <a:solidFill>
                  <a:schemeClr val="accent6">
                    <a:lumMod val="20000"/>
                    <a:lumOff val="80000"/>
                  </a:schemeClr>
                </a:solidFill>
                <a:latin typeface="Microsoft YaHei" pitchFamily="34" charset="-122"/>
                <a:ea typeface="Microsoft YaHei" pitchFamily="34" charset="-122"/>
              </a:rPr>
              <a:t>數位佈告欄</a:t>
            </a:r>
          </a:p>
        </p:txBody>
      </p:sp>
      <p:sp>
        <p:nvSpPr>
          <p:cNvPr id="39" name="矩形 38"/>
          <p:cNvSpPr/>
          <p:nvPr/>
        </p:nvSpPr>
        <p:spPr>
          <a:xfrm>
            <a:off x="4056353" y="2457278"/>
            <a:ext cx="1518364" cy="461665"/>
          </a:xfrm>
          <a:prstGeom prst="rect">
            <a:avLst/>
          </a:prstGeom>
          <a:solidFill>
            <a:schemeClr val="accent1">
              <a:lumMod val="40000"/>
              <a:lumOff val="60000"/>
            </a:schemeClr>
          </a:solidFill>
        </p:spPr>
        <p:txBody>
          <a:bodyPr wrap="none">
            <a:spAutoFit/>
          </a:bodyPr>
          <a:lstStyle/>
          <a:p>
            <a:r>
              <a:rPr lang="zh-TW" altLang="en-US" sz="2000" b="1" dirty="0">
                <a:solidFill>
                  <a:srgbClr val="00B0F0"/>
                </a:solidFill>
                <a:latin typeface="Microsoft YaHei" pitchFamily="34" charset="-122"/>
                <a:ea typeface="Microsoft YaHei" pitchFamily="34" charset="-122"/>
              </a:rPr>
              <a:t>機　　型</a:t>
            </a:r>
            <a:r>
              <a:rPr lang="zh-TW" altLang="en-US" sz="2400" b="1" dirty="0">
                <a:solidFill>
                  <a:srgbClr val="00B0F0"/>
                </a:solidFill>
                <a:latin typeface="Microsoft YaHei" pitchFamily="34" charset="-122"/>
                <a:ea typeface="Microsoft YaHei" pitchFamily="34" charset="-122"/>
              </a:rPr>
              <a:t>｜</a:t>
            </a:r>
          </a:p>
        </p:txBody>
      </p:sp>
      <p:sp>
        <p:nvSpPr>
          <p:cNvPr id="40" name="矩形 39"/>
          <p:cNvSpPr/>
          <p:nvPr/>
        </p:nvSpPr>
        <p:spPr>
          <a:xfrm>
            <a:off x="5594211" y="2457279"/>
            <a:ext cx="3113353" cy="584775"/>
          </a:xfrm>
          <a:prstGeom prst="rect">
            <a:avLst/>
          </a:prstGeom>
          <a:solidFill>
            <a:schemeClr val="accent1">
              <a:lumMod val="40000"/>
              <a:lumOff val="60000"/>
            </a:schemeClr>
          </a:solidFill>
        </p:spPr>
        <p:txBody>
          <a:bodyPr wrap="none">
            <a:spAutoFit/>
          </a:bodyPr>
          <a:lstStyle/>
          <a:p>
            <a:pPr marL="457200" indent="-457200">
              <a:buFont typeface="Wingdings" pitchFamily="2" charset="2"/>
              <a:buAutoNum type="circleNumWdWhitePlain"/>
            </a:pPr>
            <a:r>
              <a:rPr lang="zh-TW" altLang="en-US" sz="1600" b="1" dirty="0">
                <a:solidFill>
                  <a:srgbClr val="00B0F0"/>
                </a:solidFill>
                <a:latin typeface="Microsoft YaHei" pitchFamily="34" charset="-122"/>
                <a:ea typeface="Microsoft YaHei" pitchFamily="34" charset="-122"/>
              </a:rPr>
              <a:t>雙螢幕［</a:t>
            </a:r>
            <a:r>
              <a:rPr lang="en-US" altLang="zh-TW" sz="1600" b="1" dirty="0">
                <a:solidFill>
                  <a:srgbClr val="00B0F0"/>
                </a:solidFill>
                <a:latin typeface="Microsoft YaHei" pitchFamily="34" charset="-122"/>
                <a:ea typeface="Microsoft YaHei" pitchFamily="34" charset="-122"/>
              </a:rPr>
              <a:t>21.5</a:t>
            </a:r>
            <a:r>
              <a:rPr lang="zh-TW" altLang="en-US" sz="1600" b="1" dirty="0">
                <a:solidFill>
                  <a:srgbClr val="00B0F0"/>
                </a:solidFill>
                <a:latin typeface="Microsoft YaHei" pitchFamily="34" charset="-122"/>
                <a:ea typeface="Microsoft YaHei" pitchFamily="34" charset="-122"/>
              </a:rPr>
              <a:t>吋</a:t>
            </a:r>
            <a:r>
              <a:rPr lang="en-US" altLang="zh-TW" sz="1600" b="1" dirty="0">
                <a:solidFill>
                  <a:srgbClr val="00B0F0"/>
                </a:solidFill>
                <a:latin typeface="Microsoft YaHei" pitchFamily="34" charset="-122"/>
                <a:ea typeface="Microsoft YaHei" pitchFamily="34" charset="-122"/>
              </a:rPr>
              <a:t>+11.6</a:t>
            </a:r>
            <a:r>
              <a:rPr lang="zh-TW" altLang="en-US" sz="1600" b="1" dirty="0">
                <a:solidFill>
                  <a:srgbClr val="00B0F0"/>
                </a:solidFill>
                <a:latin typeface="Microsoft YaHei" pitchFamily="34" charset="-122"/>
                <a:ea typeface="Microsoft YaHei" pitchFamily="34" charset="-122"/>
              </a:rPr>
              <a:t>吋</a:t>
            </a:r>
            <a:r>
              <a:rPr lang="en-US" altLang="zh-TW" sz="1600" b="1" dirty="0">
                <a:solidFill>
                  <a:srgbClr val="00B0F0"/>
                </a:solidFill>
                <a:latin typeface="Microsoft YaHei" pitchFamily="34" charset="-122"/>
                <a:ea typeface="Microsoft YaHei" pitchFamily="34" charset="-122"/>
              </a:rPr>
              <a:t>]</a:t>
            </a:r>
          </a:p>
          <a:p>
            <a:pPr marL="457200" indent="-457200">
              <a:buFont typeface="Wingdings" pitchFamily="2" charset="2"/>
              <a:buAutoNum type="circleNumWdWhitePlain"/>
            </a:pPr>
            <a:r>
              <a:rPr lang="zh-TW" altLang="en-US" sz="1600" b="1" dirty="0">
                <a:solidFill>
                  <a:srgbClr val="00B0F0"/>
                </a:solidFill>
                <a:latin typeface="Microsoft YaHei" pitchFamily="34" charset="-122"/>
                <a:ea typeface="Microsoft YaHei" pitchFamily="34" charset="-122"/>
              </a:rPr>
              <a:t>雙螢幕［</a:t>
            </a:r>
            <a:r>
              <a:rPr lang="en-US" altLang="zh-TW" sz="1600" b="1" dirty="0">
                <a:solidFill>
                  <a:srgbClr val="00B0F0"/>
                </a:solidFill>
                <a:latin typeface="Microsoft YaHei" pitchFamily="34" charset="-122"/>
                <a:ea typeface="Microsoft YaHei" pitchFamily="34" charset="-122"/>
              </a:rPr>
              <a:t>18.5</a:t>
            </a:r>
            <a:r>
              <a:rPr lang="zh-TW" altLang="en-US" sz="1600" b="1" dirty="0">
                <a:solidFill>
                  <a:srgbClr val="00B0F0"/>
                </a:solidFill>
                <a:latin typeface="Microsoft YaHei" pitchFamily="34" charset="-122"/>
                <a:ea typeface="Microsoft YaHei" pitchFamily="34" charset="-122"/>
              </a:rPr>
              <a:t>吋 </a:t>
            </a:r>
            <a:r>
              <a:rPr lang="en-US" altLang="zh-TW" sz="1600" b="1" dirty="0">
                <a:solidFill>
                  <a:srgbClr val="00B0F0"/>
                </a:solidFill>
                <a:latin typeface="Microsoft YaHei" pitchFamily="34" charset="-122"/>
                <a:ea typeface="Microsoft YaHei" pitchFamily="34" charset="-122"/>
              </a:rPr>
              <a:t>+ 10.1</a:t>
            </a:r>
            <a:r>
              <a:rPr lang="zh-TW" altLang="en-US" sz="1600" b="1" dirty="0">
                <a:solidFill>
                  <a:srgbClr val="00B0F0"/>
                </a:solidFill>
                <a:latin typeface="Microsoft YaHei" pitchFamily="34" charset="-122"/>
                <a:ea typeface="Microsoft YaHei" pitchFamily="34" charset="-122"/>
              </a:rPr>
              <a:t>吋</a:t>
            </a:r>
            <a:r>
              <a:rPr lang="en-US" altLang="zh-TW" sz="1600" b="1" dirty="0">
                <a:solidFill>
                  <a:srgbClr val="00B0F0"/>
                </a:solidFill>
                <a:latin typeface="Microsoft YaHei" pitchFamily="34" charset="-122"/>
                <a:ea typeface="Microsoft YaHei" pitchFamily="34" charset="-122"/>
              </a:rPr>
              <a:t>]</a:t>
            </a:r>
          </a:p>
        </p:txBody>
      </p:sp>
      <p:sp>
        <p:nvSpPr>
          <p:cNvPr id="42" name="矩形 41"/>
          <p:cNvSpPr/>
          <p:nvPr/>
        </p:nvSpPr>
        <p:spPr>
          <a:xfrm>
            <a:off x="4067944" y="3332990"/>
            <a:ext cx="1518364" cy="461665"/>
          </a:xfrm>
          <a:prstGeom prst="rect">
            <a:avLst/>
          </a:prstGeom>
          <a:solidFill>
            <a:schemeClr val="accent1">
              <a:lumMod val="40000"/>
              <a:lumOff val="60000"/>
            </a:schemeClr>
          </a:solidFill>
        </p:spPr>
        <p:txBody>
          <a:bodyPr wrap="none">
            <a:spAutoFit/>
          </a:bodyPr>
          <a:lstStyle/>
          <a:p>
            <a:r>
              <a:rPr lang="zh-TW" altLang="en-US" sz="2000" b="1" dirty="0">
                <a:solidFill>
                  <a:srgbClr val="00B0F0"/>
                </a:solidFill>
                <a:latin typeface="Microsoft YaHei" pitchFamily="34" charset="-122"/>
                <a:ea typeface="Microsoft YaHei" pitchFamily="34" charset="-122"/>
              </a:rPr>
              <a:t>播放時間</a:t>
            </a:r>
            <a:r>
              <a:rPr lang="zh-TW" altLang="en-US" sz="2400" b="1" dirty="0">
                <a:solidFill>
                  <a:srgbClr val="00B0F0"/>
                </a:solidFill>
                <a:latin typeface="Microsoft YaHei" pitchFamily="34" charset="-122"/>
                <a:ea typeface="Microsoft YaHei" pitchFamily="34" charset="-122"/>
              </a:rPr>
              <a:t>｜</a:t>
            </a:r>
          </a:p>
        </p:txBody>
      </p:sp>
      <p:sp>
        <p:nvSpPr>
          <p:cNvPr id="43" name="矩形 42"/>
          <p:cNvSpPr/>
          <p:nvPr/>
        </p:nvSpPr>
        <p:spPr>
          <a:xfrm>
            <a:off x="5580112" y="3332993"/>
            <a:ext cx="2937022" cy="584775"/>
          </a:xfrm>
          <a:prstGeom prst="rect">
            <a:avLst/>
          </a:prstGeom>
          <a:solidFill>
            <a:schemeClr val="accent1">
              <a:lumMod val="40000"/>
              <a:lumOff val="60000"/>
            </a:schemeClr>
          </a:solidFill>
        </p:spPr>
        <p:txBody>
          <a:bodyPr wrap="none">
            <a:spAutoFit/>
          </a:bodyPr>
          <a:lstStyle/>
          <a:p>
            <a:r>
              <a:rPr lang="zh-TW" altLang="en-US" sz="1600" b="1" dirty="0">
                <a:solidFill>
                  <a:srgbClr val="00B0F0"/>
                </a:solidFill>
                <a:latin typeface="Microsoft YaHei" pitchFamily="34" charset="-122"/>
                <a:ea typeface="Microsoft YaHei" pitchFamily="34" charset="-122"/>
              </a:rPr>
              <a:t>周一</a:t>
            </a:r>
            <a:r>
              <a:rPr lang="en-US" altLang="zh-TW" sz="1600" b="1" dirty="0">
                <a:solidFill>
                  <a:srgbClr val="00B0F0"/>
                </a:solidFill>
                <a:latin typeface="Microsoft YaHei" pitchFamily="34" charset="-122"/>
                <a:ea typeface="Microsoft YaHei" pitchFamily="34" charset="-122"/>
              </a:rPr>
              <a:t>~</a:t>
            </a:r>
            <a:r>
              <a:rPr lang="zh-TW" altLang="en-US" sz="1600" b="1" dirty="0">
                <a:solidFill>
                  <a:srgbClr val="00B0F0"/>
                </a:solidFill>
                <a:latin typeface="Microsoft YaHei" pitchFamily="34" charset="-122"/>
                <a:ea typeface="Microsoft YaHei" pitchFamily="34" charset="-122"/>
              </a:rPr>
              <a:t>周日，每天</a:t>
            </a:r>
            <a:r>
              <a:rPr lang="en-US" altLang="zh-TW" sz="1600" b="1" dirty="0">
                <a:solidFill>
                  <a:srgbClr val="00B0F0"/>
                </a:solidFill>
                <a:latin typeface="Microsoft YaHei" pitchFamily="34" charset="-122"/>
                <a:ea typeface="Microsoft YaHei" pitchFamily="34" charset="-122"/>
              </a:rPr>
              <a:t>6:00~02:00</a:t>
            </a:r>
          </a:p>
          <a:p>
            <a:r>
              <a:rPr lang="zh-TW" altLang="en-US" sz="1600" b="1" dirty="0">
                <a:solidFill>
                  <a:srgbClr val="00B0F0"/>
                </a:solidFill>
                <a:latin typeface="Microsoft YaHei" pitchFamily="34" charset="-122"/>
                <a:ea typeface="Microsoft YaHei" pitchFamily="34" charset="-122"/>
              </a:rPr>
              <a:t>一天共計</a:t>
            </a:r>
            <a:r>
              <a:rPr lang="en-US" altLang="zh-TW" sz="1600" b="1" dirty="0">
                <a:solidFill>
                  <a:srgbClr val="00B0F0"/>
                </a:solidFill>
                <a:latin typeface="Microsoft YaHei" pitchFamily="34" charset="-122"/>
                <a:ea typeface="Microsoft YaHei" pitchFamily="34" charset="-122"/>
              </a:rPr>
              <a:t>20</a:t>
            </a:r>
            <a:r>
              <a:rPr lang="zh-TW" altLang="en-US" sz="1600" b="1" dirty="0">
                <a:solidFill>
                  <a:srgbClr val="00B0F0"/>
                </a:solidFill>
                <a:latin typeface="Microsoft YaHei" pitchFamily="34" charset="-122"/>
                <a:ea typeface="Microsoft YaHei" pitchFamily="34" charset="-122"/>
              </a:rPr>
              <a:t>小時。</a:t>
            </a:r>
            <a:endParaRPr lang="en-US" altLang="zh-TW" sz="1600" b="1" dirty="0">
              <a:solidFill>
                <a:srgbClr val="00B0F0"/>
              </a:solidFill>
              <a:latin typeface="Microsoft YaHei" pitchFamily="34" charset="-122"/>
              <a:ea typeface="Microsoft YaHei" pitchFamily="34" charset="-122"/>
            </a:endParaRPr>
          </a:p>
        </p:txBody>
      </p:sp>
      <p:sp>
        <p:nvSpPr>
          <p:cNvPr id="44" name="矩形 43"/>
          <p:cNvSpPr/>
          <p:nvPr/>
        </p:nvSpPr>
        <p:spPr>
          <a:xfrm>
            <a:off x="4072581" y="4281481"/>
            <a:ext cx="1518364" cy="461665"/>
          </a:xfrm>
          <a:prstGeom prst="rect">
            <a:avLst/>
          </a:prstGeom>
          <a:solidFill>
            <a:schemeClr val="accent1">
              <a:lumMod val="40000"/>
              <a:lumOff val="60000"/>
            </a:schemeClr>
          </a:solidFill>
        </p:spPr>
        <p:txBody>
          <a:bodyPr wrap="none">
            <a:spAutoFit/>
          </a:bodyPr>
          <a:lstStyle/>
          <a:p>
            <a:r>
              <a:rPr lang="zh-TW" altLang="en-US" sz="2000" b="1" dirty="0">
                <a:solidFill>
                  <a:srgbClr val="00B0F0"/>
                </a:solidFill>
                <a:latin typeface="Microsoft YaHei" pitchFamily="34" charset="-122"/>
                <a:ea typeface="Microsoft YaHei" pitchFamily="34" charset="-122"/>
              </a:rPr>
              <a:t>播放內容</a:t>
            </a:r>
            <a:r>
              <a:rPr lang="zh-TW" altLang="en-US" sz="2400" b="1" dirty="0">
                <a:solidFill>
                  <a:srgbClr val="00B0F0"/>
                </a:solidFill>
                <a:latin typeface="Microsoft YaHei" pitchFamily="34" charset="-122"/>
                <a:ea typeface="Microsoft YaHei" pitchFamily="34" charset="-122"/>
              </a:rPr>
              <a:t>｜</a:t>
            </a:r>
          </a:p>
        </p:txBody>
      </p:sp>
      <p:sp>
        <p:nvSpPr>
          <p:cNvPr id="45" name="矩形 44"/>
          <p:cNvSpPr/>
          <p:nvPr/>
        </p:nvSpPr>
        <p:spPr>
          <a:xfrm>
            <a:off x="5584750" y="4281482"/>
            <a:ext cx="2876542" cy="584775"/>
          </a:xfrm>
          <a:prstGeom prst="rect">
            <a:avLst/>
          </a:prstGeom>
          <a:solidFill>
            <a:schemeClr val="accent1">
              <a:lumMod val="40000"/>
              <a:lumOff val="60000"/>
            </a:schemeClr>
          </a:solidFill>
        </p:spPr>
        <p:txBody>
          <a:bodyPr wrap="square">
            <a:spAutoFit/>
          </a:bodyPr>
          <a:lstStyle/>
          <a:p>
            <a:r>
              <a:rPr lang="en-US" altLang="zh-TW" sz="1600" b="1" dirty="0">
                <a:solidFill>
                  <a:srgbClr val="00B0F0"/>
                </a:solidFill>
                <a:latin typeface="Microsoft YaHei" pitchFamily="34" charset="-122"/>
                <a:ea typeface="Microsoft YaHei" pitchFamily="34" charset="-122"/>
              </a:rPr>
              <a:t>3</a:t>
            </a:r>
            <a:r>
              <a:rPr lang="zh-TW" altLang="en-US" sz="1600" b="1" dirty="0">
                <a:solidFill>
                  <a:srgbClr val="00B0F0"/>
                </a:solidFill>
                <a:latin typeface="Microsoft YaHei" pitchFamily="34" charset="-122"/>
                <a:ea typeface="Microsoft YaHei" pitchFamily="34" charset="-122"/>
              </a:rPr>
              <a:t>個商務資訊</a:t>
            </a:r>
            <a:r>
              <a:rPr lang="en-US" altLang="zh-TW" sz="1600" b="1" dirty="0">
                <a:solidFill>
                  <a:srgbClr val="00B0F0"/>
                </a:solidFill>
                <a:latin typeface="Microsoft YaHei" pitchFamily="34" charset="-122"/>
                <a:ea typeface="Microsoft YaHei" pitchFamily="34" charset="-122"/>
              </a:rPr>
              <a:t>(3</a:t>
            </a:r>
            <a:r>
              <a:rPr lang="zh-TW" altLang="en-US" sz="1600" b="1" dirty="0">
                <a:solidFill>
                  <a:srgbClr val="00B0F0"/>
                </a:solidFill>
                <a:latin typeface="Microsoft YaHei" pitchFamily="34" charset="-122"/>
                <a:ea typeface="Microsoft YaHei" pitchFamily="34" charset="-122"/>
              </a:rPr>
              <a:t>輪播</a:t>
            </a:r>
            <a:r>
              <a:rPr lang="en-US" altLang="zh-TW" sz="1600" b="1" dirty="0">
                <a:solidFill>
                  <a:srgbClr val="00B0F0"/>
                </a:solidFill>
                <a:latin typeface="Microsoft YaHei" pitchFamily="34" charset="-122"/>
                <a:ea typeface="Microsoft YaHei" pitchFamily="34" charset="-122"/>
              </a:rPr>
              <a:t>)</a:t>
            </a:r>
          </a:p>
          <a:p>
            <a:r>
              <a:rPr lang="zh-TW" altLang="en-US" sz="1600" b="1" dirty="0">
                <a:solidFill>
                  <a:srgbClr val="00B0F0"/>
                </a:solidFill>
                <a:latin typeface="Microsoft YaHei" pitchFamily="34" charset="-122"/>
                <a:ea typeface="Microsoft YaHei" pitchFamily="34" charset="-122"/>
              </a:rPr>
              <a:t>社區公告</a:t>
            </a:r>
            <a:r>
              <a:rPr lang="en-US" altLang="zh-TW" sz="1600" b="1" dirty="0">
                <a:solidFill>
                  <a:srgbClr val="00B0F0"/>
                </a:solidFill>
                <a:latin typeface="Microsoft YaHei" pitchFamily="34" charset="-122"/>
                <a:ea typeface="Microsoft YaHei" pitchFamily="34" charset="-122"/>
              </a:rPr>
              <a:t>(</a:t>
            </a:r>
            <a:r>
              <a:rPr lang="zh-TW" altLang="en-US" sz="1600" b="1" dirty="0">
                <a:solidFill>
                  <a:srgbClr val="00B0F0"/>
                </a:solidFill>
                <a:latin typeface="Microsoft YaHei" pitchFamily="34" charset="-122"/>
                <a:ea typeface="Microsoft YaHei" pitchFamily="34" charset="-122"/>
              </a:rPr>
              <a:t>全時播放</a:t>
            </a:r>
            <a:r>
              <a:rPr lang="en-US" altLang="zh-TW" sz="1600" b="1" dirty="0">
                <a:solidFill>
                  <a:srgbClr val="00B0F0"/>
                </a:solidFill>
                <a:latin typeface="Microsoft YaHei" pitchFamily="34" charset="-122"/>
                <a:ea typeface="Microsoft YaHei" pitchFamily="34" charset="-122"/>
              </a:rPr>
              <a:t>)</a:t>
            </a:r>
          </a:p>
        </p:txBody>
      </p:sp>
      <p:sp>
        <p:nvSpPr>
          <p:cNvPr id="16" name="矩形 15"/>
          <p:cNvSpPr/>
          <p:nvPr/>
        </p:nvSpPr>
        <p:spPr>
          <a:xfrm>
            <a:off x="4214810" y="1666563"/>
            <a:ext cx="3615092" cy="461665"/>
          </a:xfrm>
          <a:prstGeom prst="rect">
            <a:avLst/>
          </a:prstGeom>
          <a:solidFill>
            <a:srgbClr val="FFFF00"/>
          </a:solidFill>
        </p:spPr>
        <p:txBody>
          <a:bodyPr wrap="none">
            <a:spAutoFit/>
          </a:bodyPr>
          <a:lstStyle/>
          <a:p>
            <a:r>
              <a:rPr lang="zh-TW" altLang="en-US" sz="2400" b="1" dirty="0">
                <a:solidFill>
                  <a:srgbClr val="00B0F0"/>
                </a:solidFill>
                <a:latin typeface="Microsoft YaHei" pitchFamily="34" charset="-122"/>
                <a:ea typeface="Microsoft YaHei" pitchFamily="34" charset="-122"/>
              </a:rPr>
              <a:t>全彩高畫質</a:t>
            </a:r>
            <a:r>
              <a:rPr lang="en-US" altLang="zh-TW" sz="2400" b="1" dirty="0">
                <a:solidFill>
                  <a:srgbClr val="00B0F0"/>
                </a:solidFill>
                <a:latin typeface="Microsoft YaHei" pitchFamily="34" charset="-122"/>
                <a:ea typeface="Microsoft YaHei" pitchFamily="34" charset="-122"/>
              </a:rPr>
              <a:t>-Full HD</a:t>
            </a:r>
            <a:r>
              <a:rPr lang="zh-TW" altLang="en-US" sz="2400" b="1" dirty="0">
                <a:solidFill>
                  <a:srgbClr val="00B0F0"/>
                </a:solidFill>
                <a:latin typeface="Microsoft YaHei" pitchFamily="34" charset="-122"/>
                <a:ea typeface="Microsoft YaHei" pitchFamily="34" charset="-122"/>
              </a:rPr>
              <a:t>面板</a:t>
            </a:r>
          </a:p>
        </p:txBody>
      </p:sp>
    </p:spTree>
    <p:extLst>
      <p:ext uri="{BB962C8B-B14F-4D97-AF65-F5344CB8AC3E}">
        <p14:creationId xmlns="" xmlns:p14="http://schemas.microsoft.com/office/powerpoint/2010/main" val="1219521707"/>
      </p:ext>
    </p:extLst>
  </p:cSld>
  <p:clrMapOvr>
    <a:masterClrMapping/>
  </p:clrMapOvr>
  <p:transition spd="med">
    <p:randomBar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descr="一張含有 個人, 室內 的圖片&#10;&#10;自動產生的描述">
            <a:extLst>
              <a:ext uri="{FF2B5EF4-FFF2-40B4-BE49-F238E27FC236}">
                <a16:creationId xmlns="" xmlns:a16="http://schemas.microsoft.com/office/drawing/2014/main" id="{47EF3300-6604-42A5-BE94-CDA0BA3CDF2C}"/>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432921" y="1604797"/>
            <a:ext cx="4706045" cy="4101073"/>
          </a:xfrm>
          <a:prstGeom prst="rect">
            <a:avLst/>
          </a:prstGeom>
        </p:spPr>
      </p:pic>
      <p:pic>
        <p:nvPicPr>
          <p:cNvPr id="6" name="圖片 5" descr="一張含有 建築物 的圖片&#10;&#10;自動產生的描述">
            <a:extLst>
              <a:ext uri="{FF2B5EF4-FFF2-40B4-BE49-F238E27FC236}">
                <a16:creationId xmlns="" xmlns:a16="http://schemas.microsoft.com/office/drawing/2014/main" id="{2B23E125-3031-467C-AB58-F5582B42E925}"/>
              </a:ext>
            </a:extLst>
          </p:cNvPr>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4716017" y="1604797"/>
            <a:ext cx="4102925" cy="4101075"/>
          </a:xfrm>
          <a:prstGeom prst="rect">
            <a:avLst/>
          </a:prstGeom>
        </p:spPr>
      </p:pic>
      <p:sp>
        <p:nvSpPr>
          <p:cNvPr id="4" name="矩形 3"/>
          <p:cNvSpPr/>
          <p:nvPr/>
        </p:nvSpPr>
        <p:spPr>
          <a:xfrm>
            <a:off x="3071802" y="714356"/>
            <a:ext cx="3262432" cy="707886"/>
          </a:xfrm>
          <a:prstGeom prst="rect">
            <a:avLst/>
          </a:prstGeom>
          <a:solidFill>
            <a:schemeClr val="accent6">
              <a:lumMod val="75000"/>
            </a:schemeClr>
          </a:solidFill>
          <a:ln>
            <a:solidFill>
              <a:schemeClr val="bg1"/>
            </a:solidFill>
          </a:ln>
        </p:spPr>
        <p:txBody>
          <a:bodyPr wrap="none">
            <a:spAutoFit/>
          </a:bodyPr>
          <a:lstStyle/>
          <a:p>
            <a:r>
              <a:rPr lang="zh-TW" altLang="en-US" sz="4000" dirty="0" smtClean="0">
                <a:solidFill>
                  <a:schemeClr val="accent6">
                    <a:lumMod val="20000"/>
                    <a:lumOff val="80000"/>
                  </a:schemeClr>
                </a:solidFill>
                <a:latin typeface="標楷體" pitchFamily="65" charset="-120"/>
                <a:ea typeface="標楷體" pitchFamily="65" charset="-120"/>
              </a:rPr>
              <a:t>電梯內部實況</a:t>
            </a:r>
            <a:endParaRPr lang="zh-TW" altLang="en-US" sz="4000" dirty="0">
              <a:solidFill>
                <a:schemeClr val="accent6">
                  <a:lumMod val="20000"/>
                  <a:lumOff val="80000"/>
                </a:schemeClr>
              </a:solidFill>
              <a:latin typeface="標楷體" pitchFamily="65" charset="-120"/>
              <a:ea typeface="標楷體" pitchFamily="65" charset="-120"/>
            </a:endParaRPr>
          </a:p>
        </p:txBody>
      </p:sp>
    </p:spTree>
    <p:extLst>
      <p:ext uri="{BB962C8B-B14F-4D97-AF65-F5344CB8AC3E}">
        <p14:creationId xmlns="" xmlns:p14="http://schemas.microsoft.com/office/powerpoint/2010/main" val="3926475243"/>
      </p:ext>
    </p:extLst>
  </p:cSld>
  <p:clrMapOvr>
    <a:masterClrMapping/>
  </p:clrMapOvr>
  <p:transition spd="med">
    <p:randomBar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6"/>
          <p:cNvSpPr>
            <a:spLocks noChangeArrowheads="1"/>
          </p:cNvSpPr>
          <p:nvPr/>
        </p:nvSpPr>
        <p:spPr bwMode="auto">
          <a:xfrm>
            <a:off x="1571604" y="679336"/>
            <a:ext cx="6456780" cy="2677656"/>
          </a:xfrm>
          <a:prstGeom prst="rect">
            <a:avLst/>
          </a:prstGeom>
          <a:noFill/>
          <a:ln w="9525">
            <a:noFill/>
            <a:miter lim="800000"/>
          </a:ln>
        </p:spPr>
        <p:txBody>
          <a:bodyPr wrap="square">
            <a:spAutoFit/>
          </a:bodyPr>
          <a:lstStyle/>
          <a:p>
            <a:pPr algn="ctr">
              <a:spcBef>
                <a:spcPct val="50000"/>
              </a:spcBef>
            </a:pPr>
            <a:r>
              <a:rPr kumimoji="0" lang="zh-TW" altLang="en-US" sz="2400" dirty="0">
                <a:solidFill>
                  <a:srgbClr val="002060"/>
                </a:solidFill>
                <a:latin typeface="+mn-ea"/>
                <a:ea typeface="+mn-ea"/>
              </a:rPr>
              <a:t>業主提供完整的硬體及空間規劃</a:t>
            </a:r>
            <a:endParaRPr kumimoji="0" lang="en-US" altLang="zh-TW" sz="2400" dirty="0">
              <a:solidFill>
                <a:srgbClr val="002060"/>
              </a:solidFill>
              <a:latin typeface="+mn-ea"/>
              <a:ea typeface="+mn-ea"/>
            </a:endParaRPr>
          </a:p>
          <a:p>
            <a:pPr algn="ctr">
              <a:spcBef>
                <a:spcPct val="50000"/>
              </a:spcBef>
            </a:pPr>
            <a:r>
              <a:rPr kumimoji="0" lang="zh-TW" altLang="en-US" sz="2400" dirty="0">
                <a:solidFill>
                  <a:srgbClr val="002060"/>
                </a:solidFill>
                <a:latin typeface="+mn-ea"/>
                <a:ea typeface="+mn-ea"/>
              </a:rPr>
              <a:t>您更需要專業的物業管理團隊</a:t>
            </a:r>
            <a:r>
              <a:rPr kumimoji="0" lang="en-US" altLang="zh-TW" sz="2400" dirty="0">
                <a:solidFill>
                  <a:srgbClr val="002060"/>
                </a:solidFill>
                <a:latin typeface="+mn-ea"/>
                <a:ea typeface="+mn-ea"/>
              </a:rPr>
              <a:t> - </a:t>
            </a:r>
            <a:r>
              <a:rPr kumimoji="0" lang="zh-TW" altLang="en-US" sz="2400" dirty="0">
                <a:solidFill>
                  <a:srgbClr val="002060"/>
                </a:solidFill>
                <a:latin typeface="+mn-ea"/>
                <a:ea typeface="+mn-ea"/>
              </a:rPr>
              <a:t>齊家物業</a:t>
            </a:r>
            <a:endParaRPr kumimoji="0" lang="en-US" altLang="zh-TW" sz="2400" dirty="0">
              <a:solidFill>
                <a:srgbClr val="002060"/>
              </a:solidFill>
              <a:latin typeface="+mn-ea"/>
              <a:ea typeface="+mn-ea"/>
            </a:endParaRPr>
          </a:p>
          <a:p>
            <a:pPr algn="ctr">
              <a:spcBef>
                <a:spcPct val="50000"/>
              </a:spcBef>
            </a:pPr>
            <a:r>
              <a:rPr kumimoji="0" lang="zh-TW" altLang="en-US" sz="2400" dirty="0">
                <a:solidFill>
                  <a:srgbClr val="002060"/>
                </a:solidFill>
                <a:latin typeface="+mn-ea"/>
                <a:ea typeface="+mn-ea"/>
              </a:rPr>
              <a:t>提供一條龍的服務體系</a:t>
            </a:r>
            <a:endParaRPr kumimoji="0" lang="en-US" altLang="zh-TW" sz="2400" dirty="0">
              <a:solidFill>
                <a:srgbClr val="002060"/>
              </a:solidFill>
              <a:latin typeface="+mn-ea"/>
              <a:ea typeface="+mn-ea"/>
            </a:endParaRPr>
          </a:p>
          <a:p>
            <a:pPr algn="ctr">
              <a:spcBef>
                <a:spcPct val="50000"/>
              </a:spcBef>
            </a:pPr>
            <a:r>
              <a:rPr kumimoji="0" lang="zh-TW" altLang="en-US" sz="2400" dirty="0">
                <a:solidFill>
                  <a:srgbClr val="002060"/>
                </a:solidFill>
                <a:latin typeface="+mn-ea"/>
                <a:ea typeface="+mn-ea"/>
              </a:rPr>
              <a:t>讓社區不僅是棟好建築</a:t>
            </a:r>
            <a:endParaRPr kumimoji="0" lang="en-US" altLang="zh-TW" sz="2400" dirty="0">
              <a:solidFill>
                <a:srgbClr val="002060"/>
              </a:solidFill>
              <a:latin typeface="+mn-ea"/>
              <a:ea typeface="+mn-ea"/>
            </a:endParaRPr>
          </a:p>
          <a:p>
            <a:pPr algn="ctr">
              <a:spcBef>
                <a:spcPct val="50000"/>
              </a:spcBef>
            </a:pPr>
            <a:r>
              <a:rPr kumimoji="0" lang="zh-TW" altLang="en-US" sz="2400" dirty="0">
                <a:solidFill>
                  <a:srgbClr val="002060"/>
                </a:solidFill>
                <a:latin typeface="+mn-ea"/>
                <a:ea typeface="+mn-ea"/>
              </a:rPr>
              <a:t>也可以讓住戶實現長長久久的好生活</a:t>
            </a:r>
            <a:endParaRPr kumimoji="0" lang="en-US" altLang="zh-TW" sz="2400" dirty="0">
              <a:solidFill>
                <a:srgbClr val="002060"/>
              </a:solidFill>
              <a:latin typeface="+mn-ea"/>
              <a:ea typeface="+mn-ea"/>
            </a:endParaRPr>
          </a:p>
        </p:txBody>
      </p:sp>
      <p:pic>
        <p:nvPicPr>
          <p:cNvPr id="111623" name="Picture 7" descr="\\A-s6jw4x7y9lv85\E\企劃\齊家物業\齊家照片\2011攝影師拍照(台北)\小圖\IMG_3018.jpg"/>
          <p:cNvPicPr>
            <a:picLocks noChangeAspect="1" noChangeArrowheads="1"/>
          </p:cNvPicPr>
          <p:nvPr/>
        </p:nvPicPr>
        <p:blipFill>
          <a:blip r:embed="rId3" cstate="print"/>
          <a:srcRect/>
          <a:stretch>
            <a:fillRect/>
          </a:stretch>
        </p:blipFill>
        <p:spPr bwMode="auto">
          <a:xfrm>
            <a:off x="142875" y="3789040"/>
            <a:ext cx="2857500" cy="1906587"/>
          </a:xfrm>
          <a:prstGeom prst="rect">
            <a:avLst/>
          </a:prstGeom>
          <a:noFill/>
          <a:effectLst>
            <a:outerShdw blurRad="50800" dist="38100" dir="5400000" algn="t" rotWithShape="0">
              <a:prstClr val="black">
                <a:alpha val="40000"/>
              </a:prstClr>
            </a:outerShdw>
          </a:effectLst>
        </p:spPr>
      </p:pic>
      <p:pic>
        <p:nvPicPr>
          <p:cNvPr id="111624" name="Picture 8" descr="\\A-s6jw4x7y9lv85\E\企劃\齊家物業\齊家照片\2011攝影師拍照(台北)\小圖\IMG_2915.jpg"/>
          <p:cNvPicPr>
            <a:picLocks noChangeAspect="1" noChangeArrowheads="1"/>
          </p:cNvPicPr>
          <p:nvPr/>
        </p:nvPicPr>
        <p:blipFill>
          <a:blip r:embed="rId4" cstate="print"/>
          <a:srcRect/>
          <a:stretch>
            <a:fillRect/>
          </a:stretch>
        </p:blipFill>
        <p:spPr bwMode="auto">
          <a:xfrm>
            <a:off x="3148013" y="3789040"/>
            <a:ext cx="2852737" cy="1903412"/>
          </a:xfrm>
          <a:prstGeom prst="rect">
            <a:avLst/>
          </a:prstGeom>
          <a:noFill/>
          <a:effectLst>
            <a:outerShdw blurRad="50800" dist="38100" dir="5400000" algn="t" rotWithShape="0">
              <a:prstClr val="black">
                <a:alpha val="40000"/>
              </a:prstClr>
            </a:outerShdw>
          </a:effectLst>
        </p:spPr>
      </p:pic>
      <p:pic>
        <p:nvPicPr>
          <p:cNvPr id="111626" name="Picture 10" descr="\\A-s6jw4x7y9lv85\E\企劃\齊家物業\齊家照片\2011攝影師拍照(台北)\小圖\IMG_2804.jpg"/>
          <p:cNvPicPr>
            <a:picLocks noChangeAspect="1" noChangeArrowheads="1"/>
          </p:cNvPicPr>
          <p:nvPr/>
        </p:nvPicPr>
        <p:blipFill>
          <a:blip r:embed="rId5" cstate="print"/>
          <a:srcRect/>
          <a:stretch>
            <a:fillRect/>
          </a:stretch>
        </p:blipFill>
        <p:spPr bwMode="auto">
          <a:xfrm>
            <a:off x="6143625" y="3789040"/>
            <a:ext cx="2825750" cy="1884362"/>
          </a:xfrm>
          <a:prstGeom prst="rect">
            <a:avLst/>
          </a:prstGeom>
          <a:noFill/>
          <a:effectLst>
            <a:outerShdw blurRad="50800" dist="38100" dir="5400000" algn="t" rotWithShape="0">
              <a:prstClr val="black">
                <a:alpha val="40000"/>
              </a:prstClr>
            </a:outerShdw>
          </a:effectLst>
        </p:spPr>
      </p:pic>
      <p:pic>
        <p:nvPicPr>
          <p:cNvPr id="12" name="圖片 11" descr="齊家精緻物業logo.tif"/>
          <p:cNvPicPr>
            <a:picLocks noChangeAspect="1"/>
          </p:cNvPicPr>
          <p:nvPr/>
        </p:nvPicPr>
        <p:blipFill>
          <a:blip r:embed="rId6" cstate="print"/>
          <a:stretch>
            <a:fillRect/>
          </a:stretch>
        </p:blipFill>
        <p:spPr>
          <a:xfrm>
            <a:off x="3474720" y="5992639"/>
            <a:ext cx="2131174" cy="604713"/>
          </a:xfrm>
          <a:prstGeom prst="rect">
            <a:avLst/>
          </a:prstGeom>
        </p:spPr>
      </p:pic>
    </p:spTree>
  </p:cSld>
  <p:clrMapOvr>
    <a:masterClrMapping/>
  </p:clrMapOvr>
  <p:transition spd="med">
    <p:randomBar dir="vert"/>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觀點">
  <a:themeElements>
    <a:clrScheme name="模組">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觀點">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鋒芒">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txDef>
      <a:spPr>
        <a:noFill/>
        <a:effectLst>
          <a:glow rad="63500">
            <a:schemeClr val="accent3">
              <a:satMod val="175000"/>
              <a:alpha val="40000"/>
            </a:schemeClr>
          </a:glow>
        </a:effectLst>
      </a:spPr>
      <a:bodyPr wrap="none" rtlCol="0">
        <a:spAutoFit/>
      </a:bodyPr>
      <a:lstStyle>
        <a:defPPr>
          <a:defRPr sz="4000" dirty="0">
            <a:solidFill>
              <a:srgbClr val="800000"/>
            </a:solidFill>
            <a:effectLst>
              <a:glow rad="63500">
                <a:schemeClr val="accent3">
                  <a:satMod val="175000"/>
                  <a:alpha val="40000"/>
                </a:schemeClr>
              </a:glow>
            </a:effectLst>
            <a:latin typeface="微軟正黑體" pitchFamily="34" charset="-120"/>
            <a:ea typeface="微軟正黑體" pitchFamily="34" charset="-120"/>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3116</TotalTime>
  <Words>2591</Words>
  <Application>Microsoft Office PowerPoint</Application>
  <PresentationFormat>如螢幕大小 (4:3)</PresentationFormat>
  <Paragraphs>502</Paragraphs>
  <Slides>34</Slides>
  <Notes>3</Notes>
  <HiddenSlides>0</HiddenSlides>
  <MMClips>0</MMClips>
  <ScaleCrop>false</ScaleCrop>
  <HeadingPairs>
    <vt:vector size="4" baseType="variant">
      <vt:variant>
        <vt:lpstr>佈景主題</vt:lpstr>
      </vt:variant>
      <vt:variant>
        <vt:i4>1</vt:i4>
      </vt:variant>
      <vt:variant>
        <vt:lpstr>投影片標題</vt:lpstr>
      </vt:variant>
      <vt:variant>
        <vt:i4>34</vt:i4>
      </vt:variant>
    </vt:vector>
  </HeadingPairs>
  <TitlesOfParts>
    <vt:vector size="35" baseType="lpstr">
      <vt:lpstr>2_觀點</vt:lpstr>
      <vt:lpstr>投影片 1</vt:lpstr>
      <vt:lpstr>投影片 2</vt:lpstr>
      <vt:lpstr>投影片 3</vt:lpstr>
      <vt:lpstr>投影片 4</vt:lpstr>
      <vt:lpstr>投影片 5</vt:lpstr>
      <vt:lpstr>投影片 6</vt:lpstr>
      <vt:lpstr>投影片 7</vt:lpstr>
      <vt:lpstr>投影片 8</vt:lpstr>
      <vt:lpstr>投影片 9</vt:lpstr>
      <vt:lpstr>投影片 10</vt:lpstr>
      <vt:lpstr>投影片 11</vt:lpstr>
      <vt:lpstr>投影片 12</vt:lpstr>
      <vt:lpstr>投影片 13</vt:lpstr>
      <vt:lpstr>投影片 14</vt:lpstr>
      <vt:lpstr>投影片 15</vt:lpstr>
      <vt:lpstr>投影片 16</vt:lpstr>
      <vt:lpstr>投影片 17</vt:lpstr>
      <vt:lpstr>投影片 18</vt:lpstr>
      <vt:lpstr>投影片 19</vt:lpstr>
      <vt:lpstr>投影片 20</vt:lpstr>
      <vt:lpstr>投影片 21</vt:lpstr>
      <vt:lpstr>投影片 22</vt:lpstr>
      <vt:lpstr>投影片 23</vt:lpstr>
      <vt:lpstr>投影片 24</vt:lpstr>
      <vt:lpstr>投影片 25</vt:lpstr>
      <vt:lpstr>投影片 26</vt:lpstr>
      <vt:lpstr>投影片 27</vt:lpstr>
      <vt:lpstr>投影片 28</vt:lpstr>
      <vt:lpstr>投影片 29</vt:lpstr>
      <vt:lpstr>投影片 30</vt:lpstr>
      <vt:lpstr>投影片 31</vt:lpstr>
      <vt:lpstr>投影片 32</vt:lpstr>
      <vt:lpstr>投影片 33</vt:lpstr>
      <vt:lpstr>投影片 34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Candice</dc:creator>
  <cp:lastModifiedBy>User</cp:lastModifiedBy>
  <cp:revision>1847</cp:revision>
  <dcterms:created xsi:type="dcterms:W3CDTF">2010-08-10T08:21:00Z</dcterms:created>
  <dcterms:modified xsi:type="dcterms:W3CDTF">2019-08-06T08:43:22Z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2052-10.1.0.6748</vt:lpwstr>
  </property>
</Properties>
</file>